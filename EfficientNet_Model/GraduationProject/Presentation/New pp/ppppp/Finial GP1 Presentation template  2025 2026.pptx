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301" r:id="rId13"/>
    <p:sldId id="302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</p:sldIdLst>
  <p:sldSz cx="24384000" cy="13716000"/>
  <p:notesSz cx="6858000" cy="9144000"/>
  <p:embeddedFontLst>
    <p:embeddedFont>
      <p:font typeface="Calibri" panose="020F0502020204030204" pitchFamily="34" charset="0"/>
      <p:regular r:id="rId50"/>
      <p:bold r:id="rId51"/>
      <p:italic r:id="rId52"/>
      <p:boldItalic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000000"/>
          </p15:clr>
        </p15:guide>
        <p15:guide id="2" pos="76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094B"/>
    <a:srgbClr val="111D2E"/>
    <a:srgbClr val="CA2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306" autoAdjust="0"/>
    <p:restoredTop sz="94660"/>
  </p:normalViewPr>
  <p:slideViewPr>
    <p:cSldViewPr snapToGrid="0">
      <p:cViewPr varScale="1">
        <p:scale>
          <a:sx n="37" d="100"/>
          <a:sy n="37" d="100"/>
        </p:scale>
        <p:origin x="300" y="54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1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ac147e12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ac147e12b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3eac147e12b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ac147e12b_2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ac147e12b_2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3eac147e12b_2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ac147e12b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ac147e12b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g3eac147e12b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ac147e12b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ac147e12b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g3eac147e12b_0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ac147e12b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ac147e12b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3eac147e12b_0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ac147e12b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ac147e12b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eac147e12b_0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ac147e12b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ac147e12b_0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3eac147e12b_0_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ac147e12b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ac147e12b_0_2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g3eac147e12b_0_2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ac147e12b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eac147e12b_0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3eac147e12b_0_2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ac147e12b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ac147e12b_0_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g3eac147e12b_0_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ac147e12b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eac147e12b_0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g3eac147e12b_0_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ac147e12b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eac147e12b_0_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3eac147e12b_0_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ac147e12b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eac147e12b_0_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g3eac147e12b_0_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ac147e12b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eac147e12b_0_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3eac147e12b_0_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ac147e12b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eac147e12b_0_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eac147e12b_0_7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ac147e12b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eac147e12b_0_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eac147e12b_0_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ac147e12b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eac147e12b_0_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eac147e12b_0_8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ac147e12b_1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eac147e12b_10_1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g3eac147e12b_10_1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ac147e12b_1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eac147e12b_10_2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3eac147e12b_10_2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ac147e12b_1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eac147e12b_10_2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g3eac147e12b_10_2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ac147e12b_10_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eac147e12b_10_3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g3eac147e12b_10_3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ac147e12b_10_4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eac147e12b_10_4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3eac147e12b_10_46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eac147e12b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eac147e12b_0_1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g3eac147e12b_0_1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eac147e12b_1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eac147e12b_1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g3eac147e12b_10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eac147e12b_1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eac147e12b_1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g3eac147e12b_1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eac147e12b_1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eac147e12b_1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3eac147e12b_1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eac147e12b_1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eac147e12b_1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g3eac147e12b_1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eac147e12b_1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eac147e12b_1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3eac147e12b_10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eac147e12b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eac147e12b_0_1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3eac147e12b_0_18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eac147e12b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eac147e12b_0_1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g3eac147e12b_0_1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eac147e12b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eac147e12b_0_1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g3eac147e12b_0_10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eac147e12b_10_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g3eac147e12b_1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eac147e12b_10_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g3eac147e12b_1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eac147e12b_10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g3eac147e12b_1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eac147e12b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eac147e12b_0_1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g3eac147e12b_0_10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eac147e12b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eac147e12b_0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g3eac147e12b_0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eac147e12b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eac147e12b_0_1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g3eac147e12b_0_1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eac147e12b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eac147e12b_0_1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g3eac147e12b_0_1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eac147e12b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eac147e12b_0_1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g3eac147e12b_0_1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eac147e12b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eac147e12b_0_1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g3eac147e12b_0_1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eac147e12b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eac147e12b_0_1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g3eac147e12b_0_1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eac147e12b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eac147e12b_0_1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g3eac147e12b_0_1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eac147e12b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eac147e12b_0_1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g3eac147e12b_0_1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eac147e12b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eac147e12b_0_1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g3eac147e12b_0_17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447800" y="4258828"/>
            <a:ext cx="10501744" cy="260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768"/>
              </a:buClr>
              <a:buSzPts val="7200"/>
              <a:buFont typeface="Arial"/>
              <a:buNone/>
              <a:defRPr sz="7200" b="1">
                <a:solidFill>
                  <a:srgbClr val="07076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1447799" y="7161069"/>
            <a:ext cx="10501745" cy="3311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CA2126"/>
              </a:buClr>
              <a:buSzPts val="5400"/>
              <a:buNone/>
              <a:defRPr sz="5400" b="1">
                <a:solidFill>
                  <a:srgbClr val="CA21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2pPr>
            <a:lvl3pPr lvl="2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4pPr>
            <a:lvl5pPr lvl="4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5pPr>
            <a:lvl6pPr lvl="5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6pPr>
            <a:lvl7pPr lvl="6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7pPr>
            <a:lvl8pPr lvl="7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8pPr>
            <a:lvl9pPr lvl="8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dt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ft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676400" y="2064759"/>
            <a:ext cx="21031200" cy="1407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26E"/>
              </a:buClr>
              <a:buSzPts val="6600"/>
              <a:buFont typeface="Arial"/>
              <a:buNone/>
              <a:defRPr sz="6600" b="1">
                <a:solidFill>
                  <a:srgbClr val="11126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33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marL="914400" lvl="1" indent="-508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Char char="•"/>
              <a:defRPr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61"/>
              </a:buClr>
              <a:buSzPts val="8800"/>
              <a:buFont typeface="Arial"/>
              <a:buNone/>
              <a:defRPr sz="8800" b="1">
                <a:solidFill>
                  <a:srgbClr val="00006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C91D23"/>
              </a:buClr>
              <a:buSzPts val="6000"/>
              <a:buNone/>
              <a:defRPr sz="6000" b="0">
                <a:solidFill>
                  <a:srgbClr val="C91D2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 sz="4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 sz="3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10363200" cy="8702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12344400" y="3651250"/>
            <a:ext cx="10363200" cy="8702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6pPr>
            <a:lvl7pPr marL="3200400" lvl="6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7pPr>
            <a:lvl8pPr marL="3657600" lvl="7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8pPr>
            <a:lvl9pPr marL="4114800" lvl="8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2"/>
          </p:nvPr>
        </p:nvSpPr>
        <p:spPr>
          <a:xfrm>
            <a:off x="1679577" y="5010150"/>
            <a:ext cx="10315574" cy="7369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3"/>
          </p:nvPr>
        </p:nvSpPr>
        <p:spPr>
          <a:xfrm>
            <a:off x="12344400" y="3362326"/>
            <a:ext cx="10366376" cy="164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6pPr>
            <a:lvl7pPr marL="3200400" lvl="6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7pPr>
            <a:lvl8pPr marL="3657600" lvl="7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8pPr>
            <a:lvl9pPr marL="4114800" lvl="8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4"/>
          </p:nvPr>
        </p:nvSpPr>
        <p:spPr>
          <a:xfrm>
            <a:off x="12344400" y="5010150"/>
            <a:ext cx="10366376" cy="7369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dt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ft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dt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ft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>
            <a:spLocks noGrp="1"/>
          </p:cNvSpPr>
          <p:nvPr>
            <p:ph type="dt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ft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Calibri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635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1pPr>
            <a:lvl2pPr marL="914400" lvl="1" indent="-584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600"/>
              <a:buChar char="•"/>
              <a:defRPr sz="5600"/>
            </a:lvl2pPr>
            <a:lvl3pPr marL="1371600" lvl="2" indent="-533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3pPr>
            <a:lvl4pPr marL="1828800" lvl="3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6pPr>
            <a:lvl7pPr marL="3200400" lvl="6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7pPr>
            <a:lvl8pPr marL="3657600" lvl="7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8pPr>
            <a:lvl9pPr marL="4114800" lvl="8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marL="3200400" lvl="6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marL="3657600" lvl="7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marL="4114800" lvl="8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dt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ft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Calibri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>
            <a:spLocks noGrp="1"/>
          </p:cNvSpPr>
          <p:nvPr>
            <p:ph type="pic" idx="2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0"/>
          <p:cNvSpPr txBox="1">
            <a:spLocks noGrp="1"/>
          </p:cNvSpPr>
          <p:nvPr>
            <p:ph type="body" idx="1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marL="3200400" lvl="6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marL="3657600" lvl="7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marL="4114800" lvl="8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dt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ft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body" idx="1"/>
          </p:nvPr>
        </p:nvSpPr>
        <p:spPr>
          <a:xfrm rot="5400000">
            <a:off x="7840662" y="-2513012"/>
            <a:ext cx="8702676" cy="210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dt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ft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title"/>
          </p:nvPr>
        </p:nvSpPr>
        <p:spPr>
          <a:xfrm rot="5400000">
            <a:off x="14266862" y="3913188"/>
            <a:ext cx="11623676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body" idx="1"/>
          </p:nvPr>
        </p:nvSpPr>
        <p:spPr>
          <a:xfrm rot="5400000">
            <a:off x="3598862" y="-1192212"/>
            <a:ext cx="11623676" cy="15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dt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ft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alibri"/>
              <a:buNone/>
              <a:defRPr sz="8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33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82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417363-40E2-4A97-A938-5A0C5A6ADEC3}"/>
              </a:ext>
            </a:extLst>
          </p:cNvPr>
          <p:cNvSpPr/>
          <p:nvPr/>
        </p:nvSpPr>
        <p:spPr>
          <a:xfrm>
            <a:off x="2394857" y="3945323"/>
            <a:ext cx="9797143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800" b="1" dirty="0">
                <a:solidFill>
                  <a:srgbClr val="C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SecureSight</a:t>
            </a:r>
            <a:endParaRPr lang="en-US" sz="13800" dirty="0">
              <a:solidFill>
                <a:srgbClr val="CA2126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407BE6E-EACF-41B9-96E8-DEA0D7F99813}"/>
              </a:ext>
            </a:extLst>
          </p:cNvPr>
          <p:cNvSpPr/>
          <p:nvPr/>
        </p:nvSpPr>
        <p:spPr>
          <a:xfrm>
            <a:off x="1393371" y="6161314"/>
            <a:ext cx="1180011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B0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Surveillance System to Detect</a:t>
            </a:r>
            <a:endParaRPr lang="en-US" sz="6000" b="1" dirty="0">
              <a:solidFill>
                <a:srgbClr val="0B094B"/>
              </a:solidFill>
            </a:endParaRPr>
          </a:p>
          <a:p>
            <a:pPr marL="0" indent="0" algn="ctr">
              <a:buNone/>
            </a:pPr>
            <a:r>
              <a:rPr lang="en-US" sz="6000" b="1" dirty="0">
                <a:solidFill>
                  <a:srgbClr val="0B0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Activities in Real Time</a:t>
            </a:r>
            <a:endParaRPr lang="en-US" sz="6000" b="1" dirty="0">
              <a:solidFill>
                <a:srgbClr val="0B094B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902614E-EEFD-4E75-BBD0-45B7477FE448}"/>
              </a:ext>
            </a:extLst>
          </p:cNvPr>
          <p:cNvSpPr/>
          <p:nvPr/>
        </p:nvSpPr>
        <p:spPr>
          <a:xfrm>
            <a:off x="2394857" y="8204468"/>
            <a:ext cx="966651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60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Dr. Essam Abdellatef</a:t>
            </a:r>
            <a:endParaRPr lang="en-US" sz="6000" dirty="0">
              <a:solidFill>
                <a:srgbClr val="C0000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A0CA6CD-33D2-45F8-ADEE-7C82C412F3C9}"/>
              </a:ext>
            </a:extLst>
          </p:cNvPr>
          <p:cNvSpPr/>
          <p:nvPr/>
        </p:nvSpPr>
        <p:spPr>
          <a:xfrm>
            <a:off x="5268685" y="-3245554"/>
            <a:ext cx="483325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000" dirty="0">
                <a:solidFill>
                  <a:srgbClr val="C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 Science &amp; Engineering</a:t>
            </a:r>
            <a:endParaRPr lang="en-US" sz="4000" dirty="0">
              <a:solidFill>
                <a:srgbClr val="CA212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4654932" cy="138684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543800" y="5802085"/>
            <a:ext cx="7500000" cy="7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50" tIns="228550" rIns="228550" bIns="2285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0"/>
              <a:t> </a:t>
            </a:r>
            <a:endParaRPr sz="3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title"/>
          </p:nvPr>
        </p:nvSpPr>
        <p:spPr>
          <a:xfrm>
            <a:off x="1676400" y="2064759"/>
            <a:ext cx="210312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20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>
            <a:spLocks noGrp="1"/>
          </p:cNvSpPr>
          <p:nvPr>
            <p:ph type="title"/>
          </p:nvPr>
        </p:nvSpPr>
        <p:spPr>
          <a:xfrm>
            <a:off x="1676400" y="2064759"/>
            <a:ext cx="210312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111" name="Google Shape;111;p16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2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>
            <a:spLocks noGrp="1"/>
          </p:cNvSpPr>
          <p:nvPr>
            <p:ph type="title"/>
          </p:nvPr>
        </p:nvSpPr>
        <p:spPr>
          <a:xfrm>
            <a:off x="1676400" y="2064759"/>
            <a:ext cx="210312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Motivation</a:t>
            </a:r>
            <a:endParaRPr/>
          </a:p>
        </p:txBody>
      </p:sp>
      <p:sp>
        <p:nvSpPr>
          <p:cNvPr id="118" name="Google Shape;118;p17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2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>
            <a:spLocks noGrp="1"/>
          </p:cNvSpPr>
          <p:nvPr>
            <p:ph type="title"/>
          </p:nvPr>
        </p:nvSpPr>
        <p:spPr>
          <a:xfrm>
            <a:off x="1676400" y="2064759"/>
            <a:ext cx="210312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125" name="Google Shape;125;p18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2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>
            <a:spLocks noGrp="1"/>
          </p:cNvSpPr>
          <p:nvPr>
            <p:ph type="title"/>
          </p:nvPr>
        </p:nvSpPr>
        <p:spPr>
          <a:xfrm>
            <a:off x="1676400" y="2064759"/>
            <a:ext cx="210312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Requirements</a:t>
            </a:r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2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>
            <a:spLocks noGrp="1"/>
          </p:cNvSpPr>
          <p:nvPr>
            <p:ph type="title"/>
          </p:nvPr>
        </p:nvSpPr>
        <p:spPr>
          <a:xfrm>
            <a:off x="1676400" y="2064759"/>
            <a:ext cx="210312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Existing Solutions</a:t>
            </a:r>
            <a:endParaRPr/>
          </a:p>
        </p:txBody>
      </p:sp>
      <p:sp>
        <p:nvSpPr>
          <p:cNvPr id="139" name="Google Shape;139;p20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2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>
            <a:spLocks noGrp="1"/>
          </p:cNvSpPr>
          <p:nvPr>
            <p:ph type="title"/>
          </p:nvPr>
        </p:nvSpPr>
        <p:spPr>
          <a:xfrm>
            <a:off x="1676400" y="2064759"/>
            <a:ext cx="210312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Literature Review</a:t>
            </a:r>
            <a:endParaRPr/>
          </a:p>
        </p:txBody>
      </p:sp>
      <p:sp>
        <p:nvSpPr>
          <p:cNvPr id="146" name="Google Shape;146;p21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2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>
            <a:spLocks noGrp="1"/>
          </p:cNvSpPr>
          <p:nvPr>
            <p:ph type="title"/>
          </p:nvPr>
        </p:nvSpPr>
        <p:spPr>
          <a:xfrm>
            <a:off x="1676400" y="2064759"/>
            <a:ext cx="210312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Proposed Solution</a:t>
            </a:r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2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63C150F-A8F0-477E-A5A2-EFA6C5B5EE8F}"/>
              </a:ext>
            </a:extLst>
          </p:cNvPr>
          <p:cNvSpPr/>
          <p:nvPr/>
        </p:nvSpPr>
        <p:spPr>
          <a:xfrm>
            <a:off x="870857" y="2113722"/>
            <a:ext cx="2264228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0" b="1" dirty="0">
                <a:solidFill>
                  <a:srgbClr val="0B0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— UCF-Crime</a:t>
            </a:r>
            <a:endParaRPr lang="en-US" sz="8000" dirty="0">
              <a:solidFill>
                <a:srgbClr val="0B094B"/>
              </a:solidFill>
            </a:endParaRPr>
          </a:p>
        </p:txBody>
      </p:sp>
      <p:sp>
        <p:nvSpPr>
          <p:cNvPr id="64" name="Shape 4">
            <a:extLst>
              <a:ext uri="{FF2B5EF4-FFF2-40B4-BE49-F238E27FC236}">
                <a16:creationId xmlns:a16="http://schemas.microsoft.com/office/drawing/2014/main" id="{FB7214C8-AA1B-4270-82FD-4CA42985C172}"/>
              </a:ext>
            </a:extLst>
          </p:cNvPr>
          <p:cNvSpPr/>
          <p:nvPr/>
        </p:nvSpPr>
        <p:spPr>
          <a:xfrm>
            <a:off x="847341" y="3921854"/>
            <a:ext cx="5401055" cy="3394931"/>
          </a:xfrm>
          <a:prstGeom prst="roundRect">
            <a:avLst>
              <a:gd name="adj" fmla="val 7273"/>
            </a:avLst>
          </a:prstGeom>
          <a:solidFill>
            <a:srgbClr val="111D2E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9" name="Shape 3">
            <a:extLst>
              <a:ext uri="{FF2B5EF4-FFF2-40B4-BE49-F238E27FC236}">
                <a16:creationId xmlns:a16="http://schemas.microsoft.com/office/drawing/2014/main" id="{9D613134-0DFD-48A4-BC50-09D5164D8AD2}"/>
              </a:ext>
            </a:extLst>
          </p:cNvPr>
          <p:cNvSpPr/>
          <p:nvPr/>
        </p:nvSpPr>
        <p:spPr>
          <a:xfrm>
            <a:off x="870857" y="3299414"/>
            <a:ext cx="19959638" cy="45719"/>
          </a:xfrm>
          <a:prstGeom prst="rect">
            <a:avLst/>
          </a:prstGeom>
          <a:solidFill>
            <a:srgbClr val="C00000"/>
          </a:solidFill>
          <a:ln w="12700">
            <a:solidFill>
              <a:srgbClr val="CA2126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79A2B91-DCEF-400E-8843-DBD8A70F248D}"/>
              </a:ext>
            </a:extLst>
          </p:cNvPr>
          <p:cNvSpPr/>
          <p:nvPr/>
        </p:nvSpPr>
        <p:spPr>
          <a:xfrm>
            <a:off x="2094583" y="4656560"/>
            <a:ext cx="27962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b="1" dirty="0">
              <a:solidFill>
                <a:srgbClr val="CA2126"/>
              </a:solidFill>
            </a:endParaRPr>
          </a:p>
        </p:txBody>
      </p:sp>
      <p:sp>
        <p:nvSpPr>
          <p:cNvPr id="71" name="Shape 4">
            <a:extLst>
              <a:ext uri="{FF2B5EF4-FFF2-40B4-BE49-F238E27FC236}">
                <a16:creationId xmlns:a16="http://schemas.microsoft.com/office/drawing/2014/main" id="{9B2AAA67-12EB-421A-9501-0711EFE4C37F}"/>
              </a:ext>
            </a:extLst>
          </p:cNvPr>
          <p:cNvSpPr/>
          <p:nvPr/>
        </p:nvSpPr>
        <p:spPr>
          <a:xfrm>
            <a:off x="6601970" y="3921854"/>
            <a:ext cx="5401055" cy="3394931"/>
          </a:xfrm>
          <a:prstGeom prst="roundRect">
            <a:avLst>
              <a:gd name="adj" fmla="val 7273"/>
            </a:avLst>
          </a:prstGeom>
          <a:solidFill>
            <a:srgbClr val="111D2E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2" name="Shape 4">
            <a:extLst>
              <a:ext uri="{FF2B5EF4-FFF2-40B4-BE49-F238E27FC236}">
                <a16:creationId xmlns:a16="http://schemas.microsoft.com/office/drawing/2014/main" id="{FC0F3A32-FE22-4C54-BC28-F095CEC586F0}"/>
              </a:ext>
            </a:extLst>
          </p:cNvPr>
          <p:cNvSpPr/>
          <p:nvPr/>
        </p:nvSpPr>
        <p:spPr>
          <a:xfrm>
            <a:off x="12192000" y="3921854"/>
            <a:ext cx="5401055" cy="3394931"/>
          </a:xfrm>
          <a:prstGeom prst="roundRect">
            <a:avLst>
              <a:gd name="adj" fmla="val 7273"/>
            </a:avLst>
          </a:prstGeom>
          <a:solidFill>
            <a:srgbClr val="111D2E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3" name="Shape 4">
            <a:extLst>
              <a:ext uri="{FF2B5EF4-FFF2-40B4-BE49-F238E27FC236}">
                <a16:creationId xmlns:a16="http://schemas.microsoft.com/office/drawing/2014/main" id="{5072E7BB-3C4A-4EB2-9744-EE9273BF4DD7}"/>
              </a:ext>
            </a:extLst>
          </p:cNvPr>
          <p:cNvSpPr/>
          <p:nvPr/>
        </p:nvSpPr>
        <p:spPr>
          <a:xfrm>
            <a:off x="17782030" y="3945045"/>
            <a:ext cx="5401055" cy="3394931"/>
          </a:xfrm>
          <a:prstGeom prst="roundRect">
            <a:avLst>
              <a:gd name="adj" fmla="val 7273"/>
            </a:avLst>
          </a:prstGeom>
          <a:solidFill>
            <a:srgbClr val="111D2E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993ADBD-E31B-4C8C-B054-6B24344442FD}"/>
              </a:ext>
            </a:extLst>
          </p:cNvPr>
          <p:cNvSpPr/>
          <p:nvPr/>
        </p:nvSpPr>
        <p:spPr>
          <a:xfrm>
            <a:off x="13513980" y="4642535"/>
            <a:ext cx="27962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128h</a:t>
            </a:r>
            <a:endParaRPr lang="en-US" sz="1600" b="1" dirty="0">
              <a:solidFill>
                <a:srgbClr val="CA2126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70151A5-9E26-4858-BE55-2A8F2BE08B0D}"/>
              </a:ext>
            </a:extLst>
          </p:cNvPr>
          <p:cNvSpPr/>
          <p:nvPr/>
        </p:nvSpPr>
        <p:spPr>
          <a:xfrm>
            <a:off x="19084418" y="4785338"/>
            <a:ext cx="27962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1,900</a:t>
            </a:r>
            <a:endParaRPr lang="en-US" sz="1600" b="1" dirty="0">
              <a:solidFill>
                <a:srgbClr val="CA2126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1CDF935-57A5-464D-A31E-D05D56BB8807}"/>
              </a:ext>
            </a:extLst>
          </p:cNvPr>
          <p:cNvSpPr/>
          <p:nvPr/>
        </p:nvSpPr>
        <p:spPr>
          <a:xfrm>
            <a:off x="7904359" y="4622853"/>
            <a:ext cx="27962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b="1" dirty="0">
              <a:solidFill>
                <a:srgbClr val="CA2126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69AEAF9-7CBF-402E-AC0D-4416E796C7A8}"/>
              </a:ext>
            </a:extLst>
          </p:cNvPr>
          <p:cNvSpPr/>
          <p:nvPr/>
        </p:nvSpPr>
        <p:spPr>
          <a:xfrm>
            <a:off x="17551354" y="5893387"/>
            <a:ext cx="58624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Videos</a:t>
            </a:r>
            <a:endParaRPr lang="en-US" sz="4800" b="1" dirty="0">
              <a:solidFill>
                <a:srgbClr val="CA2126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90F8664-EDE1-4DD2-95FE-E02D0AEE7CB6}"/>
              </a:ext>
            </a:extLst>
          </p:cNvPr>
          <p:cNvSpPr/>
          <p:nvPr/>
        </p:nvSpPr>
        <p:spPr>
          <a:xfrm>
            <a:off x="11759333" y="5842612"/>
            <a:ext cx="624159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Video</a:t>
            </a:r>
            <a:endParaRPr lang="en-US" sz="4800" b="1" dirty="0">
              <a:solidFill>
                <a:srgbClr val="CA2126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A95F6BF-425C-4251-87CC-F15B6E15D053}"/>
              </a:ext>
            </a:extLst>
          </p:cNvPr>
          <p:cNvSpPr/>
          <p:nvPr/>
        </p:nvSpPr>
        <p:spPr>
          <a:xfrm>
            <a:off x="6181699" y="5893387"/>
            <a:ext cx="624159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Classes</a:t>
            </a:r>
            <a:endParaRPr lang="en-US" sz="4800" b="1" dirty="0">
              <a:solidFill>
                <a:srgbClr val="CA2126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3A44046-ABCA-4DB7-90C8-2764FBF8EAC9}"/>
              </a:ext>
            </a:extLst>
          </p:cNvPr>
          <p:cNvSpPr/>
          <p:nvPr/>
        </p:nvSpPr>
        <p:spPr>
          <a:xfrm>
            <a:off x="591669" y="5819422"/>
            <a:ext cx="624159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A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Classes</a:t>
            </a:r>
            <a:endParaRPr lang="en-US" sz="4800" b="1" dirty="0">
              <a:solidFill>
                <a:srgbClr val="CA2126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3D8872D-B79F-4CDB-A599-6F5CA5637BE5}"/>
              </a:ext>
            </a:extLst>
          </p:cNvPr>
          <p:cNvSpPr/>
          <p:nvPr/>
        </p:nvSpPr>
        <p:spPr>
          <a:xfrm>
            <a:off x="591669" y="7412923"/>
            <a:ext cx="71245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800" dirty="0">
                <a:solidFill>
                  <a:srgbClr val="CA2126"/>
                </a:solidFill>
              </a:rPr>
              <a:t>Original 14 classes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07E6B6F-80E4-4514-BFD3-73E1D52C6855}"/>
              </a:ext>
            </a:extLst>
          </p:cNvPr>
          <p:cNvSpPr/>
          <p:nvPr/>
        </p:nvSpPr>
        <p:spPr>
          <a:xfrm>
            <a:off x="1808359" y="8215983"/>
            <a:ext cx="4793611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11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</a:t>
            </a:r>
            <a:endParaRPr lang="en-US" sz="4000" dirty="0">
              <a:solidFill>
                <a:srgbClr val="111D2E"/>
              </a:solidFill>
            </a:endParaRPr>
          </a:p>
          <a:p>
            <a:pPr marL="0" indent="0">
              <a:buNone/>
            </a:pPr>
            <a:r>
              <a:rPr lang="en-US" sz="4000" dirty="0">
                <a:solidFill>
                  <a:srgbClr val="11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Arrest</a:t>
            </a:r>
            <a:endParaRPr lang="en-US" sz="4000" dirty="0">
              <a:solidFill>
                <a:srgbClr val="111D2E"/>
              </a:solidFill>
            </a:endParaRPr>
          </a:p>
          <a:p>
            <a:pPr marL="0" indent="0">
              <a:buNone/>
            </a:pPr>
            <a:r>
              <a:rPr lang="en-US" sz="4000" dirty="0">
                <a:solidFill>
                  <a:srgbClr val="11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Arson</a:t>
            </a:r>
            <a:endParaRPr lang="en-US" sz="4000" dirty="0">
              <a:solidFill>
                <a:srgbClr val="111D2E"/>
              </a:solidFill>
            </a:endParaRPr>
          </a:p>
          <a:p>
            <a:pPr marL="0" indent="0">
              <a:buNone/>
            </a:pPr>
            <a:r>
              <a:rPr lang="en-US" sz="4000" dirty="0">
                <a:solidFill>
                  <a:srgbClr val="11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Assault</a:t>
            </a:r>
            <a:endParaRPr lang="en-US" sz="4000" dirty="0">
              <a:solidFill>
                <a:srgbClr val="111D2E"/>
              </a:solidFill>
            </a:endParaRPr>
          </a:p>
          <a:p>
            <a:pPr marL="0" indent="0">
              <a:buNone/>
            </a:pPr>
            <a:r>
              <a:rPr lang="en-US" sz="4000" dirty="0">
                <a:solidFill>
                  <a:srgbClr val="11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Burglary</a:t>
            </a:r>
            <a:endParaRPr lang="en-US" sz="4000" dirty="0">
              <a:solidFill>
                <a:srgbClr val="111D2E"/>
              </a:solidFill>
            </a:endParaRPr>
          </a:p>
          <a:p>
            <a:pPr marL="0" indent="0">
              <a:buNone/>
            </a:pPr>
            <a:r>
              <a:rPr lang="en-US" sz="4000" dirty="0">
                <a:solidFill>
                  <a:srgbClr val="11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Explosion</a:t>
            </a:r>
            <a:endParaRPr lang="en-US" sz="4000" dirty="0">
              <a:solidFill>
                <a:srgbClr val="111D2E"/>
              </a:solidFill>
            </a:endParaRPr>
          </a:p>
          <a:p>
            <a:pPr marL="0" indent="0">
              <a:buNone/>
            </a:pPr>
            <a:r>
              <a:rPr lang="en-US" sz="4000" dirty="0">
                <a:solidFill>
                  <a:srgbClr val="11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Fighting</a:t>
            </a:r>
            <a:endParaRPr lang="en-US" sz="4000" dirty="0">
              <a:solidFill>
                <a:srgbClr val="111D2E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D1DC979-74F0-4CEC-A75B-F08D5F80E6FC}"/>
              </a:ext>
            </a:extLst>
          </p:cNvPr>
          <p:cNvSpPr/>
          <p:nvPr/>
        </p:nvSpPr>
        <p:spPr>
          <a:xfrm>
            <a:off x="5742637" y="8258406"/>
            <a:ext cx="4793611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11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4000" dirty="0">
              <a:solidFill>
                <a:srgbClr val="111D2E"/>
              </a:solidFill>
            </a:endParaRPr>
          </a:p>
          <a:p>
            <a:pPr marL="0" indent="0">
              <a:buNone/>
            </a:pPr>
            <a:r>
              <a:rPr lang="en-US" sz="4000" dirty="0">
                <a:solidFill>
                  <a:srgbClr val="11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RoadAccidents</a:t>
            </a:r>
            <a:endParaRPr lang="en-US" sz="4000" dirty="0">
              <a:solidFill>
                <a:srgbClr val="111D2E"/>
              </a:solidFill>
            </a:endParaRPr>
          </a:p>
          <a:p>
            <a:pPr marL="0" indent="0">
              <a:buNone/>
            </a:pPr>
            <a:r>
              <a:rPr lang="en-US" sz="4000" dirty="0">
                <a:solidFill>
                  <a:srgbClr val="11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Robbery</a:t>
            </a:r>
            <a:endParaRPr lang="en-US" sz="4000" dirty="0">
              <a:solidFill>
                <a:srgbClr val="111D2E"/>
              </a:solidFill>
            </a:endParaRPr>
          </a:p>
          <a:p>
            <a:pPr marL="0" indent="0">
              <a:buNone/>
            </a:pPr>
            <a:r>
              <a:rPr lang="en-US" sz="4000" dirty="0">
                <a:solidFill>
                  <a:srgbClr val="11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Shooting</a:t>
            </a:r>
            <a:endParaRPr lang="en-US" sz="4000" dirty="0">
              <a:solidFill>
                <a:srgbClr val="111D2E"/>
              </a:solidFill>
            </a:endParaRPr>
          </a:p>
          <a:p>
            <a:pPr marL="0" indent="0">
              <a:buNone/>
            </a:pPr>
            <a:r>
              <a:rPr lang="en-US" sz="4000" dirty="0">
                <a:solidFill>
                  <a:srgbClr val="11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ShopLifting</a:t>
            </a:r>
            <a:endParaRPr lang="en-US" sz="4000" dirty="0">
              <a:solidFill>
                <a:srgbClr val="111D2E"/>
              </a:solidFill>
            </a:endParaRPr>
          </a:p>
          <a:p>
            <a:pPr marL="0" indent="0">
              <a:buNone/>
            </a:pPr>
            <a:r>
              <a:rPr lang="en-US" sz="4000" dirty="0">
                <a:solidFill>
                  <a:srgbClr val="11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Stealing</a:t>
            </a:r>
            <a:endParaRPr lang="en-US" sz="4000" dirty="0">
              <a:solidFill>
                <a:srgbClr val="111D2E"/>
              </a:solidFill>
            </a:endParaRPr>
          </a:p>
          <a:p>
            <a:pPr marL="0" indent="0">
              <a:buNone/>
            </a:pPr>
            <a:r>
              <a:rPr lang="en-US" sz="4000" dirty="0">
                <a:solidFill>
                  <a:srgbClr val="11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Vandalism</a:t>
            </a:r>
            <a:endParaRPr lang="en-US" sz="4000" dirty="0">
              <a:solidFill>
                <a:srgbClr val="111D2E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5A002AF-78CE-4782-9093-855F713DF62C}"/>
              </a:ext>
            </a:extLst>
          </p:cNvPr>
          <p:cNvSpPr/>
          <p:nvPr/>
        </p:nvSpPr>
        <p:spPr>
          <a:xfrm>
            <a:off x="10919134" y="7488965"/>
            <a:ext cx="752246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rgbClr val="CA2126"/>
                </a:solidFill>
              </a:rPr>
              <a:t>Merged 9-Class Taxonomy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89D7054-9577-4624-8FF5-D1C3150D1A5A}"/>
              </a:ext>
            </a:extLst>
          </p:cNvPr>
          <p:cNvSpPr/>
          <p:nvPr/>
        </p:nvSpPr>
        <p:spPr>
          <a:xfrm>
            <a:off x="11264901" y="8289067"/>
            <a:ext cx="729443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11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Violence  (Assault + Fighting + Abuse)</a:t>
            </a:r>
          </a:p>
          <a:p>
            <a:r>
              <a:rPr lang="en-US" sz="4000" dirty="0">
                <a:solidFill>
                  <a:srgbClr val="11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Theft  (ShopLifting + Stealing + Burglary + Robbery)</a:t>
            </a:r>
          </a:p>
          <a:p>
            <a:pPr marL="0" indent="0">
              <a:buNone/>
            </a:pPr>
            <a:r>
              <a:rPr lang="en-US" sz="4000" dirty="0">
                <a:solidFill>
                  <a:srgbClr val="11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Arson  (Arson)</a:t>
            </a:r>
          </a:p>
          <a:p>
            <a:r>
              <a:rPr lang="en-US" sz="4000" dirty="0">
                <a:solidFill>
                  <a:srgbClr val="11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Explosion  (Explosion)</a:t>
            </a:r>
            <a:endParaRPr lang="en-US" sz="4000" dirty="0">
              <a:solidFill>
                <a:srgbClr val="111D2E"/>
              </a:solidFill>
            </a:endParaRPr>
          </a:p>
          <a:p>
            <a:pPr marL="0" indent="0">
              <a:buNone/>
            </a:pPr>
            <a:endParaRPr lang="en-US" sz="4000" dirty="0">
              <a:solidFill>
                <a:srgbClr val="111D2E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E07E26F-6A42-4155-8B1D-35D267EE34FD}"/>
              </a:ext>
            </a:extLst>
          </p:cNvPr>
          <p:cNvSpPr/>
          <p:nvPr/>
        </p:nvSpPr>
        <p:spPr>
          <a:xfrm>
            <a:off x="18000930" y="8243920"/>
            <a:ext cx="583419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11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Arrest  (Arrest)</a:t>
            </a:r>
            <a:endParaRPr lang="en-US" sz="4000" dirty="0">
              <a:solidFill>
                <a:srgbClr val="111D2E"/>
              </a:solidFill>
            </a:endParaRPr>
          </a:p>
          <a:p>
            <a:r>
              <a:rPr lang="en-US" sz="4000" dirty="0">
                <a:solidFill>
                  <a:srgbClr val="11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RoadAccidents  (RoadAccidents)</a:t>
            </a:r>
            <a:endParaRPr lang="en-US" sz="4000" dirty="0">
              <a:solidFill>
                <a:srgbClr val="111D2E"/>
              </a:solidFill>
            </a:endParaRPr>
          </a:p>
          <a:p>
            <a:r>
              <a:rPr lang="en-US" sz="4000" dirty="0">
                <a:solidFill>
                  <a:srgbClr val="11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Shooting  (Shooting)</a:t>
            </a:r>
            <a:endParaRPr lang="en-US" sz="4000" dirty="0">
              <a:solidFill>
                <a:srgbClr val="111D2E"/>
              </a:solidFill>
            </a:endParaRPr>
          </a:p>
          <a:p>
            <a:r>
              <a:rPr lang="en-US" sz="4000" dirty="0">
                <a:solidFill>
                  <a:srgbClr val="11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Vandalism  (Vandalism)</a:t>
            </a:r>
            <a:endParaRPr lang="en-US" sz="4000" dirty="0">
              <a:solidFill>
                <a:srgbClr val="111D2E"/>
              </a:solidFill>
            </a:endParaRPr>
          </a:p>
          <a:p>
            <a:r>
              <a:rPr lang="en-US" sz="4000" dirty="0">
                <a:solidFill>
                  <a:srgbClr val="11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 (Normal)</a:t>
            </a:r>
            <a:endParaRPr lang="en-US" sz="4000" dirty="0">
              <a:solidFill>
                <a:srgbClr val="111D2E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789F7-DA2C-45F2-9FF8-6BEBC2DC0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B0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Pipeline</a:t>
            </a:r>
            <a:endParaRPr lang="en-US" dirty="0">
              <a:solidFill>
                <a:srgbClr val="0B094B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95BFA-3B27-429E-891B-509174267A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01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0A9CF-2B82-41DA-AB2F-B5975D68D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1769266"/>
            <a:ext cx="21031200" cy="1407104"/>
          </a:xfrm>
        </p:spPr>
        <p:txBody>
          <a:bodyPr>
            <a:normAutofit/>
          </a:bodyPr>
          <a:lstStyle/>
          <a:p>
            <a:r>
              <a:rPr lang="en-US" sz="8000">
                <a:solidFill>
                  <a:srgbClr val="0B0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System Workflow</a:t>
            </a:r>
            <a:endParaRPr lang="en-US" sz="8000" dirty="0">
              <a:solidFill>
                <a:srgbClr val="0B094B"/>
              </a:solidFill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C889D2E8-40A7-418B-8A64-92E16E575342}"/>
              </a:ext>
            </a:extLst>
          </p:cNvPr>
          <p:cNvSpPr/>
          <p:nvPr/>
        </p:nvSpPr>
        <p:spPr>
          <a:xfrm>
            <a:off x="1676399" y="3265145"/>
            <a:ext cx="2902227" cy="4580997"/>
          </a:xfrm>
          <a:prstGeom prst="roundRect">
            <a:avLst>
              <a:gd name="adj" fmla="val 5932"/>
            </a:avLst>
          </a:prstGeom>
          <a:solidFill>
            <a:srgbClr val="111D2E"/>
          </a:solidFill>
          <a:ln/>
        </p:spPr>
      </p:sp>
      <p:sp>
        <p:nvSpPr>
          <p:cNvPr id="6" name="Shape 31">
            <a:extLst>
              <a:ext uri="{FF2B5EF4-FFF2-40B4-BE49-F238E27FC236}">
                <a16:creationId xmlns:a16="http://schemas.microsoft.com/office/drawing/2014/main" id="{3DB67D32-F624-438E-9AFA-F7F60714BA2C}"/>
              </a:ext>
            </a:extLst>
          </p:cNvPr>
          <p:cNvSpPr/>
          <p:nvPr/>
        </p:nvSpPr>
        <p:spPr>
          <a:xfrm>
            <a:off x="1644446" y="8046919"/>
            <a:ext cx="21732389" cy="1833873"/>
          </a:xfrm>
          <a:prstGeom prst="roundRect">
            <a:avLst>
              <a:gd name="adj" fmla="val 8750"/>
            </a:avLst>
          </a:prstGeom>
          <a:solidFill>
            <a:srgbClr val="1E3A5F"/>
          </a:solidFill>
          <a:ln/>
        </p:spPr>
      </p:sp>
      <p:sp>
        <p:nvSpPr>
          <p:cNvPr id="7" name="Shape 33">
            <a:extLst>
              <a:ext uri="{FF2B5EF4-FFF2-40B4-BE49-F238E27FC236}">
                <a16:creationId xmlns:a16="http://schemas.microsoft.com/office/drawing/2014/main" id="{E04E93B0-629C-4706-AEB5-384F9389875D}"/>
              </a:ext>
            </a:extLst>
          </p:cNvPr>
          <p:cNvSpPr/>
          <p:nvPr/>
        </p:nvSpPr>
        <p:spPr>
          <a:xfrm>
            <a:off x="1676398" y="10081569"/>
            <a:ext cx="6831497" cy="2326875"/>
          </a:xfrm>
          <a:prstGeom prst="roundRect">
            <a:avLst>
              <a:gd name="adj" fmla="val 6780"/>
            </a:avLst>
          </a:prstGeom>
          <a:solidFill>
            <a:srgbClr val="111D2E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33">
            <a:extLst>
              <a:ext uri="{FF2B5EF4-FFF2-40B4-BE49-F238E27FC236}">
                <a16:creationId xmlns:a16="http://schemas.microsoft.com/office/drawing/2014/main" id="{F80FA569-893A-445F-8655-6DF60BE2A4E0}"/>
              </a:ext>
            </a:extLst>
          </p:cNvPr>
          <p:cNvSpPr/>
          <p:nvPr/>
        </p:nvSpPr>
        <p:spPr>
          <a:xfrm>
            <a:off x="9110868" y="10081568"/>
            <a:ext cx="6831497" cy="2326875"/>
          </a:xfrm>
          <a:prstGeom prst="roundRect">
            <a:avLst>
              <a:gd name="adj" fmla="val 6780"/>
            </a:avLst>
          </a:prstGeom>
          <a:solidFill>
            <a:srgbClr val="111D2E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33">
            <a:extLst>
              <a:ext uri="{FF2B5EF4-FFF2-40B4-BE49-F238E27FC236}">
                <a16:creationId xmlns:a16="http://schemas.microsoft.com/office/drawing/2014/main" id="{7A87FFBA-3BFB-4B75-B59A-7E46C4F5F927}"/>
              </a:ext>
            </a:extLst>
          </p:cNvPr>
          <p:cNvSpPr/>
          <p:nvPr/>
        </p:nvSpPr>
        <p:spPr>
          <a:xfrm>
            <a:off x="16545338" y="10081569"/>
            <a:ext cx="6831497" cy="2326875"/>
          </a:xfrm>
          <a:prstGeom prst="roundRect">
            <a:avLst>
              <a:gd name="adj" fmla="val 6780"/>
            </a:avLst>
          </a:prstGeom>
          <a:solidFill>
            <a:srgbClr val="111D2E"/>
          </a:solidFill>
          <a:ln/>
          <a:effectLst>
            <a:outerShdw blurRad="1016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24E366C9-AE28-43D8-A06F-4E9589C899AE}"/>
              </a:ext>
            </a:extLst>
          </p:cNvPr>
          <p:cNvSpPr/>
          <p:nvPr/>
        </p:nvSpPr>
        <p:spPr>
          <a:xfrm>
            <a:off x="4815399" y="3265143"/>
            <a:ext cx="2855844" cy="4580997"/>
          </a:xfrm>
          <a:prstGeom prst="roundRect">
            <a:avLst>
              <a:gd name="adj" fmla="val 5932"/>
            </a:avLst>
          </a:prstGeom>
          <a:solidFill>
            <a:srgbClr val="111D2E"/>
          </a:solidFill>
          <a:ln/>
        </p:spPr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FCDD6766-C99A-42B6-9358-21D590E9FE02}"/>
              </a:ext>
            </a:extLst>
          </p:cNvPr>
          <p:cNvSpPr/>
          <p:nvPr/>
        </p:nvSpPr>
        <p:spPr>
          <a:xfrm>
            <a:off x="7908015" y="3272888"/>
            <a:ext cx="2902226" cy="4580997"/>
          </a:xfrm>
          <a:prstGeom prst="roundRect">
            <a:avLst>
              <a:gd name="adj" fmla="val 5932"/>
            </a:avLst>
          </a:prstGeom>
          <a:solidFill>
            <a:srgbClr val="111D2E"/>
          </a:solidFill>
          <a:ln/>
        </p:spPr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5CD68781-BCD8-420E-810C-C2CAB49081CD}"/>
              </a:ext>
            </a:extLst>
          </p:cNvPr>
          <p:cNvSpPr/>
          <p:nvPr/>
        </p:nvSpPr>
        <p:spPr>
          <a:xfrm>
            <a:off x="11055037" y="3272887"/>
            <a:ext cx="2855844" cy="4580997"/>
          </a:xfrm>
          <a:prstGeom prst="roundRect">
            <a:avLst>
              <a:gd name="adj" fmla="val 5932"/>
            </a:avLst>
          </a:prstGeom>
          <a:solidFill>
            <a:srgbClr val="111D2E"/>
          </a:solidFill>
          <a:ln/>
        </p:spPr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252D6F24-A3F7-4D29-8399-43A9ACE2388E}"/>
              </a:ext>
            </a:extLst>
          </p:cNvPr>
          <p:cNvSpPr/>
          <p:nvPr/>
        </p:nvSpPr>
        <p:spPr>
          <a:xfrm>
            <a:off x="14202059" y="3265141"/>
            <a:ext cx="2855844" cy="4580997"/>
          </a:xfrm>
          <a:prstGeom prst="roundRect">
            <a:avLst>
              <a:gd name="adj" fmla="val 5932"/>
            </a:avLst>
          </a:prstGeom>
          <a:solidFill>
            <a:srgbClr val="111D2E"/>
          </a:solidFill>
          <a:ln/>
        </p:spPr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A4E1FA71-C6CF-468A-9F48-819FA775F6BC}"/>
              </a:ext>
            </a:extLst>
          </p:cNvPr>
          <p:cNvSpPr/>
          <p:nvPr/>
        </p:nvSpPr>
        <p:spPr>
          <a:xfrm>
            <a:off x="17294675" y="3265141"/>
            <a:ext cx="2855844" cy="4580997"/>
          </a:xfrm>
          <a:prstGeom prst="roundRect">
            <a:avLst>
              <a:gd name="adj" fmla="val 5932"/>
            </a:avLst>
          </a:prstGeom>
          <a:solidFill>
            <a:srgbClr val="111D2E"/>
          </a:solidFill>
          <a:ln/>
        </p:spPr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61F7358E-5BEE-4AE5-AB6D-1C9583F23534}"/>
              </a:ext>
            </a:extLst>
          </p:cNvPr>
          <p:cNvSpPr/>
          <p:nvPr/>
        </p:nvSpPr>
        <p:spPr>
          <a:xfrm>
            <a:off x="20387291" y="3265144"/>
            <a:ext cx="2961863" cy="4580997"/>
          </a:xfrm>
          <a:prstGeom prst="roundRect">
            <a:avLst>
              <a:gd name="adj" fmla="val 5932"/>
            </a:avLst>
          </a:prstGeom>
          <a:solidFill>
            <a:srgbClr val="111D2E"/>
          </a:solidFill>
          <a:ln/>
        </p:spPr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1CE429E6-120A-4288-8415-16182E4CDBE9}"/>
              </a:ext>
            </a:extLst>
          </p:cNvPr>
          <p:cNvSpPr/>
          <p:nvPr/>
        </p:nvSpPr>
        <p:spPr>
          <a:xfrm>
            <a:off x="1810096" y="3018641"/>
            <a:ext cx="19959638" cy="45719"/>
          </a:xfrm>
          <a:prstGeom prst="rect">
            <a:avLst/>
          </a:prstGeom>
          <a:solidFill>
            <a:srgbClr val="C00000"/>
          </a:solidFill>
          <a:ln w="12700">
            <a:solidFill>
              <a:srgbClr val="CA2126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7B39347-7B33-4DA6-92D2-102D110F9FEC}"/>
              </a:ext>
            </a:extLst>
          </p:cNvPr>
          <p:cNvSpPr/>
          <p:nvPr/>
        </p:nvSpPr>
        <p:spPr>
          <a:xfrm>
            <a:off x="2798685" y="3652015"/>
            <a:ext cx="70404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600" dirty="0">
              <a:solidFill>
                <a:srgbClr val="C00000"/>
              </a:solidFill>
            </a:endParaRPr>
          </a:p>
        </p:txBody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A1BB04AB-4BED-496C-AB2D-2D069F728E8B}"/>
              </a:ext>
            </a:extLst>
          </p:cNvPr>
          <p:cNvSpPr/>
          <p:nvPr/>
        </p:nvSpPr>
        <p:spPr>
          <a:xfrm>
            <a:off x="1554479" y="1892808"/>
            <a:ext cx="1244205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26238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>
            <a:spLocks noGrp="1"/>
          </p:cNvSpPr>
          <p:nvPr>
            <p:ph type="title"/>
          </p:nvPr>
        </p:nvSpPr>
        <p:spPr>
          <a:xfrm>
            <a:off x="1676400" y="2064759"/>
            <a:ext cx="210312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System Architecture</a:t>
            </a:r>
            <a:endParaRPr/>
          </a:p>
        </p:txBody>
      </p:sp>
      <p:sp>
        <p:nvSpPr>
          <p:cNvPr id="167" name="Google Shape;167;p24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2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>
            <a:spLocks noGrp="1"/>
          </p:cNvSpPr>
          <p:nvPr>
            <p:ph type="title"/>
          </p:nvPr>
        </p:nvSpPr>
        <p:spPr>
          <a:xfrm>
            <a:off x="1676400" y="2064759"/>
            <a:ext cx="210312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System Workflow</a:t>
            </a:r>
            <a:endParaRPr/>
          </a:p>
        </p:txBody>
      </p:sp>
      <p:sp>
        <p:nvSpPr>
          <p:cNvPr id="174" name="Google Shape;174;p25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2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>
            <a:spLocks noGrp="1"/>
          </p:cNvSpPr>
          <p:nvPr>
            <p:ph type="title"/>
          </p:nvPr>
        </p:nvSpPr>
        <p:spPr>
          <a:xfrm>
            <a:off x="1676400" y="2064759"/>
            <a:ext cx="210312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UML Diagrams</a:t>
            </a:r>
            <a:endParaRPr/>
          </a:p>
        </p:txBody>
      </p:sp>
      <p:sp>
        <p:nvSpPr>
          <p:cNvPr id="181" name="Google Shape;181;p26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2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>
            <a:spLocks noGrp="1"/>
          </p:cNvSpPr>
          <p:nvPr>
            <p:ph type="title"/>
          </p:nvPr>
        </p:nvSpPr>
        <p:spPr>
          <a:xfrm>
            <a:off x="1676400" y="2064759"/>
            <a:ext cx="210312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Technology Stack</a:t>
            </a:r>
            <a:endParaRPr/>
          </a:p>
        </p:txBody>
      </p:sp>
      <p:sp>
        <p:nvSpPr>
          <p:cNvPr id="188" name="Google Shape;188;p27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2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 txBox="1">
            <a:spLocks noGrp="1"/>
          </p:cNvSpPr>
          <p:nvPr>
            <p:ph type="title"/>
          </p:nvPr>
        </p:nvSpPr>
        <p:spPr>
          <a:xfrm>
            <a:off x="1676400" y="2064759"/>
            <a:ext cx="210312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Dataset</a:t>
            </a:r>
            <a:endParaRPr/>
          </a:p>
        </p:txBody>
      </p:sp>
      <p:sp>
        <p:nvSpPr>
          <p:cNvPr id="195" name="Google Shape;195;p28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2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 txBox="1">
            <a:spLocks noGrp="1"/>
          </p:cNvSpPr>
          <p:nvPr>
            <p:ph type="title"/>
          </p:nvPr>
        </p:nvSpPr>
        <p:spPr>
          <a:xfrm>
            <a:off x="1676400" y="2064759"/>
            <a:ext cx="210312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Preprocessing</a:t>
            </a:r>
            <a:endParaRPr/>
          </a:p>
        </p:txBody>
      </p:sp>
      <p:sp>
        <p:nvSpPr>
          <p:cNvPr id="202" name="Google Shape;202;p29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2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>
            <a:spLocks noGrp="1"/>
          </p:cNvSpPr>
          <p:nvPr>
            <p:ph type="title"/>
          </p:nvPr>
        </p:nvSpPr>
        <p:spPr>
          <a:xfrm>
            <a:off x="1676400" y="2064759"/>
            <a:ext cx="210312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 Architecture</a:t>
            </a:r>
            <a:endParaRPr/>
          </a:p>
        </p:txBody>
      </p:sp>
      <p:sp>
        <p:nvSpPr>
          <p:cNvPr id="209" name="Google Shape;209;p30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2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>
            <a:spLocks noGrp="1"/>
          </p:cNvSpPr>
          <p:nvPr>
            <p:ph type="title"/>
          </p:nvPr>
        </p:nvSpPr>
        <p:spPr>
          <a:xfrm>
            <a:off x="1520138" y="1166709"/>
            <a:ext cx="210312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9144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Two-Stream Architecture</a:t>
            </a:r>
            <a:endParaRPr/>
          </a:p>
        </p:txBody>
      </p:sp>
      <p:pic>
        <p:nvPicPr>
          <p:cNvPr id="216" name="Google Shape;21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6225" y="2573700"/>
            <a:ext cx="22651651" cy="859832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1"/>
          <p:cNvSpPr txBox="1"/>
          <p:nvPr/>
        </p:nvSpPr>
        <p:spPr>
          <a:xfrm>
            <a:off x="8817275" y="11172025"/>
            <a:ext cx="6216300" cy="16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5334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4800"/>
              <a:buChar char="❏"/>
            </a:pPr>
            <a:r>
              <a:rPr lang="en-US" sz="4800" b="1">
                <a:solidFill>
                  <a:schemeClr val="dk1"/>
                </a:solidFill>
              </a:rPr>
              <a:t> Formulation:</a:t>
            </a:r>
            <a:endParaRPr sz="4800" b="1">
              <a:solidFill>
                <a:schemeClr val="dk1"/>
              </a:solidFill>
            </a:endParaRPr>
          </a:p>
          <a:p>
            <a:pPr marL="1371600" lvl="0" indent="-482600" algn="l" rtl="0">
              <a:spcBef>
                <a:spcPts val="0"/>
              </a:spcBef>
              <a:spcAft>
                <a:spcPts val="0"/>
              </a:spcAft>
              <a:buClr>
                <a:srgbClr val="CA2126"/>
              </a:buClr>
              <a:buSzPts val="4000"/>
              <a:buChar char="➔"/>
            </a:pPr>
            <a:r>
              <a:rPr lang="en-US" sz="4000" b="1">
                <a:solidFill>
                  <a:srgbClr val="CA2126"/>
                </a:solidFill>
              </a:rPr>
              <a:t>Ffinal=Fuse(Fs,Ft) </a:t>
            </a:r>
            <a:endParaRPr sz="4000" b="1">
              <a:solidFill>
                <a:srgbClr val="CA2126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 txBox="1">
            <a:spLocks noGrp="1"/>
          </p:cNvSpPr>
          <p:nvPr>
            <p:ph type="title"/>
          </p:nvPr>
        </p:nvSpPr>
        <p:spPr>
          <a:xfrm>
            <a:off x="1676400" y="1248309"/>
            <a:ext cx="210312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Spatial Stream (ResNet-50)</a:t>
            </a:r>
            <a:endParaRPr/>
          </a:p>
        </p:txBody>
      </p:sp>
      <p:pic>
        <p:nvPicPr>
          <p:cNvPr id="224" name="Google Shape;224;p32" title="ddce18cb-5b10-4d88-9564-43c9fd26fc1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650" y="2655300"/>
            <a:ext cx="17014100" cy="982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2"/>
          <p:cNvSpPr txBox="1"/>
          <p:nvPr/>
        </p:nvSpPr>
        <p:spPr>
          <a:xfrm>
            <a:off x="17853200" y="3316625"/>
            <a:ext cx="6530700" cy="74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5334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4800"/>
              <a:buChar char="❏"/>
            </a:pPr>
            <a:r>
              <a:rPr lang="en-US" sz="4800" b="1">
                <a:solidFill>
                  <a:schemeClr val="dk1"/>
                </a:solidFill>
              </a:rPr>
              <a:t>Spatial convolution: </a:t>
            </a:r>
            <a:endParaRPr sz="4800" b="1">
              <a:solidFill>
                <a:schemeClr val="dk1"/>
              </a:solidFill>
            </a:endParaRPr>
          </a:p>
          <a:p>
            <a:pPr marL="1371600" lvl="0" indent="-482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2126"/>
              </a:buClr>
              <a:buSzPts val="4000"/>
              <a:buChar char="➔"/>
            </a:pPr>
            <a:r>
              <a:rPr lang="en-US" sz="4000" b="1">
                <a:solidFill>
                  <a:srgbClr val="CA2126"/>
                </a:solidFill>
              </a:rPr>
              <a:t>Fs1 = f (Ws ∗ xt + bs)</a:t>
            </a:r>
            <a:endParaRPr sz="4000" b="1">
              <a:solidFill>
                <a:srgbClr val="CA2126"/>
              </a:solidFill>
            </a:endParaRPr>
          </a:p>
          <a:p>
            <a:pPr marL="457200" lvl="0" indent="-533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Char char="❏"/>
            </a:pPr>
            <a:r>
              <a:rPr lang="en-US" sz="4800" b="1">
                <a:solidFill>
                  <a:schemeClr val="dk1"/>
                </a:solidFill>
              </a:rPr>
              <a:t>Residual Learning:</a:t>
            </a:r>
            <a:endParaRPr sz="4800" b="1">
              <a:solidFill>
                <a:schemeClr val="dk1"/>
              </a:solidFill>
            </a:endParaRPr>
          </a:p>
          <a:p>
            <a:pPr marL="1371600" lvl="0" indent="-482600" algn="l" rtl="0">
              <a:spcBef>
                <a:spcPts val="0"/>
              </a:spcBef>
              <a:spcAft>
                <a:spcPts val="0"/>
              </a:spcAft>
              <a:buClr>
                <a:srgbClr val="CA2126"/>
              </a:buClr>
              <a:buSzPts val="4000"/>
              <a:buChar char="➔"/>
            </a:pPr>
            <a:r>
              <a:rPr lang="en-US" sz="4000" b="1">
                <a:solidFill>
                  <a:srgbClr val="CA2126"/>
                </a:solidFill>
              </a:rPr>
              <a:t>Fs = F (Fs1 + xt) </a:t>
            </a:r>
            <a:endParaRPr sz="4000" b="1">
              <a:solidFill>
                <a:srgbClr val="CA2126"/>
              </a:solidFill>
            </a:endParaRPr>
          </a:p>
          <a:p>
            <a:pPr marL="457200" lvl="0" indent="-533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Char char="❏"/>
            </a:pPr>
            <a:r>
              <a:rPr lang="en-US" sz="4800" b="1">
                <a:solidFill>
                  <a:schemeClr val="dk1"/>
                </a:solidFill>
              </a:rPr>
              <a:t>Final Spatial Output:</a:t>
            </a:r>
            <a:endParaRPr sz="4800" b="1">
              <a:solidFill>
                <a:schemeClr val="dk1"/>
              </a:solidFill>
            </a:endParaRPr>
          </a:p>
          <a:p>
            <a:pPr marL="1371600" lvl="0" indent="-482600" algn="l" rtl="0">
              <a:spcBef>
                <a:spcPts val="0"/>
              </a:spcBef>
              <a:spcAft>
                <a:spcPts val="0"/>
              </a:spcAft>
              <a:buClr>
                <a:srgbClr val="CA2126"/>
              </a:buClr>
              <a:buSzPts val="4000"/>
              <a:buChar char="➔"/>
            </a:pPr>
            <a:r>
              <a:rPr lang="en-US" sz="4000" b="1">
                <a:solidFill>
                  <a:srgbClr val="CA2126"/>
                </a:solidFill>
              </a:rPr>
              <a:t>Ys​ = f (Ws​ ∗ Xt ​+ bs​) + Xt​</a:t>
            </a:r>
            <a:endParaRPr sz="4000" b="1">
              <a:solidFill>
                <a:srgbClr val="CA212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b="1">
              <a:solidFill>
                <a:srgbClr val="CA2126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3"/>
          <p:cNvSpPr txBox="1">
            <a:spLocks noGrp="1"/>
          </p:cNvSpPr>
          <p:nvPr>
            <p:ph type="title"/>
          </p:nvPr>
        </p:nvSpPr>
        <p:spPr>
          <a:xfrm>
            <a:off x="1676400" y="1139509"/>
            <a:ext cx="210312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Temporal Stream (R(2+1)D)</a:t>
            </a:r>
            <a:endParaRPr/>
          </a:p>
        </p:txBody>
      </p:sp>
      <p:pic>
        <p:nvPicPr>
          <p:cNvPr id="232" name="Google Shape;232;p33" title="cf726c20-6710-4c6f-8247-8bc639ab253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8525" y="2732675"/>
            <a:ext cx="16623626" cy="962377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3"/>
          <p:cNvSpPr txBox="1"/>
          <p:nvPr/>
        </p:nvSpPr>
        <p:spPr>
          <a:xfrm>
            <a:off x="18021300" y="2546500"/>
            <a:ext cx="6362700" cy="112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5334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4800"/>
              <a:buChar char="❏"/>
            </a:pPr>
            <a:r>
              <a:rPr lang="en-US" sz="4800" b="1">
                <a:solidFill>
                  <a:schemeClr val="dk1"/>
                </a:solidFill>
              </a:rPr>
              <a:t>Spatial convolution: </a:t>
            </a:r>
            <a:endParaRPr sz="4800" b="1">
              <a:solidFill>
                <a:schemeClr val="dk1"/>
              </a:solidFill>
            </a:endParaRPr>
          </a:p>
          <a:p>
            <a:pPr marL="1371600" lvl="0" indent="-482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2126"/>
              </a:buClr>
              <a:buSzPts val="4000"/>
              <a:buChar char="➔"/>
            </a:pPr>
            <a:r>
              <a:rPr lang="en-US" sz="4000" b="1">
                <a:solidFill>
                  <a:srgbClr val="CA2126"/>
                </a:solidFill>
              </a:rPr>
              <a:t>st= fs (Ws ∗ xt)</a:t>
            </a:r>
            <a:endParaRPr sz="4000" b="1">
              <a:solidFill>
                <a:srgbClr val="CA2126"/>
              </a:solidFill>
            </a:endParaRPr>
          </a:p>
          <a:p>
            <a:pPr marL="457200" lvl="0" indent="-533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Char char="❏"/>
            </a:pPr>
            <a:r>
              <a:rPr lang="en-US" sz="4800" b="1">
                <a:solidFill>
                  <a:schemeClr val="dk1"/>
                </a:solidFill>
              </a:rPr>
              <a:t>Temporal convolution:</a:t>
            </a:r>
            <a:endParaRPr sz="4800" b="1">
              <a:solidFill>
                <a:schemeClr val="dk1"/>
              </a:solidFill>
            </a:endParaRPr>
          </a:p>
          <a:p>
            <a:pPr marL="1371600" lvl="0" indent="-482600" algn="l" rtl="0">
              <a:spcBef>
                <a:spcPts val="0"/>
              </a:spcBef>
              <a:spcAft>
                <a:spcPts val="0"/>
              </a:spcAft>
              <a:buClr>
                <a:srgbClr val="CA2126"/>
              </a:buClr>
              <a:buSzPts val="4000"/>
              <a:buChar char="➔"/>
            </a:pPr>
            <a:r>
              <a:rPr lang="en-US" sz="4000" b="1">
                <a:solidFill>
                  <a:srgbClr val="CA2126"/>
                </a:solidFill>
              </a:rPr>
              <a:t>Ft = ft (Wt * Fst + bt) </a:t>
            </a:r>
            <a:endParaRPr sz="4000" b="1">
              <a:solidFill>
                <a:srgbClr val="CA2126"/>
              </a:solidFill>
            </a:endParaRPr>
          </a:p>
          <a:p>
            <a:pPr marL="457200" lvl="0" indent="-533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Char char="❏"/>
            </a:pPr>
            <a:r>
              <a:rPr lang="en-US" sz="4800" b="1">
                <a:solidFill>
                  <a:schemeClr val="dk1"/>
                </a:solidFill>
              </a:rPr>
              <a:t>Residual Learning:</a:t>
            </a:r>
            <a:endParaRPr sz="4800" b="1">
              <a:solidFill>
                <a:schemeClr val="dk1"/>
              </a:solidFill>
            </a:endParaRPr>
          </a:p>
          <a:p>
            <a:pPr marL="1371600" lvl="0" indent="-482600" algn="l" rtl="0">
              <a:spcBef>
                <a:spcPts val="0"/>
              </a:spcBef>
              <a:spcAft>
                <a:spcPts val="0"/>
              </a:spcAft>
              <a:buClr>
                <a:srgbClr val="CA2126"/>
              </a:buClr>
              <a:buSzPts val="4000"/>
              <a:buChar char="➔"/>
            </a:pPr>
            <a:r>
              <a:rPr lang="en-US" sz="4000" b="1">
                <a:solidFill>
                  <a:srgbClr val="CA2126"/>
                </a:solidFill>
              </a:rPr>
              <a:t>Yt = F (Fs1 + xt) </a:t>
            </a:r>
            <a:endParaRPr sz="4000" b="1">
              <a:solidFill>
                <a:srgbClr val="CA2126"/>
              </a:solidFill>
            </a:endParaRPr>
          </a:p>
          <a:p>
            <a:pPr marL="457200" lvl="0" indent="-533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Char char="❏"/>
            </a:pPr>
            <a:r>
              <a:rPr lang="en-US" sz="4800" b="1">
                <a:solidFill>
                  <a:schemeClr val="dk1"/>
                </a:solidFill>
              </a:rPr>
              <a:t>Final Spatial tOutput:</a:t>
            </a:r>
            <a:endParaRPr sz="4800" b="1">
              <a:solidFill>
                <a:schemeClr val="dk1"/>
              </a:solidFill>
            </a:endParaRPr>
          </a:p>
          <a:p>
            <a:pPr marL="1371600" lvl="0" indent="-482600" algn="l" rtl="0">
              <a:spcBef>
                <a:spcPts val="0"/>
              </a:spcBef>
              <a:spcAft>
                <a:spcPts val="0"/>
              </a:spcAft>
              <a:buClr>
                <a:srgbClr val="CA2126"/>
              </a:buClr>
              <a:buSzPts val="4000"/>
              <a:buChar char="➔"/>
            </a:pPr>
            <a:r>
              <a:rPr lang="en-US" sz="4000" b="1">
                <a:solidFill>
                  <a:srgbClr val="CA2126"/>
                </a:solidFill>
              </a:rPr>
              <a:t>Ys​ = ft (fs (Ws​ ∗ X)​) + X​</a:t>
            </a:r>
            <a:endParaRPr sz="4000" b="1">
              <a:solidFill>
                <a:srgbClr val="CA212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>
              <a:solidFill>
                <a:srgbClr val="CA212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4"/>
          <p:cNvSpPr txBox="1">
            <a:spLocks noGrp="1"/>
          </p:cNvSpPr>
          <p:nvPr>
            <p:ph type="title"/>
          </p:nvPr>
        </p:nvSpPr>
        <p:spPr>
          <a:xfrm>
            <a:off x="1676400" y="1221109"/>
            <a:ext cx="210312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Feature Fusion</a:t>
            </a:r>
            <a:endParaRPr/>
          </a:p>
        </p:txBody>
      </p:sp>
      <p:pic>
        <p:nvPicPr>
          <p:cNvPr id="240" name="Google Shape;240;p34" title="92010dbc-bfc3-493e-acbb-e9836b075e4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975" y="2628100"/>
            <a:ext cx="17617050" cy="929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4"/>
          <p:cNvSpPr txBox="1"/>
          <p:nvPr/>
        </p:nvSpPr>
        <p:spPr>
          <a:xfrm>
            <a:off x="18675100" y="3436275"/>
            <a:ext cx="5397600" cy="49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5334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4800"/>
              <a:buChar char="❏"/>
            </a:pPr>
            <a:r>
              <a:rPr lang="en-US" sz="4800" b="1">
                <a:solidFill>
                  <a:schemeClr val="dk1"/>
                </a:solidFill>
              </a:rPr>
              <a:t> Equation </a:t>
            </a:r>
            <a:r>
              <a:rPr lang="en-US" sz="3600" b="1">
                <a:solidFill>
                  <a:schemeClr val="dk1"/>
                </a:solidFill>
              </a:rPr>
              <a:t>(concatenation)</a:t>
            </a:r>
            <a:r>
              <a:rPr lang="en-US" sz="4800" b="1">
                <a:solidFill>
                  <a:schemeClr val="dk1"/>
                </a:solidFill>
              </a:rPr>
              <a:t>:</a:t>
            </a:r>
            <a:endParaRPr sz="4800" b="1">
              <a:solidFill>
                <a:schemeClr val="dk1"/>
              </a:solidFill>
            </a:endParaRPr>
          </a:p>
          <a:p>
            <a:pPr marL="1371600" lvl="0" indent="-482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2126"/>
              </a:buClr>
              <a:buSzPts val="4000"/>
              <a:buChar char="➔"/>
            </a:pPr>
            <a:r>
              <a:rPr lang="en-US" sz="4000" b="1">
                <a:solidFill>
                  <a:srgbClr val="CA2126"/>
                </a:solidFill>
              </a:rPr>
              <a:t>F = [Fs;Ft]</a:t>
            </a:r>
            <a:endParaRPr sz="4000" b="1">
              <a:solidFill>
                <a:srgbClr val="CA2126"/>
              </a:solidFill>
            </a:endParaRPr>
          </a:p>
          <a:p>
            <a:pPr marL="457200" lvl="0" indent="-533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Char char="❏"/>
            </a:pPr>
            <a:r>
              <a:rPr lang="en-US" sz="4800" b="1">
                <a:solidFill>
                  <a:schemeClr val="dk1"/>
                </a:solidFill>
              </a:rPr>
              <a:t>Then projection:</a:t>
            </a:r>
            <a:endParaRPr sz="4800" b="1">
              <a:solidFill>
                <a:schemeClr val="dk1"/>
              </a:solidFill>
            </a:endParaRPr>
          </a:p>
          <a:p>
            <a:pPr marL="1371600" lvl="0" indent="-482600" algn="l" rtl="0">
              <a:spcBef>
                <a:spcPts val="0"/>
              </a:spcBef>
              <a:spcAft>
                <a:spcPts val="0"/>
              </a:spcAft>
              <a:buClr>
                <a:srgbClr val="CA2126"/>
              </a:buClr>
              <a:buSzPts val="4000"/>
              <a:buChar char="➔"/>
            </a:pPr>
            <a:r>
              <a:rPr lang="en-US" sz="4000" b="1">
                <a:solidFill>
                  <a:srgbClr val="CA2126"/>
                </a:solidFill>
              </a:rPr>
              <a:t>F′ = WF + b</a:t>
            </a:r>
            <a:endParaRPr sz="4000" b="1">
              <a:solidFill>
                <a:srgbClr val="CA2126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5"/>
          <p:cNvSpPr txBox="1">
            <a:spLocks noGrp="1"/>
          </p:cNvSpPr>
          <p:nvPr>
            <p:ph type="title"/>
          </p:nvPr>
        </p:nvSpPr>
        <p:spPr>
          <a:xfrm>
            <a:off x="1676400" y="1248309"/>
            <a:ext cx="210312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Vision Transformer (ViT)</a:t>
            </a:r>
            <a:endParaRPr/>
          </a:p>
        </p:txBody>
      </p:sp>
      <p:pic>
        <p:nvPicPr>
          <p:cNvPr id="248" name="Google Shape;248;p35" title="428fc47f-92f3-4a36-9f65-e41aba548f9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1875" y="2814050"/>
            <a:ext cx="22320251" cy="890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5"/>
          <p:cNvSpPr txBox="1"/>
          <p:nvPr/>
        </p:nvSpPr>
        <p:spPr>
          <a:xfrm>
            <a:off x="1880100" y="11720150"/>
            <a:ext cx="184149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82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A2126"/>
              </a:buClr>
              <a:buSzPts val="4000"/>
              <a:buChar char="❏"/>
            </a:pPr>
            <a:r>
              <a:rPr lang="en-US" sz="4000" b="1">
                <a:solidFill>
                  <a:srgbClr val="CA2126"/>
                </a:solidFill>
              </a:rPr>
              <a:t>Attention(Q,K,V)=softmax{Q*K(T​ranspose) / square root (d)}*V</a:t>
            </a:r>
            <a:endParaRPr sz="4000" b="1">
              <a:solidFill>
                <a:srgbClr val="CA2126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6"/>
          <p:cNvSpPr txBox="1">
            <a:spLocks noGrp="1"/>
          </p:cNvSpPr>
          <p:nvPr>
            <p:ph type="title"/>
          </p:nvPr>
        </p:nvSpPr>
        <p:spPr>
          <a:xfrm>
            <a:off x="1676400" y="2064759"/>
            <a:ext cx="210312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Training Process</a:t>
            </a:r>
            <a:endParaRPr/>
          </a:p>
        </p:txBody>
      </p:sp>
      <p:sp>
        <p:nvSpPr>
          <p:cNvPr id="256" name="Google Shape;256;p36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2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7"/>
          <p:cNvSpPr txBox="1">
            <a:spLocks noGrp="1"/>
          </p:cNvSpPr>
          <p:nvPr>
            <p:ph type="title"/>
          </p:nvPr>
        </p:nvSpPr>
        <p:spPr>
          <a:xfrm>
            <a:off x="8757150" y="642075"/>
            <a:ext cx="68697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</a:t>
            </a:r>
            <a:endParaRPr/>
          </a:p>
        </p:txBody>
      </p:sp>
      <p:pic>
        <p:nvPicPr>
          <p:cNvPr id="263" name="Google Shape;263;p37"/>
          <p:cNvPicPr preferRelativeResize="0"/>
          <p:nvPr/>
        </p:nvPicPr>
        <p:blipFill rotWithShape="1">
          <a:blip r:embed="rId3">
            <a:alphaModFix/>
          </a:blip>
          <a:srcRect l="10466" t="1893"/>
          <a:stretch/>
        </p:blipFill>
        <p:spPr>
          <a:xfrm>
            <a:off x="2179388" y="2049075"/>
            <a:ext cx="20025226" cy="10483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8"/>
          <p:cNvSpPr txBox="1">
            <a:spLocks noGrp="1"/>
          </p:cNvSpPr>
          <p:nvPr>
            <p:ph type="title"/>
          </p:nvPr>
        </p:nvSpPr>
        <p:spPr>
          <a:xfrm>
            <a:off x="8757150" y="642075"/>
            <a:ext cx="68697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</a:t>
            </a:r>
            <a:endParaRPr/>
          </a:p>
        </p:txBody>
      </p:sp>
      <p:pic>
        <p:nvPicPr>
          <p:cNvPr id="270" name="Google Shape;270;p38"/>
          <p:cNvPicPr preferRelativeResize="0"/>
          <p:nvPr/>
        </p:nvPicPr>
        <p:blipFill rotWithShape="1">
          <a:blip r:embed="rId3">
            <a:alphaModFix/>
          </a:blip>
          <a:srcRect t="7867" b="6340"/>
          <a:stretch/>
        </p:blipFill>
        <p:spPr>
          <a:xfrm>
            <a:off x="1841100" y="2391025"/>
            <a:ext cx="20787374" cy="1003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9"/>
          <p:cNvSpPr txBox="1">
            <a:spLocks noGrp="1"/>
          </p:cNvSpPr>
          <p:nvPr>
            <p:ph type="title"/>
          </p:nvPr>
        </p:nvSpPr>
        <p:spPr>
          <a:xfrm>
            <a:off x="8757150" y="605600"/>
            <a:ext cx="68697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</a:t>
            </a:r>
            <a:endParaRPr/>
          </a:p>
        </p:txBody>
      </p:sp>
      <p:pic>
        <p:nvPicPr>
          <p:cNvPr id="277" name="Google Shape;277;p39"/>
          <p:cNvPicPr preferRelativeResize="0"/>
          <p:nvPr/>
        </p:nvPicPr>
        <p:blipFill rotWithShape="1">
          <a:blip r:embed="rId3">
            <a:alphaModFix/>
          </a:blip>
          <a:srcRect t="-9159" b="16738"/>
          <a:stretch/>
        </p:blipFill>
        <p:spPr>
          <a:xfrm>
            <a:off x="511150" y="1295000"/>
            <a:ext cx="23361701" cy="1112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 txBox="1">
            <a:spLocks noGrp="1"/>
          </p:cNvSpPr>
          <p:nvPr>
            <p:ph type="title"/>
          </p:nvPr>
        </p:nvSpPr>
        <p:spPr>
          <a:xfrm>
            <a:off x="8694525" y="642075"/>
            <a:ext cx="68697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</a:t>
            </a:r>
            <a:endParaRPr/>
          </a:p>
        </p:txBody>
      </p:sp>
      <p:pic>
        <p:nvPicPr>
          <p:cNvPr id="284" name="Google Shape;28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4950" y="2049075"/>
            <a:ext cx="20468848" cy="1046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1"/>
          <p:cNvSpPr txBox="1">
            <a:spLocks noGrp="1"/>
          </p:cNvSpPr>
          <p:nvPr>
            <p:ph type="title"/>
          </p:nvPr>
        </p:nvSpPr>
        <p:spPr>
          <a:xfrm>
            <a:off x="8757150" y="642075"/>
            <a:ext cx="68697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</a:t>
            </a:r>
            <a:endParaRPr/>
          </a:p>
        </p:txBody>
      </p:sp>
      <p:pic>
        <p:nvPicPr>
          <p:cNvPr id="291" name="Google Shape;29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6375" y="2049075"/>
            <a:ext cx="19671251" cy="104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2"/>
          <p:cNvSpPr txBox="1">
            <a:spLocks noGrp="1"/>
          </p:cNvSpPr>
          <p:nvPr>
            <p:ph type="title"/>
          </p:nvPr>
        </p:nvSpPr>
        <p:spPr>
          <a:xfrm>
            <a:off x="1676400" y="2064759"/>
            <a:ext cx="210312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System Integration</a:t>
            </a:r>
            <a:endParaRPr/>
          </a:p>
        </p:txBody>
      </p:sp>
      <p:sp>
        <p:nvSpPr>
          <p:cNvPr id="298" name="Google Shape;298;p42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2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3"/>
          <p:cNvSpPr txBox="1">
            <a:spLocks noGrp="1"/>
          </p:cNvSpPr>
          <p:nvPr>
            <p:ph type="title"/>
          </p:nvPr>
        </p:nvSpPr>
        <p:spPr>
          <a:xfrm>
            <a:off x="1676400" y="2064759"/>
            <a:ext cx="210312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Results</a:t>
            </a:r>
            <a:endParaRPr/>
          </a:p>
        </p:txBody>
      </p:sp>
      <p:sp>
        <p:nvSpPr>
          <p:cNvPr id="305" name="Google Shape;305;p43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2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4"/>
          <p:cNvSpPr txBox="1">
            <a:spLocks noGrp="1"/>
          </p:cNvSpPr>
          <p:nvPr>
            <p:ph type="title"/>
          </p:nvPr>
        </p:nvSpPr>
        <p:spPr>
          <a:xfrm>
            <a:off x="1676400" y="2064759"/>
            <a:ext cx="210312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Web Interface</a:t>
            </a:r>
            <a:endParaRPr/>
          </a:p>
        </p:txBody>
      </p:sp>
      <p:sp>
        <p:nvSpPr>
          <p:cNvPr id="312" name="Google Shape;312;p44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2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5"/>
          <p:cNvSpPr txBox="1">
            <a:spLocks noGrp="1"/>
          </p:cNvSpPr>
          <p:nvPr>
            <p:ph type="title"/>
          </p:nvPr>
        </p:nvSpPr>
        <p:spPr>
          <a:xfrm>
            <a:off x="1676400" y="1747294"/>
            <a:ext cx="21031200" cy="11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6400"/>
              <a:buFont typeface="Arial"/>
              <a:buNone/>
            </a:pPr>
            <a:r>
              <a:rPr lang="en-US" sz="6400">
                <a:solidFill>
                  <a:srgbClr val="002060"/>
                </a:solidFill>
              </a:rPr>
              <a:t>Web Interface</a:t>
            </a:r>
            <a:endParaRPr/>
          </a:p>
        </p:txBody>
      </p:sp>
      <p:sp>
        <p:nvSpPr>
          <p:cNvPr id="318" name="Google Shape;318;p45"/>
          <p:cNvSpPr txBox="1"/>
          <p:nvPr/>
        </p:nvSpPr>
        <p:spPr>
          <a:xfrm>
            <a:off x="479873" y="4107257"/>
            <a:ext cx="19667700" cy="57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457200" lvl="0" indent="-533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●"/>
            </a:pPr>
            <a:r>
              <a:rPr lang="en-US" sz="4800">
                <a:solidFill>
                  <a:schemeClr val="dk1"/>
                </a:solidFill>
              </a:rPr>
              <a:t>End-to-end working system</a:t>
            </a:r>
            <a:endParaRPr sz="4800">
              <a:solidFill>
                <a:schemeClr val="dk1"/>
              </a:solidFill>
            </a:endParaRPr>
          </a:p>
          <a:p>
            <a:pPr marL="457200" lvl="0" indent="-533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Char char="●"/>
            </a:pPr>
            <a:r>
              <a:rPr lang="en-US" sz="4800">
                <a:solidFill>
                  <a:schemeClr val="dk1"/>
                </a:solidFill>
              </a:rPr>
              <a:t>Real-time video analysis</a:t>
            </a:r>
            <a:endParaRPr sz="4800">
              <a:solidFill>
                <a:schemeClr val="dk1"/>
              </a:solidFill>
            </a:endParaRPr>
          </a:p>
          <a:p>
            <a:pPr marL="457200" lvl="0" indent="-533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Char char="●"/>
            </a:pPr>
            <a:r>
              <a:rPr lang="en-US" sz="4800">
                <a:solidFill>
                  <a:schemeClr val="dk1"/>
                </a:solidFill>
              </a:rPr>
              <a:t>Multi-class anomaly detection</a:t>
            </a:r>
            <a:endParaRPr sz="4800">
              <a:solidFill>
                <a:schemeClr val="dk1"/>
              </a:solidFill>
            </a:endParaRPr>
          </a:p>
          <a:p>
            <a:pPr marL="457200" lvl="0" indent="-533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Char char="●"/>
            </a:pPr>
            <a:r>
              <a:rPr lang="en-US" sz="4800">
                <a:solidFill>
                  <a:schemeClr val="dk1"/>
                </a:solidFill>
              </a:rPr>
              <a:t>Live alert visualization</a:t>
            </a:r>
            <a:endParaRPr sz="48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480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4800">
              <a:solidFill>
                <a:schemeClr val="dk1"/>
              </a:solidFill>
            </a:endParaRPr>
          </a:p>
        </p:txBody>
      </p:sp>
      <p:pic>
        <p:nvPicPr>
          <p:cNvPr id="319" name="Google Shape;31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2125" y="3490651"/>
            <a:ext cx="14549274" cy="836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6"/>
          <p:cNvSpPr txBox="1">
            <a:spLocks noGrp="1"/>
          </p:cNvSpPr>
          <p:nvPr>
            <p:ph type="title"/>
          </p:nvPr>
        </p:nvSpPr>
        <p:spPr>
          <a:xfrm>
            <a:off x="1676400" y="1747294"/>
            <a:ext cx="21031200" cy="11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6400"/>
              <a:buFont typeface="Arial"/>
              <a:buNone/>
            </a:pPr>
            <a:r>
              <a:rPr lang="en-US" sz="6400">
                <a:solidFill>
                  <a:srgbClr val="002060"/>
                </a:solidFill>
              </a:rPr>
              <a:t>Web Interface</a:t>
            </a:r>
            <a:endParaRPr sz="6400">
              <a:solidFill>
                <a:srgbClr val="002060"/>
              </a:solidFill>
            </a:endParaRPr>
          </a:p>
        </p:txBody>
      </p:sp>
      <p:sp>
        <p:nvSpPr>
          <p:cNvPr id="325" name="Google Shape;325;p46"/>
          <p:cNvSpPr txBox="1"/>
          <p:nvPr/>
        </p:nvSpPr>
        <p:spPr>
          <a:xfrm>
            <a:off x="550423" y="3994357"/>
            <a:ext cx="19667700" cy="57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457200" lvl="0" indent="-533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●"/>
            </a:pPr>
            <a:r>
              <a:rPr lang="en-US" sz="4800">
                <a:solidFill>
                  <a:schemeClr val="dk1"/>
                </a:solidFill>
              </a:rPr>
              <a:t>Input: CCTV / video footage</a:t>
            </a:r>
            <a:endParaRPr sz="4800">
              <a:solidFill>
                <a:schemeClr val="dk1"/>
              </a:solidFill>
            </a:endParaRPr>
          </a:p>
          <a:p>
            <a:pPr marL="457200" lvl="0" indent="-533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Char char="●"/>
            </a:pPr>
            <a:r>
              <a:rPr lang="en-US" sz="4800">
                <a:solidFill>
                  <a:schemeClr val="dk1"/>
                </a:solidFill>
              </a:rPr>
              <a:t>Model processes video stream</a:t>
            </a:r>
            <a:endParaRPr sz="4800">
              <a:solidFill>
                <a:schemeClr val="dk1"/>
              </a:solidFill>
            </a:endParaRPr>
          </a:p>
          <a:p>
            <a:pPr marL="457200" lvl="0" indent="-533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Char char="●"/>
            </a:pPr>
            <a:r>
              <a:rPr lang="en-US" sz="4800">
                <a:solidFill>
                  <a:schemeClr val="dk1"/>
                </a:solidFill>
              </a:rPr>
              <a:t>Detects anomaly in real-time</a:t>
            </a:r>
            <a:endParaRPr sz="4800">
              <a:solidFill>
                <a:schemeClr val="dk1"/>
              </a:solidFill>
            </a:endParaRPr>
          </a:p>
          <a:p>
            <a:pPr marL="457200" lvl="0" indent="-533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Char char="●"/>
            </a:pPr>
            <a:r>
              <a:rPr lang="en-US" sz="4800">
                <a:solidFill>
                  <a:schemeClr val="dk1"/>
                </a:solidFill>
              </a:rPr>
              <a:t>Displays confidence score</a:t>
            </a:r>
            <a:endParaRPr sz="4800">
              <a:solidFill>
                <a:schemeClr val="dk1"/>
              </a:solidFill>
            </a:endParaRPr>
          </a:p>
          <a:p>
            <a:pPr marL="457200" lvl="0" indent="-533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Char char="●"/>
            </a:pPr>
            <a:r>
              <a:rPr lang="en-US" sz="4800">
                <a:solidFill>
                  <a:schemeClr val="dk1"/>
                </a:solidFill>
              </a:rPr>
              <a:t>Triggers alerts</a:t>
            </a:r>
            <a:endParaRPr sz="4800">
              <a:solidFill>
                <a:schemeClr val="dk1"/>
              </a:solidFill>
            </a:endParaRPr>
          </a:p>
        </p:txBody>
      </p:sp>
      <p:pic>
        <p:nvPicPr>
          <p:cNvPr id="326" name="Google Shape;326;p46" title="Screenshot 2026-06-10 193148.png"/>
          <p:cNvPicPr preferRelativeResize="0"/>
          <p:nvPr/>
        </p:nvPicPr>
        <p:blipFill rotWithShape="1">
          <a:blip r:embed="rId3">
            <a:alphaModFix/>
          </a:blip>
          <a:srcRect l="10167" r="10159"/>
          <a:stretch/>
        </p:blipFill>
        <p:spPr>
          <a:xfrm>
            <a:off x="9754775" y="3180650"/>
            <a:ext cx="14461952" cy="863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7"/>
          <p:cNvSpPr txBox="1">
            <a:spLocks noGrp="1"/>
          </p:cNvSpPr>
          <p:nvPr>
            <p:ph type="title"/>
          </p:nvPr>
        </p:nvSpPr>
        <p:spPr>
          <a:xfrm>
            <a:off x="1676400" y="1747294"/>
            <a:ext cx="21031200" cy="11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6400"/>
              <a:buFont typeface="Arial"/>
              <a:buNone/>
            </a:pPr>
            <a:r>
              <a:rPr lang="en-US" sz="6400">
                <a:solidFill>
                  <a:srgbClr val="002060"/>
                </a:solidFill>
              </a:rPr>
              <a:t>Web Interface</a:t>
            </a:r>
            <a:endParaRPr sz="6400">
              <a:solidFill>
                <a:srgbClr val="002060"/>
              </a:solidFill>
            </a:endParaRPr>
          </a:p>
        </p:txBody>
      </p:sp>
      <p:sp>
        <p:nvSpPr>
          <p:cNvPr id="332" name="Google Shape;332;p47"/>
          <p:cNvSpPr txBox="1"/>
          <p:nvPr/>
        </p:nvSpPr>
        <p:spPr>
          <a:xfrm>
            <a:off x="550423" y="3994357"/>
            <a:ext cx="19667700" cy="57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457200" lvl="0" indent="-533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●"/>
            </a:pPr>
            <a:r>
              <a:rPr lang="en-US" sz="4800">
                <a:solidFill>
                  <a:schemeClr val="dk1"/>
                </a:solidFill>
              </a:rPr>
              <a:t>Input: CCTV / video footage</a:t>
            </a:r>
            <a:endParaRPr sz="4800">
              <a:solidFill>
                <a:schemeClr val="dk1"/>
              </a:solidFill>
            </a:endParaRPr>
          </a:p>
          <a:p>
            <a:pPr marL="457200" lvl="0" indent="-533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Char char="●"/>
            </a:pPr>
            <a:r>
              <a:rPr lang="en-US" sz="4800">
                <a:solidFill>
                  <a:schemeClr val="dk1"/>
                </a:solidFill>
              </a:rPr>
              <a:t>Model processes video stream</a:t>
            </a:r>
            <a:endParaRPr sz="4800">
              <a:solidFill>
                <a:schemeClr val="dk1"/>
              </a:solidFill>
            </a:endParaRPr>
          </a:p>
          <a:p>
            <a:pPr marL="457200" lvl="0" indent="-533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Char char="●"/>
            </a:pPr>
            <a:r>
              <a:rPr lang="en-US" sz="4800">
                <a:solidFill>
                  <a:schemeClr val="dk1"/>
                </a:solidFill>
              </a:rPr>
              <a:t>Detects anomaly in real-time</a:t>
            </a:r>
            <a:endParaRPr sz="4800">
              <a:solidFill>
                <a:schemeClr val="dk1"/>
              </a:solidFill>
            </a:endParaRPr>
          </a:p>
          <a:p>
            <a:pPr marL="457200" lvl="0" indent="-533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Char char="●"/>
            </a:pPr>
            <a:r>
              <a:rPr lang="en-US" sz="4800">
                <a:solidFill>
                  <a:schemeClr val="dk1"/>
                </a:solidFill>
              </a:rPr>
              <a:t>Displays confidence score</a:t>
            </a:r>
            <a:endParaRPr sz="4800">
              <a:solidFill>
                <a:schemeClr val="dk1"/>
              </a:solidFill>
            </a:endParaRPr>
          </a:p>
          <a:p>
            <a:pPr marL="457200" lvl="0" indent="-533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Char char="●"/>
            </a:pPr>
            <a:r>
              <a:rPr lang="en-US" sz="4800">
                <a:solidFill>
                  <a:schemeClr val="dk1"/>
                </a:solidFill>
              </a:rPr>
              <a:t>Triggers alerts</a:t>
            </a:r>
            <a:endParaRPr sz="4800">
              <a:solidFill>
                <a:schemeClr val="dk1"/>
              </a:solidFill>
            </a:endParaRPr>
          </a:p>
        </p:txBody>
      </p:sp>
      <p:pic>
        <p:nvPicPr>
          <p:cNvPr id="333" name="Google Shape;33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54775" y="3180650"/>
            <a:ext cx="14461951" cy="863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8"/>
          <p:cNvSpPr txBox="1">
            <a:spLocks noGrp="1"/>
          </p:cNvSpPr>
          <p:nvPr>
            <p:ph type="title"/>
          </p:nvPr>
        </p:nvSpPr>
        <p:spPr>
          <a:xfrm>
            <a:off x="1676400" y="2064759"/>
            <a:ext cx="210312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System Features&amp;Demo </a:t>
            </a:r>
            <a:endParaRPr/>
          </a:p>
        </p:txBody>
      </p:sp>
      <p:sp>
        <p:nvSpPr>
          <p:cNvPr id="340" name="Google Shape;340;p48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2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9"/>
          <p:cNvSpPr txBox="1">
            <a:spLocks noGrp="1"/>
          </p:cNvSpPr>
          <p:nvPr>
            <p:ph type="title"/>
          </p:nvPr>
        </p:nvSpPr>
        <p:spPr>
          <a:xfrm>
            <a:off x="1546500" y="1256559"/>
            <a:ext cx="210312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Challenges</a:t>
            </a:r>
            <a:endParaRPr/>
          </a:p>
        </p:txBody>
      </p:sp>
      <p:pic>
        <p:nvPicPr>
          <p:cNvPr id="347" name="Google Shape;34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2550" y="3077400"/>
            <a:ext cx="19442199" cy="9697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0"/>
          <p:cNvSpPr txBox="1">
            <a:spLocks noGrp="1"/>
          </p:cNvSpPr>
          <p:nvPr>
            <p:ph type="title"/>
          </p:nvPr>
        </p:nvSpPr>
        <p:spPr>
          <a:xfrm>
            <a:off x="1676400" y="1097834"/>
            <a:ext cx="210312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Solutions</a:t>
            </a:r>
            <a:endParaRPr/>
          </a:p>
        </p:txBody>
      </p:sp>
      <p:pic>
        <p:nvPicPr>
          <p:cNvPr id="354" name="Google Shape;35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8375" y="2320950"/>
            <a:ext cx="20493176" cy="10439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1"/>
          <p:cNvSpPr txBox="1">
            <a:spLocks noGrp="1"/>
          </p:cNvSpPr>
          <p:nvPr>
            <p:ph type="title"/>
          </p:nvPr>
        </p:nvSpPr>
        <p:spPr>
          <a:xfrm>
            <a:off x="1676400" y="1198834"/>
            <a:ext cx="210312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Timeline</a:t>
            </a:r>
            <a:endParaRPr/>
          </a:p>
        </p:txBody>
      </p:sp>
      <p:pic>
        <p:nvPicPr>
          <p:cNvPr id="361" name="Google Shape;36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6325" y="2779025"/>
            <a:ext cx="20031350" cy="996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2"/>
          <p:cNvSpPr txBox="1">
            <a:spLocks noGrp="1"/>
          </p:cNvSpPr>
          <p:nvPr>
            <p:ph type="title"/>
          </p:nvPr>
        </p:nvSpPr>
        <p:spPr>
          <a:xfrm>
            <a:off x="1676400" y="881359"/>
            <a:ext cx="210312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Team Contributions</a:t>
            </a:r>
            <a:endParaRPr/>
          </a:p>
        </p:txBody>
      </p:sp>
      <p:pic>
        <p:nvPicPr>
          <p:cNvPr id="368" name="Google Shape;36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0425" y="2506000"/>
            <a:ext cx="17857601" cy="1004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3"/>
          <p:cNvSpPr txBox="1">
            <a:spLocks noGrp="1"/>
          </p:cNvSpPr>
          <p:nvPr>
            <p:ph type="title"/>
          </p:nvPr>
        </p:nvSpPr>
        <p:spPr>
          <a:xfrm>
            <a:off x="1791850" y="967959"/>
            <a:ext cx="210312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Limitations</a:t>
            </a:r>
            <a:endParaRPr/>
          </a:p>
        </p:txBody>
      </p:sp>
      <p:pic>
        <p:nvPicPr>
          <p:cNvPr id="375" name="Google Shape;37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3025" y="2217700"/>
            <a:ext cx="20276699" cy="1056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4"/>
          <p:cNvSpPr txBox="1">
            <a:spLocks noGrp="1"/>
          </p:cNvSpPr>
          <p:nvPr>
            <p:ph type="title"/>
          </p:nvPr>
        </p:nvSpPr>
        <p:spPr>
          <a:xfrm>
            <a:off x="894850" y="1097834"/>
            <a:ext cx="210312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Future Work</a:t>
            </a:r>
            <a:endParaRPr/>
          </a:p>
        </p:txBody>
      </p:sp>
      <p:pic>
        <p:nvPicPr>
          <p:cNvPr id="382" name="Google Shape;38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8825" y="2693950"/>
            <a:ext cx="19555124" cy="999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5"/>
          <p:cNvSpPr txBox="1">
            <a:spLocks noGrp="1"/>
          </p:cNvSpPr>
          <p:nvPr>
            <p:ph type="title"/>
          </p:nvPr>
        </p:nvSpPr>
        <p:spPr>
          <a:xfrm>
            <a:off x="1676400" y="953509"/>
            <a:ext cx="210312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/>
          </a:p>
        </p:txBody>
      </p:sp>
      <p:pic>
        <p:nvPicPr>
          <p:cNvPr id="389" name="Google Shape;389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5200" y="2432675"/>
            <a:ext cx="19656126" cy="1030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6"/>
          <p:cNvSpPr txBox="1">
            <a:spLocks noGrp="1"/>
          </p:cNvSpPr>
          <p:nvPr>
            <p:ph type="title"/>
          </p:nvPr>
        </p:nvSpPr>
        <p:spPr>
          <a:xfrm>
            <a:off x="1676400" y="2064759"/>
            <a:ext cx="210312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396" name="Google Shape;396;p56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14400" lvl="0" indent="-482600" algn="l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4000"/>
              <a:buChar char="•"/>
            </a:pPr>
            <a:r>
              <a:rPr lang="en-US" sz="4000"/>
              <a:t> UCF-Crime Dataset – Sultani et al., CVPR 2018</a:t>
            </a:r>
            <a:endParaRPr sz="4000"/>
          </a:p>
          <a:p>
            <a:pPr marL="914400" lvl="0" indent="-482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Char char="•"/>
            </a:pPr>
            <a:r>
              <a:rPr lang="en-US" sz="4000"/>
              <a:t> UCA Annotation Dataset – Yuan et al., arXiv 2023</a:t>
            </a:r>
            <a:endParaRPr sz="4000"/>
          </a:p>
          <a:p>
            <a:pPr marL="914400" lvl="0" indent="-482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Char char="•"/>
            </a:pPr>
            <a:r>
              <a:rPr lang="en-US" sz="4000"/>
              <a:t> ResNet-50 – He et al., CVPR 2016</a:t>
            </a:r>
            <a:endParaRPr sz="4000"/>
          </a:p>
          <a:p>
            <a:pPr marL="914400" lvl="0" indent="-482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Char char="•"/>
            </a:pPr>
            <a:r>
              <a:rPr lang="en-US" sz="4000"/>
              <a:t> I3D – Carreira &amp; Zisserman, CVPR 2017</a:t>
            </a:r>
            <a:endParaRPr sz="4000"/>
          </a:p>
          <a:p>
            <a:pPr marL="914400" lvl="0" indent="-482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Char char="•"/>
            </a:pPr>
            <a:r>
              <a:rPr lang="en-US" sz="4000"/>
              <a:t> R(2+1)D – Tran et al., CVPR 2018</a:t>
            </a:r>
            <a:endParaRPr sz="4000"/>
          </a:p>
          <a:p>
            <a:pPr marL="914400" lvl="0" indent="-482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Char char="•"/>
            </a:pPr>
            <a:r>
              <a:rPr lang="en-US" sz="4000"/>
              <a:t> Vision Transformer (ViT) – Dosovitskiy et al., arXiv 2020</a:t>
            </a:r>
            <a:endParaRPr sz="4000"/>
          </a:p>
          <a:p>
            <a:pPr marL="914400" lvl="0" indent="-482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Char char="•"/>
            </a:pPr>
            <a:r>
              <a:rPr lang="en-US" sz="4000"/>
              <a:t> Graph Convolutional Label Noise Cleaner – Zhong et al., CVPR 2019</a:t>
            </a:r>
            <a:endParaRPr sz="4000"/>
          </a:p>
          <a:p>
            <a:pPr marL="914400" lvl="0" indent="-482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Char char="•"/>
            </a:pPr>
            <a:r>
              <a:rPr lang="en-US" sz="4000"/>
              <a:t> RTFM Method – Tian et al., ICCV 2021</a:t>
            </a:r>
            <a:endParaRPr sz="4000"/>
          </a:p>
          <a:p>
            <a:pPr marL="914400" lvl="0" indent="0" algn="l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None/>
            </a:pPr>
            <a:endParaRPr sz="40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7"/>
          <p:cNvSpPr txBox="1">
            <a:spLocks noGrp="1"/>
          </p:cNvSpPr>
          <p:nvPr>
            <p:ph type="title"/>
          </p:nvPr>
        </p:nvSpPr>
        <p:spPr>
          <a:xfrm>
            <a:off x="1676400" y="6705134"/>
            <a:ext cx="21031200" cy="1407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/>
              <a:t>Q&amp;A</a:t>
            </a:r>
            <a:endParaRPr sz="7200"/>
          </a:p>
        </p:txBody>
      </p:sp>
      <p:sp>
        <p:nvSpPr>
          <p:cNvPr id="403" name="Google Shape;403;p57"/>
          <p:cNvSpPr txBox="1">
            <a:spLocks noGrp="1"/>
          </p:cNvSpPr>
          <p:nvPr>
            <p:ph type="body" idx="1"/>
          </p:nvPr>
        </p:nvSpPr>
        <p:spPr>
          <a:xfrm>
            <a:off x="1676400" y="11837050"/>
            <a:ext cx="21031200" cy="51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2000"/>
              </a:spcBef>
              <a:spcAft>
                <a:spcPts val="0"/>
              </a:spcAft>
              <a:buNone/>
            </a:pPr>
            <a:r>
              <a:rPr lang="en-US" sz="100"/>
              <a:t>.</a:t>
            </a:r>
            <a:endParaRPr sz="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535</Words>
  <Application>Microsoft Office PowerPoint</Application>
  <PresentationFormat>Custom</PresentationFormat>
  <Paragraphs>171</Paragraphs>
  <Slides>47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1" baseType="lpstr">
      <vt:lpstr>Calibri</vt:lpstr>
      <vt:lpstr>Arial</vt:lpstr>
      <vt:lpstr>Times New Roman</vt:lpstr>
      <vt:lpstr>Office Theme</vt:lpstr>
      <vt:lpstr>PowerPoint Presentation</vt:lpstr>
      <vt:lpstr>PowerPoint Presentation</vt:lpstr>
      <vt:lpstr>Introduction</vt:lpstr>
      <vt:lpstr>Problem Statement</vt:lpstr>
      <vt:lpstr>Motivation</vt:lpstr>
      <vt:lpstr>Objectives</vt:lpstr>
      <vt:lpstr>Requirements</vt:lpstr>
      <vt:lpstr>Existing Solutions</vt:lpstr>
      <vt:lpstr>Literature Review</vt:lpstr>
      <vt:lpstr>Proposed Solution</vt:lpstr>
      <vt:lpstr>PowerPoint Presentation</vt:lpstr>
      <vt:lpstr>Data Collection Pipeline</vt:lpstr>
      <vt:lpstr>Complete System Workflow</vt:lpstr>
      <vt:lpstr>System Architecture</vt:lpstr>
      <vt:lpstr>System Workflow</vt:lpstr>
      <vt:lpstr>UML Diagrams</vt:lpstr>
      <vt:lpstr>Technology Stack</vt:lpstr>
      <vt:lpstr>Dataset</vt:lpstr>
      <vt:lpstr>Data Preprocessing</vt:lpstr>
      <vt:lpstr>Model Architecture</vt:lpstr>
      <vt:lpstr>Two-Stream Architecture</vt:lpstr>
      <vt:lpstr>Spatial Stream (ResNet-50)</vt:lpstr>
      <vt:lpstr>Temporal Stream (R(2+1)D)</vt:lpstr>
      <vt:lpstr>Feature Fusion</vt:lpstr>
      <vt:lpstr>Vision Transformer (ViT)</vt:lpstr>
      <vt:lpstr>Training Process</vt:lpstr>
      <vt:lpstr>Implementation</vt:lpstr>
      <vt:lpstr>Implementation</vt:lpstr>
      <vt:lpstr>Implementation</vt:lpstr>
      <vt:lpstr>Implementation</vt:lpstr>
      <vt:lpstr>Implementation</vt:lpstr>
      <vt:lpstr>System Integration</vt:lpstr>
      <vt:lpstr>Results</vt:lpstr>
      <vt:lpstr>Web Interface</vt:lpstr>
      <vt:lpstr>Web Interface</vt:lpstr>
      <vt:lpstr>Web Interface</vt:lpstr>
      <vt:lpstr>Web Interface</vt:lpstr>
      <vt:lpstr>System Features&amp;Demo </vt:lpstr>
      <vt:lpstr>Challenges</vt:lpstr>
      <vt:lpstr>Solutions</vt:lpstr>
      <vt:lpstr>Project Timeline</vt:lpstr>
      <vt:lpstr>Team Contributions</vt:lpstr>
      <vt:lpstr>Limitations</vt:lpstr>
      <vt:lpstr>Future Work</vt:lpstr>
      <vt:lpstr>Conclusion</vt:lpstr>
      <vt:lpstr>References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Tasneem Ibrahim Hassan Mohamed Taha</cp:lastModifiedBy>
  <cp:revision>7</cp:revision>
  <dcterms:modified xsi:type="dcterms:W3CDTF">2026-06-11T13:53:17Z</dcterms:modified>
</cp:coreProperties>
</file>