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3.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charts/chart4.xml" ContentType="application/vnd.openxmlformats-officedocument.drawingml.chart+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charts/chart5.xml" ContentType="application/vnd.openxmlformats-officedocument.drawingml.chart+xml"/>
  <Override PartName="/ppt/slideMasters/slideMaster41.xml" ContentType="application/vnd.openxmlformats-officedocument.presentationml.slideMaster+xml"/>
  <Override PartName="/ppt/slides/slide41.xml" ContentType="application/vnd.openxmlformats-officedocument.presentationml.slide+xml"/>
  <Override PartName="/ppt/charts/chart6.xml" ContentType="application/vnd.openxmlformats-officedocument.drawingml.chart+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charts/chart7.xml" ContentType="application/vnd.openxmlformats-officedocument.drawingml.chart+xml"/>
  <Override PartName="/ppt/slideMasters/slideMaster46.xml" ContentType="application/vnd.openxmlformats-officedocument.presentationml.slideMaster+xml"/>
  <Override PartName="/ppt/slides/slide46.xml" ContentType="application/vnd.openxmlformats-officedocument.presentationml.slide+xml"/>
  <Override PartName="/ppt/charts/chart8.xml" ContentType="application/vnd.openxmlformats-officedocument.drawingml.chart+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charts/chart9.xml" ContentType="application/vnd.openxmlformats-officedocument.drawingml.chart+xml"/>
  <Override PartName="/ppt/slideMasters/slideMaster51.xml" ContentType="application/vnd.openxmlformats-officedocument.presentationml.slideMaster+xml"/>
  <Override PartName="/ppt/slides/slide51.xml" ContentType="application/vnd.openxmlformats-officedocument.presentationml.slide+xml"/>
  <Override PartName="/ppt/charts/chart10.xml" ContentType="application/vnd.openxmlformats-officedocument.drawingml.chart+xml"/>
  <Override PartName="/ppt/slideMasters/slideMaster52.xml" ContentType="application/vnd.openxmlformats-officedocument.presentationml.slideMaster+xml"/>
  <Override PartName="/ppt/slides/slide52.xml" ContentType="application/vnd.openxmlformats-officedocument.presentationml.slide+xml"/>
  <Override PartName="/ppt/charts/chart11.xml" ContentType="application/vnd.openxmlformats-officedocument.drawingml.chart+xml"/>
  <Override PartName="/ppt/slideMasters/slideMaster53.xml" ContentType="application/vnd.openxmlformats-officedocument.presentationml.slideMaster+xml"/>
  <Override PartName="/ppt/slides/slide53.xml" ContentType="application/vnd.openxmlformats-officedocument.presentationml.slide+xml"/>
  <Override PartName="/ppt/charts/chart12.xml" ContentType="application/vnd.openxmlformats-officedocument.drawingml.chart+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Lst>
  <p:notesMasterIdLst>
    <p:notesMasterId r:id="rId6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notesMaster" Target="notesMasters/notes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Training Frames</c:v>
                </c:pt>
              </c:strCache>
            </c:strRef>
          </c:tx>
          <c:spPr>
            <a:solidFill>
              <a:srgbClr val="00D4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00D4FF"/>
              </a:solidFill>
              <a:effectLst/>
            </c:spPr>
          </c:dPt>
          <c:dPt>
            <c:idx val="1"/>
            <c:invertIfNegative val="0"/>
            <c:bubble3D val="0"/>
            <c:spPr>
              <a:solidFill>
                <a:srgbClr val="00D4FF"/>
              </a:solidFill>
              <a:effectLst/>
            </c:spPr>
          </c:dPt>
          <c:dPt>
            <c:idx val="2"/>
            <c:invertIfNegative val="0"/>
            <c:bubble3D val="0"/>
            <c:spPr>
              <a:solidFill>
                <a:srgbClr val="00D4FF"/>
              </a:solidFill>
              <a:effectLst/>
            </c:spPr>
          </c:dPt>
          <c:dPt>
            <c:idx val="3"/>
            <c:invertIfNegative val="0"/>
            <c:bubble3D val="0"/>
            <c:spPr>
              <a:solidFill>
                <a:srgbClr val="00D4FF"/>
              </a:solidFill>
              <a:effectLst/>
            </c:spPr>
          </c:dPt>
          <c:dPt>
            <c:idx val="4"/>
            <c:invertIfNegative val="0"/>
            <c:bubble3D val="0"/>
            <c:spPr>
              <a:solidFill>
                <a:srgbClr val="00D4FF"/>
              </a:solidFill>
              <a:effectLst/>
            </c:spPr>
          </c:dPt>
          <c:dPt>
            <c:idx val="5"/>
            <c:invertIfNegative val="0"/>
            <c:bubble3D val="0"/>
            <c:spPr>
              <a:solidFill>
                <a:srgbClr val="00D4FF"/>
              </a:solidFill>
              <a:effectLst/>
            </c:spPr>
          </c:dPt>
          <c:dPt>
            <c:idx val="6"/>
            <c:invertIfNegative val="0"/>
            <c:bubble3D val="0"/>
            <c:spPr>
              <a:solidFill>
                <a:srgbClr val="00D4FF"/>
              </a:solidFill>
              <a:effectLst/>
            </c:spPr>
          </c:dPt>
          <c:dPt>
            <c:idx val="7"/>
            <c:invertIfNegative val="0"/>
            <c:bubble3D val="0"/>
            <c:spPr>
              <a:solidFill>
                <a:srgbClr val="EF4444"/>
              </a:solidFill>
              <a:effectLst/>
            </c:spPr>
          </c:dPt>
          <c:dPt>
            <c:idx val="8"/>
            <c:invertIfNegative val="0"/>
            <c:bubble3D val="0"/>
            <c:spPr>
              <a:solidFill>
                <a:srgbClr val="00D4FF"/>
              </a:solidFill>
              <a:effectLst/>
            </c:spPr>
          </c:dPt>
          <c:dPt>
            <c:idx val="9"/>
            <c:invertIfNegative val="0"/>
            <c:bubble3D val="0"/>
            <c:spPr>
              <a:solidFill>
                <a:srgbClr val="00D4FF"/>
              </a:solidFill>
              <a:effectLst/>
            </c:spPr>
          </c:dPt>
          <c:dPt>
            <c:idx val="10"/>
            <c:invertIfNegative val="0"/>
            <c:bubble3D val="0"/>
            <c:spPr>
              <a:solidFill>
                <a:srgbClr val="00D4FF"/>
              </a:solidFill>
              <a:effectLst/>
            </c:spPr>
          </c:dPt>
          <c:dPt>
            <c:idx val="11"/>
            <c:invertIfNegative val="0"/>
            <c:bubble3D val="0"/>
            <c:spPr>
              <a:solidFill>
                <a:srgbClr val="00D4FF"/>
              </a:solidFill>
              <a:effectLst/>
            </c:spPr>
          </c:dPt>
          <c:dPt>
            <c:idx val="12"/>
            <c:invertIfNegative val="0"/>
            <c:bubble3D val="0"/>
            <c:spPr>
              <a:solidFill>
                <a:srgbClr val="00D4FF"/>
              </a:solidFill>
              <a:effectLst/>
            </c:spPr>
          </c:dPt>
          <c:dPt>
            <c:idx val="13"/>
            <c:invertIfNegative val="0"/>
            <c:bubble3D val="0"/>
            <c:spPr>
              <a:solidFill>
                <a:srgbClr val="00D4FF"/>
              </a:solidFill>
              <a:effectLst/>
            </c:spPr>
          </c:dPt>
          <c:cat>
            <c:multiLvlStrRef>
              <c:f>Sheet1!$A$2:$A$15</c:f>
              <c:multiLvlStrCache>
                <c:ptCount val="14"/>
                <c:lvl>
                  <c:pt idx="0">
                    <c:v>Abuse</c:v>
                  </c:pt>
                  <c:pt idx="1">
                    <c:v>Arrest</c:v>
                  </c:pt>
                  <c:pt idx="2">
                    <c:v>Arson</c:v>
                  </c:pt>
                  <c:pt idx="3">
                    <c:v>Assault</c:v>
                  </c:pt>
                  <c:pt idx="4">
                    <c:v>Burglary</c:v>
                  </c:pt>
                  <c:pt idx="5">
                    <c:v>Explosion</c:v>
                  </c:pt>
                  <c:pt idx="6">
                    <c:v>Fighting</c:v>
                  </c:pt>
                  <c:pt idx="7">
                    <c:v>Normal</c:v>
                  </c:pt>
                  <c:pt idx="8">
                    <c:v>Road
Accidents</c:v>
                  </c:pt>
                  <c:pt idx="9">
                    <c:v>Robbery</c:v>
                  </c:pt>
                  <c:pt idx="10">
                    <c:v>Shooting</c:v>
                  </c:pt>
                  <c:pt idx="11">
                    <c:v>ShopLifting</c:v>
                  </c:pt>
                  <c:pt idx="12">
                    <c:v>Stealing</c:v>
                  </c:pt>
                  <c:pt idx="13">
                    <c:v>Vandalism</c:v>
                  </c:pt>
                </c:lvl>
              </c:multiLvlStrCache>
            </c:multiLvlStrRef>
          </c:cat>
          <c:val>
            <c:numRef>
              <c:f>Sheet1!$B$2:$B$15</c:f>
              <c:numCache>
                <c:formatCode>General</c:formatCode>
                <c:ptCount val="14"/>
                <c:pt idx="0">
                  <c:v>297</c:v>
                </c:pt>
                <c:pt idx="1">
                  <c:v>3365</c:v>
                </c:pt>
                <c:pt idx="2">
                  <c:v>2793</c:v>
                </c:pt>
                <c:pt idx="3">
                  <c:v>2657</c:v>
                </c:pt>
                <c:pt idx="4">
                  <c:v>7657</c:v>
                </c:pt>
                <c:pt idx="5">
                  <c:v>6510</c:v>
                </c:pt>
                <c:pt idx="6">
                  <c:v>1231</c:v>
                </c:pt>
                <c:pt idx="7">
                  <c:v>65000</c:v>
                </c:pt>
                <c:pt idx="8">
                  <c:v>2663</c:v>
                </c:pt>
                <c:pt idx="9">
                  <c:v>835</c:v>
                </c:pt>
                <c:pt idx="10">
                  <c:v>7630</c:v>
                </c:pt>
                <c:pt idx="11">
                  <c:v>7623</c:v>
                </c:pt>
                <c:pt idx="12">
                  <c:v>1984</c:v>
                </c:pt>
                <c:pt idx="13">
                  <c:v>1111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111D2E"/>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Before Merging</c:v>
                </c:pt>
              </c:strCache>
            </c:strRef>
          </c:tx>
          <c:spPr>
            <a:solidFill>
              <a:srgbClr val="EF4444"/>
            </a:solidFill>
            <a:effectLst/>
          </c:spPr>
          <c:invertIfNegative val="0"/>
          <c:dLbls>
            <c:numFmt formatCode="#,##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cat>
            <c:multiLvlStrRef>
              <c:f>Sheet1!$A$2:$A$4</c:f>
              <c:multiLvlStrCache>
                <c:ptCount val="3"/>
                <c:lvl>
                  <c:pt idx="0">
                    <c:v>Accuracy</c:v>
                  </c:pt>
                  <c:pt idx="1">
                    <c:v>F1 Score</c:v>
                  </c:pt>
                  <c:pt idx="2">
                    <c:v>AUC</c:v>
                  </c:pt>
                </c:lvl>
              </c:multiLvlStrCache>
            </c:multiLvlStrRef>
          </c:cat>
          <c:val>
            <c:numRef>
              <c:f>Sheet1!$B$2:$B$4</c:f>
              <c:numCache>
                <c:formatCode>General</c:formatCode>
                <c:ptCount val="3"/>
                <c:pt idx="0">
                  <c:v>0.57</c:v>
                </c:pt>
                <c:pt idx="1">
                  <c:v>0.54</c:v>
                </c:pt>
                <c:pt idx="2">
                  <c:v>0.72</c:v>
                </c:pt>
              </c:numCache>
            </c:numRef>
          </c:val>
        </c:ser>
        <c:ser>
          <c:idx val="1"/>
          <c:order val="1"/>
          <c:tx>
            <c:strRef>
              <c:f>Sheet1!$C$1</c:f>
              <c:strCache>
                <c:ptCount val="1"/>
                <c:pt idx="0">
                  <c:v>After Merging</c:v>
                </c:pt>
              </c:strCache>
            </c:strRef>
          </c:tx>
          <c:spPr>
            <a:solidFill>
              <a:srgbClr val="10B981"/>
            </a:solidFill>
            <a:effectLst/>
          </c:spPr>
          <c:invertIfNegative val="0"/>
          <c:dLbls>
            <c:numFmt formatCode="#,##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cat>
            <c:multiLvlStrRef>
              <c:f>Sheet1!$A$2:$A$4</c:f>
              <c:multiLvlStrCache>
                <c:ptCount val="3"/>
                <c:lvl>
                  <c:pt idx="0">
                    <c:v>Accuracy</c:v>
                  </c:pt>
                  <c:pt idx="1">
                    <c:v>F1 Score</c:v>
                  </c:pt>
                  <c:pt idx="2">
                    <c:v>AUC</c:v>
                  </c:pt>
                </c:lvl>
              </c:multiLvlStrCache>
            </c:multiLvlStrRef>
          </c:cat>
          <c:val>
            <c:numRef>
              <c:f>Sheet1!$C$2:$C$4</c:f>
              <c:numCache>
                <c:formatCode>General</c:formatCode>
                <c:ptCount val="3"/>
                <c:pt idx="0">
                  <c:v>0.916</c:v>
                </c:pt>
                <c:pt idx="1">
                  <c:v>0.915</c:v>
                </c:pt>
                <c:pt idx="2">
                  <c:v>0.948</c:v>
                </c:pt>
              </c:numCache>
            </c:numRef>
          </c:val>
        </c:ser>
        <c:dLbls>
          <c:numFmt formatCode="#,##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2"/>
        <c:crosses val="autoZero"/>
        <c:auto val="1"/>
        <c:lblAlgn val="ctr"/>
        <c:noMultiLvlLbl val="1"/>
      </c:catAx>
      <c:valAx>
        <c:axId val="2094734552"/>
        <c:scaling>
          <c:orientation val="minMax"/>
          <c:max val="1"/>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000">
              <a:solidFill>
                <a:srgbClr val="CBD5E1"/>
              </a:solidFill>
            </a:defRPr>
          </a:pPr>
          <a:endParaRPr lang="en-US"/>
        </a:p>
      </c:txPr>
    </c:legend>
    <c:plotVisOnly val="1"/>
    <c:dispBlanksAs val="span"/>
  </c:chart>
  <c:spPr>
    <a:solidFill>
      <a:srgbClr val="111D2E"/>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Accuracy</c:v>
                </c:pt>
              </c:strCache>
            </c:strRef>
          </c:tx>
          <c:spPr>
            <a:solidFill>
              <a:srgbClr val="00D4FF"/>
            </a:solidFill>
            <a:effectLst/>
          </c:spPr>
          <c:invertIfNegative val="0"/>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cat>
            <c:multiLvlStrRef>
              <c:f>Sheet1!$A$2:$A$6</c:f>
              <c:multiLvlStrCache>
                <c:ptCount val="5"/>
                <c:lvl>
                  <c:pt idx="0">
                    <c:v>ResNet50+R(2+1)D+ViT</c:v>
                  </c:pt>
                  <c:pt idx="1">
                    <c:v>EfficientNet-B0</c:v>
                  </c:pt>
                  <c:pt idx="2">
                    <c:v>I3D (3D CNN)</c:v>
                  </c:pt>
                  <c:pt idx="3">
                    <c:v>CNN+LSTM</c:v>
                  </c:pt>
                  <c:pt idx="4">
                    <c:v>MIL Baseline</c:v>
                  </c:pt>
                </c:lvl>
              </c:multiLvlStrCache>
            </c:multiLvlStrRef>
          </c:cat>
          <c:val>
            <c:numRef>
              <c:f>Sheet1!$B$2:$B$6</c:f>
              <c:numCache>
                <c:formatCode>General</c:formatCode>
                <c:ptCount val="5"/>
                <c:pt idx="0">
                  <c:v>0.916</c:v>
                </c:pt>
                <c:pt idx="1">
                  <c:v>0.832</c:v>
                </c:pt>
                <c:pt idx="2">
                  <c:v>0.873</c:v>
                </c:pt>
                <c:pt idx="3">
                  <c:v>0.812</c:v>
                </c:pt>
                <c:pt idx="4">
                  <c:v>0.58</c:v>
                </c:pt>
              </c:numCache>
            </c:numRef>
          </c:val>
        </c:ser>
        <c:ser>
          <c:idx val="1"/>
          <c:order val="1"/>
          <c:tx>
            <c:strRef>
              <c:f>Sheet1!$C$1</c:f>
              <c:strCache>
                <c:ptCount val="1"/>
                <c:pt idx="0">
                  <c:v>F1 Score</c:v>
                </c:pt>
              </c:strCache>
            </c:strRef>
          </c:tx>
          <c:spPr>
            <a:solidFill>
              <a:srgbClr val="10B981"/>
            </a:solidFill>
            <a:effectLst/>
          </c:spPr>
          <c:invertIfNegative val="0"/>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cat>
            <c:multiLvlStrRef>
              <c:f>Sheet1!$A$2:$A$6</c:f>
              <c:multiLvlStrCache>
                <c:ptCount val="5"/>
                <c:lvl>
                  <c:pt idx="0">
                    <c:v>ResNet50+R(2+1)D+ViT</c:v>
                  </c:pt>
                  <c:pt idx="1">
                    <c:v>EfficientNet-B0</c:v>
                  </c:pt>
                  <c:pt idx="2">
                    <c:v>I3D (3D CNN)</c:v>
                  </c:pt>
                  <c:pt idx="3">
                    <c:v>CNN+LSTM</c:v>
                  </c:pt>
                  <c:pt idx="4">
                    <c:v>MIL Baseline</c:v>
                  </c:pt>
                </c:lvl>
              </c:multiLvlStrCache>
            </c:multiLvlStrRef>
          </c:cat>
          <c:val>
            <c:numRef>
              <c:f>Sheet1!$C$2:$C$6</c:f>
              <c:numCache>
                <c:formatCode>General</c:formatCode>
                <c:ptCount val="5"/>
                <c:pt idx="0">
                  <c:v>0.915</c:v>
                </c:pt>
                <c:pt idx="1">
                  <c:v>0.821</c:v>
                </c:pt>
                <c:pt idx="2">
                  <c:v>0.861</c:v>
                </c:pt>
                <c:pt idx="3">
                  <c:v>0.799</c:v>
                </c:pt>
                <c:pt idx="4">
                  <c:v>0.551</c:v>
                </c:pt>
              </c:numCache>
            </c:numRef>
          </c:val>
        </c:ser>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2"/>
        <c:crosses val="autoZero"/>
        <c:auto val="1"/>
        <c:lblAlgn val="ctr"/>
        <c:noMultiLvlLbl val="1"/>
      </c:catAx>
      <c:valAx>
        <c:axId val="2094734552"/>
        <c:scaling>
          <c:orientation val="minMax"/>
          <c:max val="1"/>
          <c:min val="0.4"/>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CBD5E1"/>
              </a:solidFill>
            </a:defRPr>
          </a:pPr>
          <a:endParaRPr lang="en-US"/>
        </a:p>
      </c:txPr>
    </c:legend>
    <c:plotVisOnly val="1"/>
    <c:dispBlanksAs val="span"/>
  </c:chart>
  <c:spPr>
    <a:solidFill>
      <a:srgbClr val="111D2E"/>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EfficientNet Per-Class AUC</c:v>
                </c:pt>
              </c:strCache>
            </c:strRef>
          </c:tx>
          <c:spPr>
            <a:solidFill>
              <a:srgbClr val="F59E0B"/>
            </a:solidFill>
            <a:effectLst/>
          </c:spPr>
          <c:invertIfNegative val="0"/>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cat>
            <c:multiLvlStrRef>
              <c:f>Sheet1!$A$2:$A$10</c:f>
              <c:multiLvlStrCache>
                <c:ptCount val="9"/>
                <c:lvl>
                  <c:pt idx="0">
                    <c:v>Violence</c:v>
                  </c:pt>
                  <c:pt idx="1">
                    <c:v>Theft</c:v>
                  </c:pt>
                  <c:pt idx="2">
                    <c:v>Arson</c:v>
                  </c:pt>
                  <c:pt idx="3">
                    <c:v>Explosion</c:v>
                  </c:pt>
                  <c:pt idx="4">
                    <c:v>Arrest</c:v>
                  </c:pt>
                  <c:pt idx="5">
                    <c:v>Road Acc.</c:v>
                  </c:pt>
                  <c:pt idx="6">
                    <c:v>Shooting</c:v>
                  </c:pt>
                  <c:pt idx="7">
                    <c:v>Vandalism</c:v>
                  </c:pt>
                  <c:pt idx="8">
                    <c:v>Normal</c:v>
                  </c:pt>
                </c:lvl>
              </c:multiLvlStrCache>
            </c:multiLvlStrRef>
          </c:cat>
          <c:val>
            <c:numRef>
              <c:f>Sheet1!$B$2:$B$10</c:f>
              <c:numCache>
                <c:formatCode>General</c:formatCode>
                <c:ptCount val="9"/>
                <c:pt idx="0">
                  <c:v>0.79</c:v>
                </c:pt>
                <c:pt idx="1">
                  <c:v>0.76</c:v>
                </c:pt>
                <c:pt idx="2">
                  <c:v>0.87</c:v>
                </c:pt>
                <c:pt idx="3">
                  <c:v>0.91</c:v>
                </c:pt>
                <c:pt idx="4">
                  <c:v>0.72</c:v>
                </c:pt>
                <c:pt idx="5">
                  <c:v>0.84</c:v>
                </c:pt>
                <c:pt idx="6">
                  <c:v>0.78</c:v>
                </c:pt>
                <c:pt idx="7">
                  <c:v>0.8</c:v>
                </c:pt>
                <c:pt idx="8">
                  <c:v>0.91</c:v>
                </c:pt>
              </c:numCache>
            </c:numRef>
          </c:val>
        </c:ser>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2"/>
        <c:crosses val="autoZero"/>
        <c:auto val="1"/>
        <c:lblAlgn val="ctr"/>
        <c:noMultiLvlLbl val="1"/>
      </c:catAx>
      <c:valAx>
        <c:axId val="2094734552"/>
        <c:scaling>
          <c:orientation val="minMax"/>
          <c:max val="1"/>
          <c:min val="0.6"/>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111D2E"/>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Hybrid (Training Acc)</c:v>
                </c:pt>
              </c:strCache>
            </c:strRef>
          </c:tx>
          <c:spPr>
            <a:solidFill>
              <a:srgbClr val="00D4FF"/>
            </a:solidFill>
            <a:ln w="31750" cap="flat">
              <a:solidFill>
                <a:srgbClr val="00D4F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0D4FF"/>
              </a:solidFill>
              <a:ln w="9525" cap="flat">
                <a:solidFill>
                  <a:srgbClr val="00D4FF"/>
                </a:solidFill>
                <a:prstDash val="solid"/>
                <a:round/>
              </a:ln>
              <a:effectLst/>
            </c:spPr>
          </c:marker>
          <c:cat>
            <c:multiLvlStrRef>
              <c:f>Sheet1!$A$2:$A$11</c:f>
              <c:multiLvlStrCache>
                <c:ptCount val="10"/>
                <c:lvl>
                  <c:pt idx="0">
                    <c:v>E4</c:v>
                  </c:pt>
                  <c:pt idx="1">
                    <c:v>E8</c:v>
                  </c:pt>
                  <c:pt idx="2">
                    <c:v>E12</c:v>
                  </c:pt>
                  <c:pt idx="3">
                    <c:v>E16</c:v>
                  </c:pt>
                  <c:pt idx="4">
                    <c:v>E20</c:v>
                  </c:pt>
                  <c:pt idx="5">
                    <c:v>E24</c:v>
                  </c:pt>
                  <c:pt idx="6">
                    <c:v>E28</c:v>
                  </c:pt>
                  <c:pt idx="7">
                    <c:v>E32</c:v>
                  </c:pt>
                  <c:pt idx="8">
                    <c:v>E36</c:v>
                  </c:pt>
                  <c:pt idx="9">
                    <c:v>E40</c:v>
                  </c:pt>
                </c:lvl>
              </c:multiLvlStrCache>
            </c:multiLvlStrRef>
          </c:cat>
          <c:val>
            <c:numRef>
              <c:f>Sheet1!$B$2:$B$11</c:f>
              <c:numCache>
                <c:formatCode>General</c:formatCode>
                <c:ptCount val="10"/>
                <c:pt idx="0">
                  <c:v>0.53</c:v>
                </c:pt>
                <c:pt idx="1">
                  <c:v>0.62</c:v>
                </c:pt>
                <c:pt idx="2">
                  <c:v>0.69</c:v>
                </c:pt>
                <c:pt idx="3">
                  <c:v>0.73</c:v>
                </c:pt>
                <c:pt idx="4">
                  <c:v>0.77</c:v>
                </c:pt>
                <c:pt idx="5">
                  <c:v>0.8</c:v>
                </c:pt>
                <c:pt idx="6">
                  <c:v>0.83</c:v>
                </c:pt>
                <c:pt idx="7">
                  <c:v>0.86</c:v>
                </c:pt>
                <c:pt idx="8">
                  <c:v>0.89</c:v>
                </c:pt>
                <c:pt idx="9">
                  <c:v>0.92</c:v>
                </c:pt>
              </c:numCache>
            </c:numRef>
          </c:val>
          <c:smooth val="0"/>
        </c:ser>
        <c:ser>
          <c:idx val="1"/>
          <c:order val="1"/>
          <c:tx>
            <c:strRef>
              <c:f>Sheet1!$C$1</c:f>
              <c:strCache>
                <c:ptCount val="1"/>
                <c:pt idx="0">
                  <c:v>Hybrid (Val Acc)</c:v>
                </c:pt>
              </c:strCache>
            </c:strRef>
          </c:tx>
          <c:spPr>
            <a:solidFill>
              <a:srgbClr val="0EA5E9"/>
            </a:solidFill>
            <a:ln w="31750" cap="flat">
              <a:solidFill>
                <a:srgbClr val="0EA5E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EA5E9"/>
              </a:solidFill>
              <a:ln w="9525" cap="flat">
                <a:solidFill>
                  <a:srgbClr val="0EA5E9"/>
                </a:solidFill>
                <a:prstDash val="solid"/>
                <a:round/>
              </a:ln>
              <a:effectLst/>
            </c:spPr>
          </c:marker>
          <c:cat>
            <c:multiLvlStrRef>
              <c:f>Sheet1!$A$2:$A$11</c:f>
              <c:multiLvlStrCache>
                <c:ptCount val="10"/>
                <c:lvl>
                  <c:pt idx="0">
                    <c:v>E4</c:v>
                  </c:pt>
                  <c:pt idx="1">
                    <c:v>E8</c:v>
                  </c:pt>
                  <c:pt idx="2">
                    <c:v>E12</c:v>
                  </c:pt>
                  <c:pt idx="3">
                    <c:v>E16</c:v>
                  </c:pt>
                  <c:pt idx="4">
                    <c:v>E20</c:v>
                  </c:pt>
                  <c:pt idx="5">
                    <c:v>E24</c:v>
                  </c:pt>
                  <c:pt idx="6">
                    <c:v>E28</c:v>
                  </c:pt>
                  <c:pt idx="7">
                    <c:v>E32</c:v>
                  </c:pt>
                  <c:pt idx="8">
                    <c:v>E36</c:v>
                  </c:pt>
                  <c:pt idx="9">
                    <c:v>E40</c:v>
                  </c:pt>
                </c:lvl>
              </c:multiLvlStrCache>
            </c:multiLvlStrRef>
          </c:cat>
          <c:val>
            <c:numRef>
              <c:f>Sheet1!$C$2:$C$11</c:f>
              <c:numCache>
                <c:formatCode>General</c:formatCode>
                <c:ptCount val="10"/>
                <c:pt idx="0">
                  <c:v>0.5</c:v>
                </c:pt>
                <c:pt idx="1">
                  <c:v>0.59</c:v>
                </c:pt>
                <c:pt idx="2">
                  <c:v>0.66</c:v>
                </c:pt>
                <c:pt idx="3">
                  <c:v>0.71</c:v>
                </c:pt>
                <c:pt idx="4">
                  <c:v>0.74</c:v>
                </c:pt>
                <c:pt idx="5">
                  <c:v>0.78</c:v>
                </c:pt>
                <c:pt idx="6">
                  <c:v>0.81</c:v>
                </c:pt>
                <c:pt idx="7">
                  <c:v>0.84</c:v>
                </c:pt>
                <c:pt idx="8">
                  <c:v>0.88</c:v>
                </c:pt>
                <c:pt idx="9">
                  <c:v>0.91</c:v>
                </c:pt>
              </c:numCache>
            </c:numRef>
          </c:val>
          <c:smooth val="0"/>
        </c:ser>
        <c:ser>
          <c:idx val="2"/>
          <c:order val="2"/>
          <c:tx>
            <c:strRef>
              <c:f>Sheet1!$D$1</c:f>
              <c:strCache>
                <c:ptCount val="1"/>
                <c:pt idx="0">
                  <c:v>EfficientNet (Training Acc)</c:v>
                </c:pt>
              </c:strCache>
            </c:strRef>
          </c:tx>
          <c:spPr>
            <a:solidFill>
              <a:srgbClr val="F59E0B"/>
            </a:solidFill>
            <a:ln w="31750" cap="flat">
              <a:solidFill>
                <a:srgbClr val="F59E0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59E0B"/>
              </a:solidFill>
              <a:ln w="9525" cap="flat">
                <a:solidFill>
                  <a:srgbClr val="F59E0B"/>
                </a:solidFill>
                <a:prstDash val="solid"/>
                <a:round/>
              </a:ln>
              <a:effectLst/>
            </c:spPr>
          </c:marker>
          <c:cat>
            <c:multiLvlStrRef>
              <c:f>Sheet1!$A$2:$A$11</c:f>
              <c:multiLvlStrCache>
                <c:ptCount val="10"/>
                <c:lvl>
                  <c:pt idx="0">
                    <c:v>E4</c:v>
                  </c:pt>
                  <c:pt idx="1">
                    <c:v>E8</c:v>
                  </c:pt>
                  <c:pt idx="2">
                    <c:v>E12</c:v>
                  </c:pt>
                  <c:pt idx="3">
                    <c:v>E16</c:v>
                  </c:pt>
                  <c:pt idx="4">
                    <c:v>E20</c:v>
                  </c:pt>
                  <c:pt idx="5">
                    <c:v>E24</c:v>
                  </c:pt>
                  <c:pt idx="6">
                    <c:v>E28</c:v>
                  </c:pt>
                  <c:pt idx="7">
                    <c:v>E32</c:v>
                  </c:pt>
                  <c:pt idx="8">
                    <c:v>E36</c:v>
                  </c:pt>
                  <c:pt idx="9">
                    <c:v>E40</c:v>
                  </c:pt>
                </c:lvl>
              </c:multiLvlStrCache>
            </c:multiLvlStrRef>
          </c:cat>
          <c:val>
            <c:numRef>
              <c:f>Sheet1!$D$2:$D$11</c:f>
              <c:numCache>
                <c:formatCode>General</c:formatCode>
                <c:ptCount val="10"/>
                <c:pt idx="0">
                  <c:v>0.61</c:v>
                </c:pt>
                <c:pt idx="1">
                  <c:v>0.68</c:v>
                </c:pt>
                <c:pt idx="2">
                  <c:v>0.72</c:v>
                </c:pt>
                <c:pt idx="3">
                  <c:v>0.75</c:v>
                </c:pt>
                <c:pt idx="4">
                  <c:v>0.77</c:v>
                </c:pt>
                <c:pt idx="5">
                  <c:v>0.79</c:v>
                </c:pt>
                <c:pt idx="6">
                  <c:v>0.8</c:v>
                </c:pt>
                <c:pt idx="7">
                  <c:v>0.82</c:v>
                </c:pt>
                <c:pt idx="8">
                  <c:v>0.83</c:v>
                </c:pt>
                <c:pt idx="9">
                  <c:v>0.84</c:v>
                </c:pt>
              </c:numCache>
            </c:numRef>
          </c:val>
          <c:smooth val="0"/>
        </c:ser>
        <c:ser>
          <c:idx val="3"/>
          <c:order val="3"/>
          <c:tx>
            <c:strRef>
              <c:f>Sheet1!$E$1</c:f>
              <c:strCache>
                <c:ptCount val="1"/>
                <c:pt idx="0">
                  <c:v>EfficientNet (Val Acc)</c:v>
                </c:pt>
              </c:strCache>
            </c:strRef>
          </c:tx>
          <c:spPr>
            <a:solidFill>
              <a:srgbClr val="D97706"/>
            </a:solidFill>
            <a:ln w="31750" cap="flat">
              <a:solidFill>
                <a:srgbClr val="D9770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D97706"/>
              </a:solidFill>
              <a:ln w="9525" cap="flat">
                <a:solidFill>
                  <a:srgbClr val="D97706"/>
                </a:solidFill>
                <a:prstDash val="solid"/>
                <a:round/>
              </a:ln>
              <a:effectLst/>
            </c:spPr>
          </c:marker>
          <c:cat>
            <c:multiLvlStrRef>
              <c:f>Sheet1!$A$2:$A$11</c:f>
              <c:multiLvlStrCache>
                <c:ptCount val="10"/>
                <c:lvl>
                  <c:pt idx="0">
                    <c:v>E4</c:v>
                  </c:pt>
                  <c:pt idx="1">
                    <c:v>E8</c:v>
                  </c:pt>
                  <c:pt idx="2">
                    <c:v>E12</c:v>
                  </c:pt>
                  <c:pt idx="3">
                    <c:v>E16</c:v>
                  </c:pt>
                  <c:pt idx="4">
                    <c:v>E20</c:v>
                  </c:pt>
                  <c:pt idx="5">
                    <c:v>E24</c:v>
                  </c:pt>
                  <c:pt idx="6">
                    <c:v>E28</c:v>
                  </c:pt>
                  <c:pt idx="7">
                    <c:v>E32</c:v>
                  </c:pt>
                  <c:pt idx="8">
                    <c:v>E36</c:v>
                  </c:pt>
                  <c:pt idx="9">
                    <c:v>E40</c:v>
                  </c:pt>
                </c:lvl>
              </c:multiLvlStrCache>
            </c:multiLvlStrRef>
          </c:cat>
          <c:val>
            <c:numRef>
              <c:f>Sheet1!$E$2:$E$11</c:f>
              <c:numCache>
                <c:formatCode>General</c:formatCode>
                <c:ptCount val="10"/>
                <c:pt idx="0">
                  <c:v>0.59</c:v>
                </c:pt>
                <c:pt idx="1">
                  <c:v>0.66</c:v>
                </c:pt>
                <c:pt idx="2">
                  <c:v>0.7</c:v>
                </c:pt>
                <c:pt idx="3">
                  <c:v>0.73</c:v>
                </c:pt>
                <c:pt idx="4">
                  <c:v>0.75</c:v>
                </c:pt>
                <c:pt idx="5">
                  <c:v>0.77</c:v>
                </c:pt>
                <c:pt idx="6">
                  <c:v>0.79</c:v>
                </c:pt>
                <c:pt idx="7">
                  <c:v>0.81</c:v>
                </c:pt>
                <c:pt idx="8">
                  <c:v>0.82</c:v>
                </c:pt>
                <c:pt idx="9">
                  <c:v>0.83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2"/>
        <c:crosses val="autoZero"/>
        <c:auto val="1"/>
        <c:lblAlgn val="ctr"/>
        <c:noMultiLvlLbl val="1"/>
      </c:catAx>
      <c:valAx>
        <c:axId val="2094734552"/>
        <c:scaling>
          <c:orientation val="minMax"/>
          <c:max val="0.95"/>
          <c:min val="0.45"/>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900">
              <a:solidFill>
                <a:srgbClr val="CBD5E1"/>
              </a:solidFill>
            </a:defRPr>
          </a:pPr>
          <a:endParaRPr lang="en-US"/>
        </a:p>
      </c:txPr>
    </c:legend>
    <c:plotVisOnly val="1"/>
    <c:dispBlanksAs val="span"/>
  </c:chart>
  <c:spPr>
    <a:solidFill>
      <a:srgbClr val="111D2E"/>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Hybrid Model</c:v>
                </c:pt>
              </c:strCache>
            </c:strRef>
          </c:tx>
          <c:spPr>
            <a:solidFill>
              <a:srgbClr val="00D4FF"/>
            </a:solidFill>
            <a:effectLst/>
          </c:spPr>
          <c:invertIfNegative val="0"/>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cat>
            <c:multiLvlStrRef>
              <c:f>Sheet1!$A$2:$A$6</c:f>
              <c:multiLvlStrCache>
                <c:ptCount val="5"/>
                <c:lvl>
                  <c:pt idx="0">
                    <c:v>Accuracy</c:v>
                  </c:pt>
                  <c:pt idx="1">
                    <c:v>Precision</c:v>
                  </c:pt>
                  <c:pt idx="2">
                    <c:v>Recall</c:v>
                  </c:pt>
                  <c:pt idx="3">
                    <c:v>F1 Score</c:v>
                  </c:pt>
                  <c:pt idx="4">
                    <c:v>AUC</c:v>
                  </c:pt>
                </c:lvl>
              </c:multiLvlStrCache>
            </c:multiLvlStrRef>
          </c:cat>
          <c:val>
            <c:numRef>
              <c:f>Sheet1!$B$2:$B$6</c:f>
              <c:numCache>
                <c:formatCode>General</c:formatCode>
                <c:ptCount val="5"/>
                <c:pt idx="0">
                  <c:v>0.916</c:v>
                </c:pt>
                <c:pt idx="1">
                  <c:v>0.897</c:v>
                </c:pt>
                <c:pt idx="2">
                  <c:v>0.909</c:v>
                </c:pt>
                <c:pt idx="3">
                  <c:v>0.915</c:v>
                </c:pt>
                <c:pt idx="4">
                  <c:v>0.948</c:v>
                </c:pt>
              </c:numCache>
            </c:numRef>
          </c:val>
        </c:ser>
        <c:ser>
          <c:idx val="1"/>
          <c:order val="1"/>
          <c:tx>
            <c:strRef>
              <c:f>Sheet1!$C$1</c:f>
              <c:strCache>
                <c:ptCount val="1"/>
                <c:pt idx="0">
                  <c:v>EfficientNet</c:v>
                </c:pt>
              </c:strCache>
            </c:strRef>
          </c:tx>
          <c:spPr>
            <a:solidFill>
              <a:srgbClr val="F59E0B"/>
            </a:solidFill>
            <a:effectLst/>
          </c:spPr>
          <c:invertIfNegative val="0"/>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cat>
            <c:multiLvlStrRef>
              <c:f>Sheet1!$A$2:$A$6</c:f>
              <c:multiLvlStrCache>
                <c:ptCount val="5"/>
                <c:lvl>
                  <c:pt idx="0">
                    <c:v>Accuracy</c:v>
                  </c:pt>
                  <c:pt idx="1">
                    <c:v>Precision</c:v>
                  </c:pt>
                  <c:pt idx="2">
                    <c:v>Recall</c:v>
                  </c:pt>
                  <c:pt idx="3">
                    <c:v>F1 Score</c:v>
                  </c:pt>
                  <c:pt idx="4">
                    <c:v>AUC</c:v>
                  </c:pt>
                </c:lvl>
              </c:multiLvlStrCache>
            </c:multiLvlStrRef>
          </c:cat>
          <c:val>
            <c:numRef>
              <c:f>Sheet1!$C$2:$C$6</c:f>
              <c:numCache>
                <c:formatCode>General</c:formatCode>
                <c:ptCount val="5"/>
                <c:pt idx="0">
                  <c:v>0.832</c:v>
                </c:pt>
                <c:pt idx="1">
                  <c:v>0.851</c:v>
                </c:pt>
                <c:pt idx="2">
                  <c:v>0.819</c:v>
                </c:pt>
                <c:pt idx="3">
                  <c:v>0.821</c:v>
                </c:pt>
                <c:pt idx="4">
                  <c:v>0.871</c:v>
                </c:pt>
              </c:numCache>
            </c:numRef>
          </c:val>
        </c:ser>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2"/>
        <c:crosses val="autoZero"/>
        <c:auto val="1"/>
        <c:lblAlgn val="ctr"/>
        <c:noMultiLvlLbl val="1"/>
      </c:catAx>
      <c:valAx>
        <c:axId val="2094734552"/>
        <c:scaling>
          <c:orientation val="minMax"/>
          <c:max val="1"/>
          <c:min val="0.7"/>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CBD5E1"/>
              </a:solidFill>
            </a:defRPr>
          </a:pPr>
          <a:endParaRPr lang="en-US"/>
        </a:p>
      </c:txPr>
    </c:legend>
    <c:plotVisOnly val="1"/>
    <c:dispBlanksAs val="span"/>
  </c:chart>
  <c:spPr>
    <a:solidFill>
      <a:srgbClr val="111D2E"/>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Training Loss</c:v>
                </c:pt>
              </c:strCache>
            </c:strRef>
          </c:tx>
          <c:spPr>
            <a:solidFill>
              <a:srgbClr val="00D4FF"/>
            </a:solidFill>
            <a:ln w="31750" cap="flat">
              <a:solidFill>
                <a:srgbClr val="00D4F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0D4FF"/>
              </a:solidFill>
              <a:ln w="9525" cap="flat">
                <a:solidFill>
                  <a:srgbClr val="00D4FF"/>
                </a:solidFill>
                <a:prstDash val="solid"/>
                <a:round/>
              </a:ln>
              <a:effectLst/>
            </c:spPr>
          </c:marker>
          <c:cat>
            <c:multiLvlStrRef>
              <c:f>Sheet1!$A$2:$A$12</c:f>
              <c:multiLvlStrCache>
                <c:ptCount val="11"/>
                <c:lvl>
                  <c:pt idx="0">
                    <c:v>E0</c:v>
                  </c:pt>
                  <c:pt idx="1">
                    <c:v>E4</c:v>
                  </c:pt>
                  <c:pt idx="2">
                    <c:v>E8</c:v>
                  </c:pt>
                  <c:pt idx="3">
                    <c:v>E12</c:v>
                  </c:pt>
                  <c:pt idx="4">
                    <c:v>E16</c:v>
                  </c:pt>
                  <c:pt idx="5">
                    <c:v>E20</c:v>
                  </c:pt>
                  <c:pt idx="6">
                    <c:v>E24</c:v>
                  </c:pt>
                  <c:pt idx="7">
                    <c:v>E28</c:v>
                  </c:pt>
                  <c:pt idx="8">
                    <c:v>E32</c:v>
                  </c:pt>
                  <c:pt idx="9">
                    <c:v>E36</c:v>
                  </c:pt>
                  <c:pt idx="10">
                    <c:v>E40</c:v>
                  </c:pt>
                </c:lvl>
              </c:multiLvlStrCache>
            </c:multiLvlStrRef>
          </c:cat>
          <c:val>
            <c:numRef>
              <c:f>Sheet1!$B$2:$B$12</c:f>
              <c:numCache>
                <c:formatCode>General</c:formatCode>
                <c:ptCount val="11"/>
                <c:pt idx="0">
                  <c:v>2.9</c:v>
                </c:pt>
                <c:pt idx="1">
                  <c:v>2.45</c:v>
                </c:pt>
                <c:pt idx="2">
                  <c:v>2.1</c:v>
                </c:pt>
                <c:pt idx="3">
                  <c:v>1.82</c:v>
                </c:pt>
                <c:pt idx="4">
                  <c:v>1.62</c:v>
                </c:pt>
                <c:pt idx="5">
                  <c:v>1.48</c:v>
                </c:pt>
                <c:pt idx="6">
                  <c:v>1.38</c:v>
                </c:pt>
                <c:pt idx="7">
                  <c:v>1.31</c:v>
                </c:pt>
                <c:pt idx="8">
                  <c:v>1.27</c:v>
                </c:pt>
                <c:pt idx="9">
                  <c:v>1.24</c:v>
                </c:pt>
                <c:pt idx="10">
                  <c:v>1.22</c:v>
                </c:pt>
              </c:numCache>
            </c:numRef>
          </c:val>
          <c:smooth val="1"/>
        </c:ser>
        <c:ser>
          <c:idx val="1"/>
          <c:order val="1"/>
          <c:tx>
            <c:strRef>
              <c:f>Sheet1!$C$1</c:f>
              <c:strCache>
                <c:ptCount val="1"/>
                <c:pt idx="0">
                  <c:v>Validation Loss</c:v>
                </c:pt>
              </c:strCache>
            </c:strRef>
          </c:tx>
          <c:spPr>
            <a:solidFill>
              <a:srgbClr val="EF4444"/>
            </a:solidFill>
            <a:ln w="31750" cap="flat">
              <a:solidFill>
                <a:srgbClr val="EF444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F4444"/>
              </a:solidFill>
              <a:ln w="9525" cap="flat">
                <a:solidFill>
                  <a:srgbClr val="EF4444"/>
                </a:solidFill>
                <a:prstDash val="solid"/>
                <a:round/>
              </a:ln>
              <a:effectLst/>
            </c:spPr>
          </c:marker>
          <c:cat>
            <c:multiLvlStrRef>
              <c:f>Sheet1!$A$2:$A$12</c:f>
              <c:multiLvlStrCache>
                <c:ptCount val="11"/>
                <c:lvl>
                  <c:pt idx="0">
                    <c:v>E0</c:v>
                  </c:pt>
                  <c:pt idx="1">
                    <c:v>E4</c:v>
                  </c:pt>
                  <c:pt idx="2">
                    <c:v>E8</c:v>
                  </c:pt>
                  <c:pt idx="3">
                    <c:v>E12</c:v>
                  </c:pt>
                  <c:pt idx="4">
                    <c:v>E16</c:v>
                  </c:pt>
                  <c:pt idx="5">
                    <c:v>E20</c:v>
                  </c:pt>
                  <c:pt idx="6">
                    <c:v>E24</c:v>
                  </c:pt>
                  <c:pt idx="7">
                    <c:v>E28</c:v>
                  </c:pt>
                  <c:pt idx="8">
                    <c:v>E32</c:v>
                  </c:pt>
                  <c:pt idx="9">
                    <c:v>E36</c:v>
                  </c:pt>
                  <c:pt idx="10">
                    <c:v>E40</c:v>
                  </c:pt>
                </c:lvl>
              </c:multiLvlStrCache>
            </c:multiLvlStrRef>
          </c:cat>
          <c:val>
            <c:numRef>
              <c:f>Sheet1!$C$2:$C$12</c:f>
              <c:numCache>
                <c:formatCode>General</c:formatCode>
                <c:ptCount val="11"/>
                <c:pt idx="0">
                  <c:v>2.85</c:v>
                </c:pt>
                <c:pt idx="1">
                  <c:v>2.48</c:v>
                </c:pt>
                <c:pt idx="2">
                  <c:v>2.18</c:v>
                </c:pt>
                <c:pt idx="3">
                  <c:v>1.9</c:v>
                </c:pt>
                <c:pt idx="4">
                  <c:v>1.72</c:v>
                </c:pt>
                <c:pt idx="5">
                  <c:v>1.58</c:v>
                </c:pt>
                <c:pt idx="6">
                  <c:v>1.45</c:v>
                </c:pt>
                <c:pt idx="7">
                  <c:v>1.35</c:v>
                </c:pt>
                <c:pt idx="8">
                  <c:v>1.28</c:v>
                </c:pt>
                <c:pt idx="9">
                  <c:v>1.25</c:v>
                </c:pt>
                <c:pt idx="10">
                  <c:v>1.24</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CBD5E1"/>
              </a:solidFill>
            </a:defRPr>
          </a:pPr>
          <a:endParaRPr lang="en-US"/>
        </a:p>
      </c:txPr>
    </c:legend>
    <c:plotVisOnly val="1"/>
    <c:dispBlanksAs val="span"/>
  </c:chart>
  <c:spPr>
    <a:solidFill>
      <a:srgbClr val="111D2E"/>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Training Accuracy</c:v>
                </c:pt>
              </c:strCache>
            </c:strRef>
          </c:tx>
          <c:spPr>
            <a:solidFill>
              <a:srgbClr val="0EA5E9"/>
            </a:solidFill>
            <a:ln w="31750" cap="flat">
              <a:solidFill>
                <a:srgbClr val="0EA5E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EA5E9"/>
              </a:solidFill>
              <a:ln w="9525" cap="flat">
                <a:solidFill>
                  <a:srgbClr val="0EA5E9"/>
                </a:solidFill>
                <a:prstDash val="solid"/>
                <a:round/>
              </a:ln>
              <a:effectLst/>
            </c:spPr>
          </c:marker>
          <c:cat>
            <c:multiLvlStrRef>
              <c:f>Sheet1!$A$2:$A$12</c:f>
              <c:multiLvlStrCache>
                <c:ptCount val="11"/>
                <c:lvl>
                  <c:pt idx="0">
                    <c:v>E0</c:v>
                  </c:pt>
                  <c:pt idx="1">
                    <c:v>E4</c:v>
                  </c:pt>
                  <c:pt idx="2">
                    <c:v>E8</c:v>
                  </c:pt>
                  <c:pt idx="3">
                    <c:v>E12</c:v>
                  </c:pt>
                  <c:pt idx="4">
                    <c:v>E16</c:v>
                  </c:pt>
                  <c:pt idx="5">
                    <c:v>E20</c:v>
                  </c:pt>
                  <c:pt idx="6">
                    <c:v>E24</c:v>
                  </c:pt>
                  <c:pt idx="7">
                    <c:v>E28</c:v>
                  </c:pt>
                  <c:pt idx="8">
                    <c:v>E32</c:v>
                  </c:pt>
                  <c:pt idx="9">
                    <c:v>E36</c:v>
                  </c:pt>
                  <c:pt idx="10">
                    <c:v>E40</c:v>
                  </c:pt>
                </c:lvl>
              </c:multiLvlStrCache>
            </c:multiLvlStrRef>
          </c:cat>
          <c:val>
            <c:numRef>
              <c:f>Sheet1!$B$2:$B$12</c:f>
              <c:numCache>
                <c:formatCode>General</c:formatCode>
                <c:ptCount val="11"/>
                <c:pt idx="0">
                  <c:v>0.31</c:v>
                </c:pt>
                <c:pt idx="1">
                  <c:v>0.42</c:v>
                </c:pt>
                <c:pt idx="2">
                  <c:v>0.53</c:v>
                </c:pt>
                <c:pt idx="3">
                  <c:v>0.63</c:v>
                </c:pt>
                <c:pt idx="4">
                  <c:v>0.7</c:v>
                </c:pt>
                <c:pt idx="5">
                  <c:v>0.76</c:v>
                </c:pt>
                <c:pt idx="6">
                  <c:v>0.8</c:v>
                </c:pt>
                <c:pt idx="7">
                  <c:v>0.84</c:v>
                </c:pt>
                <c:pt idx="8">
                  <c:v>0.87</c:v>
                </c:pt>
                <c:pt idx="9">
                  <c:v>0.89</c:v>
                </c:pt>
                <c:pt idx="10">
                  <c:v>0.92</c:v>
                </c:pt>
              </c:numCache>
            </c:numRef>
          </c:val>
          <c:smooth val="1"/>
        </c:ser>
        <c:ser>
          <c:idx val="1"/>
          <c:order val="1"/>
          <c:tx>
            <c:strRef>
              <c:f>Sheet1!$C$1</c:f>
              <c:strCache>
                <c:ptCount val="1"/>
                <c:pt idx="0">
                  <c:v>Validation Accuracy</c:v>
                </c:pt>
              </c:strCache>
            </c:strRef>
          </c:tx>
          <c:spPr>
            <a:solidFill>
              <a:srgbClr val="10B981"/>
            </a:solidFill>
            <a:ln w="31750" cap="flat">
              <a:solidFill>
                <a:srgbClr val="10B98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0B981"/>
              </a:solidFill>
              <a:ln w="9525" cap="flat">
                <a:solidFill>
                  <a:srgbClr val="10B981"/>
                </a:solidFill>
                <a:prstDash val="solid"/>
                <a:round/>
              </a:ln>
              <a:effectLst/>
            </c:spPr>
          </c:marker>
          <c:cat>
            <c:multiLvlStrRef>
              <c:f>Sheet1!$A$2:$A$12</c:f>
              <c:multiLvlStrCache>
                <c:ptCount val="11"/>
                <c:lvl>
                  <c:pt idx="0">
                    <c:v>E0</c:v>
                  </c:pt>
                  <c:pt idx="1">
                    <c:v>E4</c:v>
                  </c:pt>
                  <c:pt idx="2">
                    <c:v>E8</c:v>
                  </c:pt>
                  <c:pt idx="3">
                    <c:v>E12</c:v>
                  </c:pt>
                  <c:pt idx="4">
                    <c:v>E16</c:v>
                  </c:pt>
                  <c:pt idx="5">
                    <c:v>E20</c:v>
                  </c:pt>
                  <c:pt idx="6">
                    <c:v>E24</c:v>
                  </c:pt>
                  <c:pt idx="7">
                    <c:v>E28</c:v>
                  </c:pt>
                  <c:pt idx="8">
                    <c:v>E32</c:v>
                  </c:pt>
                  <c:pt idx="9">
                    <c:v>E36</c:v>
                  </c:pt>
                  <c:pt idx="10">
                    <c:v>E40</c:v>
                  </c:pt>
                </c:lvl>
              </c:multiLvlStrCache>
            </c:multiLvlStrRef>
          </c:cat>
          <c:val>
            <c:numRef>
              <c:f>Sheet1!$C$2:$C$12</c:f>
              <c:numCache>
                <c:formatCode>General</c:formatCode>
                <c:ptCount val="11"/>
                <c:pt idx="0">
                  <c:v>0.3</c:v>
                </c:pt>
                <c:pt idx="1">
                  <c:v>0.4</c:v>
                </c:pt>
                <c:pt idx="2">
                  <c:v>0.52</c:v>
                </c:pt>
                <c:pt idx="3">
                  <c:v>0.61</c:v>
                </c:pt>
                <c:pt idx="4">
                  <c:v>0.68</c:v>
                </c:pt>
                <c:pt idx="5">
                  <c:v>0.74</c:v>
                </c:pt>
                <c:pt idx="6">
                  <c:v>0.78</c:v>
                </c:pt>
                <c:pt idx="7">
                  <c:v>0.82</c:v>
                </c:pt>
                <c:pt idx="8">
                  <c:v>0.86</c:v>
                </c:pt>
                <c:pt idx="9">
                  <c:v>0.88</c:v>
                </c:pt>
                <c:pt idx="10">
                  <c:v>0.91</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2"/>
        <c:crosses val="autoZero"/>
        <c:auto val="1"/>
        <c:lblAlgn val="ctr"/>
        <c:noMultiLvlLbl val="1"/>
      </c:catAx>
      <c:valAx>
        <c:axId val="2094734552"/>
        <c:scaling>
          <c:orientation val="minMax"/>
          <c:max val="1"/>
          <c:min val="0.25"/>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CBD5E1"/>
              </a:solidFill>
            </a:defRPr>
          </a:pPr>
          <a:endParaRPr lang="en-US"/>
        </a:p>
      </c:txPr>
    </c:legend>
    <c:plotVisOnly val="1"/>
    <c:dispBlanksAs val="span"/>
  </c:chart>
  <c:spPr>
    <a:solidFill>
      <a:srgbClr val="111D2E"/>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Mean</c:v>
                </c:pt>
              </c:strCache>
            </c:strRef>
          </c:tx>
          <c:spPr>
            <a:solidFill>
              <a:srgbClr val="00D4FF"/>
            </a:solidFill>
            <a:effectLst/>
          </c:spPr>
          <c:invertIfNegative val="0"/>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cat>
            <c:multiLvlStrRef>
              <c:f>Sheet1!$A$2:$A$7</c:f>
              <c:multiLvlStrCache>
                <c:ptCount val="6"/>
                <c:lvl>
                  <c:pt idx="0">
                    <c:v>Accuracy</c:v>
                  </c:pt>
                  <c:pt idx="1">
                    <c:v>Precision</c:v>
                  </c:pt>
                  <c:pt idx="2">
                    <c:v>Recall</c:v>
                  </c:pt>
                  <c:pt idx="3">
                    <c:v>F1</c:v>
                  </c:pt>
                  <c:pt idx="4">
                    <c:v>AUC</c:v>
                  </c:pt>
                  <c:pt idx="5">
                    <c:v>Latency(ms)</c:v>
                  </c:pt>
                </c:lvl>
              </c:multiLvlStrCache>
            </c:multiLvlStrRef>
          </c:cat>
          <c:val>
            <c:numRef>
              <c:f>Sheet1!$B$2:$B$7</c:f>
              <c:numCache>
                <c:formatCode>General</c:formatCode>
                <c:ptCount val="6"/>
                <c:pt idx="0">
                  <c:v>0.8825</c:v>
                </c:pt>
                <c:pt idx="1">
                  <c:v>0.872</c:v>
                </c:pt>
                <c:pt idx="2">
                  <c:v>0.8838</c:v>
                </c:pt>
                <c:pt idx="3">
                  <c:v>0.8751</c:v>
                </c:pt>
                <c:pt idx="4">
                  <c:v>0.8952</c:v>
                </c:pt>
                <c:pt idx="5">
                  <c:v>9.41</c:v>
                </c:pt>
              </c:numCache>
            </c:numRef>
          </c:val>
        </c:ser>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111D2E"/>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AUC Score</c:v>
                </c:pt>
              </c:strCache>
            </c:strRef>
          </c:tx>
          <c:spPr>
            <a:solidFill>
              <a:srgbClr val="00D4FF"/>
            </a:solidFill>
            <a:effectLst/>
          </c:spPr>
          <c:invertIfNegative val="0"/>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dPt>
            <c:idx val="0"/>
            <c:invertIfNegative val="0"/>
            <c:bubble3D val="0"/>
            <c:spPr>
              <a:solidFill>
                <a:srgbClr val="00D4FF"/>
              </a:solidFill>
              <a:effectLst/>
            </c:spPr>
          </c:dPt>
          <c:dPt>
            <c:idx val="1"/>
            <c:invertIfNegative val="0"/>
            <c:bubble3D val="0"/>
            <c:spPr>
              <a:solidFill>
                <a:srgbClr val="00D4FF"/>
              </a:solidFill>
              <a:effectLst/>
            </c:spPr>
          </c:dPt>
          <c:dPt>
            <c:idx val="2"/>
            <c:invertIfNegative val="0"/>
            <c:bubble3D val="0"/>
            <c:spPr>
              <a:solidFill>
                <a:srgbClr val="10B981"/>
              </a:solidFill>
              <a:effectLst/>
            </c:spPr>
          </c:dPt>
          <c:dPt>
            <c:idx val="3"/>
            <c:invertIfNegative val="0"/>
            <c:bubble3D val="0"/>
            <c:spPr>
              <a:solidFill>
                <a:srgbClr val="10B981"/>
              </a:solidFill>
              <a:effectLst/>
            </c:spPr>
          </c:dPt>
          <c:dPt>
            <c:idx val="4"/>
            <c:invertIfNegative val="0"/>
            <c:bubble3D val="0"/>
            <c:spPr>
              <a:solidFill>
                <a:srgbClr val="0EA5E9"/>
              </a:solidFill>
              <a:effectLst/>
            </c:spPr>
          </c:dPt>
          <c:dPt>
            <c:idx val="5"/>
            <c:invertIfNegative val="0"/>
            <c:bubble3D val="0"/>
            <c:spPr>
              <a:solidFill>
                <a:srgbClr val="0EA5E9"/>
              </a:solidFill>
              <a:effectLst/>
            </c:spPr>
          </c:dPt>
          <c:dPt>
            <c:idx val="6"/>
            <c:invertIfNegative val="0"/>
            <c:bubble3D val="0"/>
            <c:spPr>
              <a:solidFill>
                <a:srgbClr val="F59E0B"/>
              </a:solidFill>
              <a:effectLst/>
            </c:spPr>
          </c:dPt>
          <c:dPt>
            <c:idx val="7"/>
            <c:invertIfNegative val="0"/>
            <c:bubble3D val="0"/>
            <c:spPr>
              <a:solidFill>
                <a:srgbClr val="F59E0B"/>
              </a:solidFill>
              <a:effectLst/>
            </c:spPr>
          </c:dPt>
          <c:dPt>
            <c:idx val="8"/>
            <c:invertIfNegative val="0"/>
            <c:bubble3D val="0"/>
            <c:spPr>
              <a:solidFill>
                <a:srgbClr val="EF4444"/>
              </a:solidFill>
              <a:effectLst/>
            </c:spPr>
          </c:dPt>
          <c:dPt>
            <c:idx val="9"/>
            <c:invertIfNegative val="0"/>
            <c:bubble3D val="0"/>
            <c:spPr>
              <a:solidFill>
                <a:srgbClr val="EF4444"/>
              </a:solidFill>
              <a:effectLst/>
            </c:spPr>
          </c:dPt>
          <c:dPt>
            <c:idx val="10"/>
            <c:invertIfNegative val="0"/>
            <c:bubble3D val="0"/>
            <c:spPr>
              <a:solidFill>
                <a:srgbClr val="EF4444"/>
              </a:solidFill>
              <a:effectLst/>
            </c:spPr>
          </c:dPt>
          <c:dPt>
            <c:idx val="11"/>
            <c:invertIfNegative val="0"/>
            <c:bubble3D val="0"/>
            <c:spPr>
              <a:solidFill>
                <a:srgbClr val="EF4444"/>
              </a:solidFill>
              <a:effectLst/>
            </c:spPr>
          </c:dPt>
          <c:cat>
            <c:multiLvlStrRef>
              <c:f>Sheet1!$A$2:$A$13</c:f>
              <c:multiLvlStrCache>
                <c:ptCount val="12"/>
                <c:lvl>
                  <c:pt idx="0">
                    <c:v>Explosion</c:v>
                  </c:pt>
                  <c:pt idx="1">
                    <c:v>Arson</c:v>
                  </c:pt>
                  <c:pt idx="2">
                    <c:v>Road Acc.</c:v>
                  </c:pt>
                  <c:pt idx="3">
                    <c:v>Normal</c:v>
                  </c:pt>
                  <c:pt idx="4">
                    <c:v>Fighting</c:v>
                  </c:pt>
                  <c:pt idx="5">
                    <c:v>Abuse</c:v>
                  </c:pt>
                  <c:pt idx="6">
                    <c:v>Assault</c:v>
                  </c:pt>
                  <c:pt idx="7">
                    <c:v>Vandalism</c:v>
                  </c:pt>
                  <c:pt idx="8">
                    <c:v>Robbery</c:v>
                  </c:pt>
                  <c:pt idx="9">
                    <c:v>Burglary</c:v>
                  </c:pt>
                  <c:pt idx="10">
                    <c:v>Shooting</c:v>
                  </c:pt>
                  <c:pt idx="11">
                    <c:v>Arrest</c:v>
                  </c:pt>
                </c:lvl>
              </c:multiLvlStrCache>
            </c:multiLvlStrRef>
          </c:cat>
          <c:val>
            <c:numRef>
              <c:f>Sheet1!$B$2:$B$13</c:f>
              <c:numCache>
                <c:formatCode>General</c:formatCode>
                <c:ptCount val="12"/>
                <c:pt idx="0">
                  <c:v>0.95</c:v>
                </c:pt>
                <c:pt idx="1">
                  <c:v>0.94</c:v>
                </c:pt>
                <c:pt idx="2">
                  <c:v>0.91</c:v>
                </c:pt>
                <c:pt idx="3">
                  <c:v>0.93</c:v>
                </c:pt>
                <c:pt idx="4">
                  <c:v>0.89</c:v>
                </c:pt>
                <c:pt idx="5">
                  <c:v>0.9</c:v>
                </c:pt>
                <c:pt idx="6">
                  <c:v>0.83</c:v>
                </c:pt>
                <c:pt idx="7">
                  <c:v>0.88</c:v>
                </c:pt>
                <c:pt idx="8">
                  <c:v>0.82</c:v>
                </c:pt>
                <c:pt idx="9">
                  <c:v>0.83</c:v>
                </c:pt>
                <c:pt idx="10">
                  <c:v>0.85</c:v>
                </c:pt>
                <c:pt idx="11">
                  <c:v>0.78</c:v>
                </c:pt>
              </c:numCache>
            </c:numRef>
          </c:val>
        </c:ser>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2"/>
        <c:crosses val="autoZero"/>
        <c:auto val="1"/>
        <c:lblAlgn val="ctr"/>
        <c:noMultiLvlLbl val="1"/>
      </c:catAx>
      <c:valAx>
        <c:axId val="2094734552"/>
        <c:scaling>
          <c:orientation val="minMax"/>
          <c:max val="1"/>
          <c:min val="0.7"/>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111D2E"/>
    </a:solid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Mean F1</c:v>
                </c:pt>
              </c:strCache>
            </c:strRef>
          </c:tx>
          <c:spPr>
            <a:solidFill>
              <a:srgbClr val="00D4FF"/>
            </a:solidFill>
            <a:effectLst/>
          </c:spPr>
          <c:invertIfNegative val="0"/>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cat>
            <c:multiLvlStrRef>
              <c:f>Sheet1!$A$2:$A$6</c:f>
              <c:multiLvlStrCache>
                <c:ptCount val="5"/>
                <c:lvl>
                  <c:pt idx="0">
                    <c:v>Batch 1</c:v>
                  </c:pt>
                  <c:pt idx="1">
                    <c:v>Batch 2</c:v>
                  </c:pt>
                  <c:pt idx="2">
                    <c:v>Batch 3</c:v>
                  </c:pt>
                  <c:pt idx="3">
                    <c:v>Batch 4</c:v>
                  </c:pt>
                  <c:pt idx="4">
                    <c:v>Batch 5</c:v>
                  </c:pt>
                </c:lvl>
              </c:multiLvlStrCache>
            </c:multiLvlStrRef>
          </c:cat>
          <c:val>
            <c:numRef>
              <c:f>Sheet1!$B$2:$B$6</c:f>
              <c:numCache>
                <c:formatCode>General</c:formatCode>
                <c:ptCount val="5"/>
                <c:pt idx="0">
                  <c:v>0.8823</c:v>
                </c:pt>
                <c:pt idx="1">
                  <c:v>0.8559</c:v>
                </c:pt>
                <c:pt idx="2">
                  <c:v>0.8954</c:v>
                </c:pt>
                <c:pt idx="3">
                  <c:v>0.8654</c:v>
                </c:pt>
                <c:pt idx="4">
                  <c:v>0.8764</c:v>
                </c:pt>
              </c:numCache>
            </c:numRef>
          </c:val>
        </c:ser>
        <c:ser>
          <c:idx val="1"/>
          <c:order val="1"/>
          <c:tx>
            <c:strRef>
              <c:f>Sheet1!$C$1</c:f>
              <c:strCache>
                <c:ptCount val="1"/>
                <c:pt idx="0">
                  <c:v>Mean Accuracy</c:v>
                </c:pt>
              </c:strCache>
            </c:strRef>
          </c:tx>
          <c:spPr>
            <a:solidFill>
              <a:srgbClr val="10B981"/>
            </a:solidFill>
            <a:effectLst/>
          </c:spPr>
          <c:invertIfNegative val="0"/>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cat>
            <c:multiLvlStrRef>
              <c:f>Sheet1!$A$2:$A$6</c:f>
              <c:multiLvlStrCache>
                <c:ptCount val="5"/>
                <c:lvl>
                  <c:pt idx="0">
                    <c:v>Batch 1</c:v>
                  </c:pt>
                  <c:pt idx="1">
                    <c:v>Batch 2</c:v>
                  </c:pt>
                  <c:pt idx="2">
                    <c:v>Batch 3</c:v>
                  </c:pt>
                  <c:pt idx="3">
                    <c:v>Batch 4</c:v>
                  </c:pt>
                  <c:pt idx="4">
                    <c:v>Batch 5</c:v>
                  </c:pt>
                </c:lvl>
              </c:multiLvlStrCache>
            </c:multiLvlStrRef>
          </c:cat>
          <c:val>
            <c:numRef>
              <c:f>Sheet1!$C$2:$C$6</c:f>
              <c:numCache>
                <c:formatCode>General</c:formatCode>
                <c:ptCount val="5"/>
                <c:pt idx="0">
                  <c:v>0.8863</c:v>
                </c:pt>
                <c:pt idx="1">
                  <c:v>0.8608</c:v>
                </c:pt>
                <c:pt idx="2">
                  <c:v>0.9026</c:v>
                </c:pt>
                <c:pt idx="3">
                  <c:v>0.8726</c:v>
                </c:pt>
                <c:pt idx="4">
                  <c:v>0.8904</c:v>
                </c:pt>
              </c:numCache>
            </c:numRef>
          </c:val>
        </c:ser>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2"/>
        <c:crosses val="autoZero"/>
        <c:auto val="1"/>
        <c:lblAlgn val="ctr"/>
        <c:noMultiLvlLbl val="1"/>
      </c:catAx>
      <c:valAx>
        <c:axId val="2094734552"/>
        <c:scaling>
          <c:orientation val="minMax"/>
          <c:max val="0.92"/>
          <c:min val="0.82"/>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000">
              <a:solidFill>
                <a:srgbClr val="CBD5E1"/>
              </a:solidFill>
            </a:defRPr>
          </a:pPr>
          <a:endParaRPr lang="en-US"/>
        </a:p>
      </c:txPr>
    </c:legend>
    <c:plotVisOnly val="1"/>
    <c:dispBlanksAs val="span"/>
  </c:chart>
  <c:spPr>
    <a:solidFill>
      <a:srgbClr val="111D2E"/>
    </a:solid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F1</c:v>
                </c:pt>
              </c:strCache>
            </c:strRef>
          </c:tx>
          <c:spPr>
            <a:solidFill>
              <a:srgbClr val="00D4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Sheet1!$A$2:$A$10</c:f>
              <c:multiLvlStrCache>
                <c:ptCount val="9"/>
                <c:lvl>
                  <c:pt idx="0">
                    <c:v>Explosion</c:v>
                  </c:pt>
                  <c:pt idx="1">
                    <c:v>Arson</c:v>
                  </c:pt>
                  <c:pt idx="2">
                    <c:v>Normal</c:v>
                  </c:pt>
                  <c:pt idx="3">
                    <c:v>RoadAccidents</c:v>
                  </c:pt>
                  <c:pt idx="4">
                    <c:v>Abuse</c:v>
                  </c:pt>
                  <c:pt idx="5">
                    <c:v>Fighting</c:v>
                  </c:pt>
                  <c:pt idx="6">
                    <c:v>Vandalism</c:v>
                  </c:pt>
                  <c:pt idx="7">
                    <c:v>Robbery</c:v>
                  </c:pt>
                  <c:pt idx="8">
                    <c:v>Arrest</c:v>
                  </c:pt>
                </c:lvl>
              </c:multiLvlStrCache>
            </c:multiLvlStrRef>
          </c:cat>
          <c:val>
            <c:numRef>
              <c:f>Sheet1!$B$2:$B$10</c:f>
              <c:numCache>
                <c:formatCode>General</c:formatCode>
                <c:ptCount val="9"/>
                <c:pt idx="0">
                  <c:v>0.94</c:v>
                </c:pt>
                <c:pt idx="1">
                  <c:v>0.92</c:v>
                </c:pt>
                <c:pt idx="2">
                  <c:v>0.93</c:v>
                </c:pt>
                <c:pt idx="3">
                  <c:v>0.9</c:v>
                </c:pt>
                <c:pt idx="4">
                  <c:v>0.88</c:v>
                </c:pt>
                <c:pt idx="5">
                  <c:v>0.87</c:v>
                </c:pt>
                <c:pt idx="6">
                  <c:v>0.85</c:v>
                </c:pt>
                <c:pt idx="7">
                  <c:v>0.8</c:v>
                </c:pt>
                <c:pt idx="8">
                  <c:v>0.77</c:v>
                </c:pt>
              </c:numCache>
            </c:numRef>
          </c:val>
        </c:ser>
        <c:ser>
          <c:idx val="1"/>
          <c:order val="1"/>
          <c:tx>
            <c:strRef>
              <c:f>Sheet1!$C$1</c:f>
              <c:strCache>
                <c:ptCount val="1"/>
                <c:pt idx="0">
                  <c:v>Precision</c:v>
                </c:pt>
              </c:strCache>
            </c:strRef>
          </c:tx>
          <c:spPr>
            <a:solidFill>
              <a:srgbClr val="0EA5E9"/>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Sheet1!$A$2:$A$10</c:f>
              <c:multiLvlStrCache>
                <c:ptCount val="9"/>
                <c:lvl>
                  <c:pt idx="0">
                    <c:v>Explosion</c:v>
                  </c:pt>
                  <c:pt idx="1">
                    <c:v>Arson</c:v>
                  </c:pt>
                  <c:pt idx="2">
                    <c:v>Normal</c:v>
                  </c:pt>
                  <c:pt idx="3">
                    <c:v>RoadAccidents</c:v>
                  </c:pt>
                  <c:pt idx="4">
                    <c:v>Abuse</c:v>
                  </c:pt>
                  <c:pt idx="5">
                    <c:v>Fighting</c:v>
                  </c:pt>
                  <c:pt idx="6">
                    <c:v>Vandalism</c:v>
                  </c:pt>
                  <c:pt idx="7">
                    <c:v>Robbery</c:v>
                  </c:pt>
                  <c:pt idx="8">
                    <c:v>Arrest</c:v>
                  </c:pt>
                </c:lvl>
              </c:multiLvlStrCache>
            </c:multiLvlStrRef>
          </c:cat>
          <c:val>
            <c:numRef>
              <c:f>Sheet1!$C$2:$C$10</c:f>
              <c:numCache>
                <c:formatCode>General</c:formatCode>
                <c:ptCount val="9"/>
                <c:pt idx="0">
                  <c:v>0.95</c:v>
                </c:pt>
                <c:pt idx="1">
                  <c:v>0.94</c:v>
                </c:pt>
                <c:pt idx="2">
                  <c:v>0.92</c:v>
                </c:pt>
                <c:pt idx="3">
                  <c:v>0.91</c:v>
                </c:pt>
                <c:pt idx="4">
                  <c:v>0.87</c:v>
                </c:pt>
                <c:pt idx="5">
                  <c:v>0.88</c:v>
                </c:pt>
                <c:pt idx="6">
                  <c:v>0.84</c:v>
                </c:pt>
                <c:pt idx="7">
                  <c:v>0.81</c:v>
                </c:pt>
                <c:pt idx="8">
                  <c:v>0.79</c:v>
                </c:pt>
              </c:numCache>
            </c:numRef>
          </c:val>
        </c:ser>
        <c:ser>
          <c:idx val="2"/>
          <c:order val="2"/>
          <c:tx>
            <c:strRef>
              <c:f>Sheet1!$D$1</c:f>
              <c:strCache>
                <c:ptCount val="1"/>
                <c:pt idx="0">
                  <c:v>Recall</c:v>
                </c:pt>
              </c:strCache>
            </c:strRef>
          </c:tx>
          <c:spPr>
            <a:solidFill>
              <a:srgbClr val="10B981"/>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Sheet1!$A$2:$A$10</c:f>
              <c:multiLvlStrCache>
                <c:ptCount val="9"/>
                <c:lvl>
                  <c:pt idx="0">
                    <c:v>Explosion</c:v>
                  </c:pt>
                  <c:pt idx="1">
                    <c:v>Arson</c:v>
                  </c:pt>
                  <c:pt idx="2">
                    <c:v>Normal</c:v>
                  </c:pt>
                  <c:pt idx="3">
                    <c:v>RoadAccidents</c:v>
                  </c:pt>
                  <c:pt idx="4">
                    <c:v>Abuse</c:v>
                  </c:pt>
                  <c:pt idx="5">
                    <c:v>Fighting</c:v>
                  </c:pt>
                  <c:pt idx="6">
                    <c:v>Vandalism</c:v>
                  </c:pt>
                  <c:pt idx="7">
                    <c:v>Robbery</c:v>
                  </c:pt>
                  <c:pt idx="8">
                    <c:v>Arrest</c:v>
                  </c:pt>
                </c:lvl>
              </c:multiLvlStrCache>
            </c:multiLvlStrRef>
          </c:cat>
          <c:val>
            <c:numRef>
              <c:f>Sheet1!$D$2:$D$10</c:f>
              <c:numCache>
                <c:formatCode>General</c:formatCode>
                <c:ptCount val="9"/>
                <c:pt idx="0">
                  <c:v>0.93</c:v>
                </c:pt>
                <c:pt idx="1">
                  <c:v>0.91</c:v>
                </c:pt>
                <c:pt idx="2">
                  <c:v>0.95</c:v>
                </c:pt>
                <c:pt idx="3">
                  <c:v>0.89</c:v>
                </c:pt>
                <c:pt idx="4">
                  <c:v>0.89</c:v>
                </c:pt>
                <c:pt idx="5">
                  <c:v>0.86</c:v>
                </c:pt>
                <c:pt idx="6">
                  <c:v>0.86</c:v>
                </c:pt>
                <c:pt idx="7">
                  <c:v>0.79</c:v>
                </c:pt>
                <c:pt idx="8">
                  <c:v>0.75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2"/>
        <c:crosses val="autoZero"/>
        <c:auto val="1"/>
        <c:lblAlgn val="ctr"/>
        <c:noMultiLvlLbl val="1"/>
      </c:catAx>
      <c:valAx>
        <c:axId val="2094734552"/>
        <c:scaling>
          <c:orientation val="minMax"/>
          <c:max val="1"/>
          <c:min val="0.7"/>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CBD5E1"/>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000">
              <a:solidFill>
                <a:srgbClr val="CBD5E1"/>
              </a:solidFill>
            </a:defRPr>
          </a:pPr>
          <a:endParaRPr lang="en-US"/>
        </a:p>
      </c:txPr>
    </c:legend>
    <c:plotVisOnly val="1"/>
    <c:dispBlanksAs val="span"/>
  </c:chart>
  <c:spPr>
    <a:solidFill>
      <a:srgbClr val="111D2E"/>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committee. State the project name and that this is the GP2 mid-term defense for SecureSight. Introduce all 7 team members and Dr. Essam Abdellatef as supervisor.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Provide a high-level overview. The system closes the gap between CCTV data capture and real-time understanding. Highlight the four pillars: goal, tech stack, dataset, and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vectors of failure: passive data utilization (footage never reviewed), algorithmic modality silos (spatial vs temporal treated separately), and the research-to-deployment gap. Emphasize real societal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Motivate with real numbers. Cognitive fatigue at 30 mins, scale overload with thousands of cameras per district, reactive posture missing opportunity to intervene. Recent AI advances in CNN + ViT enable a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all 5 objectives in order. Each maps to a design decision. Objective 4 (temporal supervision) is the key innovation over prior weakly-supervised baselines.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key contributions. Emphasize #2 (clip-level supervision) as the methodological differentiator from prior art. #3 bridges research to real deployment. #5 shows scientific rigor.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challenge maps directly to a design decision. The class imbalance challenge (948k Normal vs 7k Shooting) is the most critical — emphasize the three-stage mitigation strategy.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UCF-Crime is the most challenging real-world crime dataset. Source: CRCV University of Central Florida. Official temporal annotations from github.com/Xuange923 were used for precise clip-level supervision.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begins with raw UCF-Crime, applies official temporal annotations (critical for eliminating MIL label noise), samples at 5 FPS into 16-frame clips, merges classes, then splits 70/15/15 stratified.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4 challenges drove every design decision. Class imbalance -&gt; weighted sampling. Weak labels -&gt; clip-level annotations. Visual ambiguity -&gt; dual-stream fusion. Environmental variance -&gt; augmentation + normalization.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5-stage preprocessing pipeline. The critical step is enhancement — ResNet-50 gets 224×224 while R(2+1)D gets 112×112 clips. Both branches receive ImageNet-normalized input for proper transfer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Chart shows raw training distribution. Normal class highlighted in red at 65k visible training images (948k full frames). The imbalance is visually stark and motivates the mitigation strategy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CRITICAL. The before/after comparison shows the three engineering decisions that enabled the performance jump: (1) class merging, (2) clip-level annotation, (3) stratified split + inverse weighting.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performance jump from ~57% to 91.6% accuracy is almost entirely attributable to the data engineering decisions, not architecture alone. Use this to address committee questions about what drove the improvement.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7-step workflow end-to-end. Highlight the two safety gates between the model output and alert generation. Alert routing to specific agencies is a key differentiator from academic prototypes.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 dive into each stage. Step 3 is where the key math happens — 2048+512 = 2560D concatenation, projected to 512D. Step 4 is the ViT with 8 clips sliding window. Step 5 has both the 60% confidence AND 5-sec gates.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decoupled 4-layer architecture prevents inference latency from blocking the UI. Flask serves model inference on a separate process from the Express API gateway, ensuring the system never freezes.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 pipeline = 42.45ms, well under the 100ms real-time threshold. R(2+1)D is the most expensive component at ~15.5ms but the factorized architecture keeps it manageable vs full 3D convolutions.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model families were evaluated. Evolutionary methods (GWO, PSO, SMO, SFLA, HHO) were tested but none outperformed the ViT baseline — this is explicitly stated in the abstract and validates our architecture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Selection was driven by 6 non-negotiable criteria. Latency and deployment readiness are often ignored in academic papers but are essential here. All 6 criteria are satisfied by the final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model clearly outperforms all alternatives. EfficientNet was the closest competitor but lacks temporal modeling. I3D is comparable in accuracy but has 5× more parameters and 3× higher latency.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Justify scientifically. The key insight is that no single modality is sufficient: appearance tells you WHO is there, motion tells you WHAT they are doing, and the ViT tells you HOW the scene is evolving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full architecture before going into each component. The four stages — spatial extraction, temporal extraction, fusion, and sequence modeling — each contribute uniquely to the final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the architecture figure from the book (Figure 5). Walk through each component and point to the equations at the bottom. The key math is the fusion projection and the ViT CLS token extraction.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ResNet-50 was chosen over deeper architectures (ResNet-101/152) for the accuracy-speed trade-off. The 2048-D GAP output is a rich semantic representation. Transfer learning from ImageNet gives a strong initialization.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ViT is the secret weapon. Unlike LSTMs that process step-by-step, the 4-block transformer attends to ALL 8 clips simultaneously — this is what captures behavioral build-ups over ~25 seconds of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fusion is simple but effective. Simple concatenation outperforms more complex attention-based fusion for this architecture because both modalities are already well-calibrated. The projection Wp is the only learned fusion component.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 the feature dimensions through the network. The key compression points are: 2048-D (spatial) + 512-D (temporal) → 2560-D concat → 512-D projection → repeated 8 times into ViT → final 512-D CLS → 9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Attention is the core innovation. The MHSA mechanism can detect that clip 1 shows normal behavior but clip 5 shows suspicious movement — connecting non-adjacent temporal events that CNN-only or LSTM models would miss.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classification head is intentionally simple — a single linear layer + softmax. The complexity is in the backbone and ViT. Label smoothing with α=0.1 prevents overconfident predictions on ambiguous scenes.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optimization: CPU handles frame preprocessing WHILE GPU processes the previous batch. This parallel execution overlaps the 4.5ms CPU cost entirely. The 15.5ms R(2+1)D is the bottleneck — worth monitoring for future optimization.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as 'why each component earns its place.' The committee may challenge the complexity — be ready to quantify each branch's contribution. Each comparison has a concrete accuracy or latency justification.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EfficientNet as a scientific trial, not a deployment option. It was tested to validate the decision to include a temporal branch. Its lower performance (especially on motion-heavy crimes) confirms that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EfficientNet-B0 is a strong spatial model. The compound scaling law ensures balanced scaling. However, for video anomaly detection the absence of a temporal branch is a fundamental limitation regardless of spatial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hyperparameter search space was used for EfficientNet as for the main model to ensure fair comparison. The best EfficientNet configuration used the same AdamW + cosine 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EfficientNet performs well on visually distinctive events (Explosion: 0.91 AUC) but struggles on motion-intensive crimes (Violence: 0.79, Theft: 0.76). This directly validates the need for a temporal branch.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EfficientNet evaluation was scientifically valuable — it quantifies the contribution of the temporal branch. The 8.4% accuracy gap and specifically the 0.79 AUC on Violence vs 0.94 in the main model makes the case 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structural comparison makes the temporal branch advantage obvious. EfficientNet has no mechanism to reason about time — every frame is classified in isolation. The hybrid model has explicit temporal context at two scales.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EfficientNet wins on every efficiency metric. Our model wins on every performance metric. The question the committee will ask: 'Is the complexity worth it?' Answer: For safety-critical anomaly detection, 8.4% accuracy gap is not acceptable.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Figure 9 from the book (training/validation curves). The hybrid model shows slower early convergence but a higher ceiling. EfficientNet plateaus earlier — evidence that temporal modeling enables learning from harder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performance gap is consistent across ALL metrics — this is not a precision/recall trade-off scenario. The hybrid model is strictly better. The AUC gap (0.948 vs 0.871) is particularly significant for rare-event detection.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committee challenges the complexity: point to the per-class AUC data. Violence +15pts and Theft +14pts are the smoking gun. These are the crimes where temporal context is most critical. EfficientNet simply cannot see motion.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6-stage training loop. Emphasize: (1) Inverse-weight sampler is active in step 1 — this is what fights the 133:1 class imbalance. (2) Online augmentation in step 2 prevents overfitting.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Batch 3 run 4 is the production deployment candidate. lr=2e-4, batch_size=64, dropout=0.4 gave the best balance of accuracy and stability. The 5-batch hyperparameter search was systematic — not random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Figure 9 from the book. The key story is the convergence behavior: train and val loss track closely (no overfitting gap) and the cosine schedule produces smooth decay. Label smoothing α=0.1 is critical to this behavior.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88.25% global mean is important — it shows the model is robust, not cherry-picked. The best run (91.58%) is not an outlier. The consistency across 25 runs validates the architecture's reliability.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25-run evaluation framework is a key strength. Rather than reporting a single run, we provide statistical evidence of consistency. The CI intervals and stability scores make the results scientifically credible.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both peak and mean. The mean 88.25% across 25 runs is the key robustness claim. The worst run (83.65%) still vastly exceeds the 50-60% MIL baseline. This shows our architecture is robust, not lucky.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Batch 3 dominates all metrics. Note the stability scores favor batch 5 (tightest variance) but batch 3 has the highest absolute performance. The deployment decision correctly prioritizes F1 over pure stability.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confidence intervals are tight — 95% CI for accuracy spans only 1.6 percentage points. This demonstrates statistical significance. Latency CI [8.8ms, 10.0ms] confirms real-time capability is consistent, not luck.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Figure 10 from the book. The AUC pattern reveals the architectural strengths: the R(2+1)D temporal branch excels on high-motion events (Explosion 0.95, Arson 0.94). Arrest/Robbery difficulty is inherent to the visual ambiguity.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hyperparameter search reveals clear trends: higher learning rate (2e-4 vs 5e-5) benefits the ViT's attention layers. Higher dropout (0.4) acts as a form of temporal attention regularization. Batch size 64 balances gradient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class-wise pattern is consistent and explainable. It aligns with human difficulty levels: even trained security personnel struggle to distinguish 'Arrest' from a normal physical interaction at a distance.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6-component integration is production-grade. Highlight the edge buffer as unique — most academic prototypes have no fault tolerance. Tested intentional network failure and confirmed zero alert loss on reconnection.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Figures 11 and 12 from the book. The dashboard shows the detected class 'Normal' or 'Theft' with confidence score and the 70% minimum rule. The UI was built for operators, not researchers.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42.45ms = 23.5 fps theoretical capacity. In practice we achieve 6.76 windows/sec because each window is 8 clips. The CPU-GPU parallel execution is what keeps latency under the 100ms real-time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Figure 13 from the book. This is a strong differentiator from most surveillance research. The committee will likely ask about privacy — the answer is that privacy protection is engineered into the architecture, not bolted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4 is often overlooked but scientifically important — five evolutionary methods were tested and all failed to beat the baseline. This is an empirical validation that attention-based architectures outperform metaheuristic optimization for sequence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performance numbers, then move to the system advantages. The committee should come away understanding that SecureSight is not just an accurate model — it is a deployable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transparent about limitations — committees respect honest self-evaluation. The GPU dependency and single-camera scope are engineering limitations with known solutions (quantization, multi-camera extensions). Frame them as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 (data &gt; architecture) is the most important takeaway for the field. Lesson 4 (statistical rigor) distinguishes this work from typical GP submissions. Communicate these as genuine insights, not just reflection.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compression and multi-camera tracking are the highest priority post-GP work. The committee may ask what is needed to make this production-ready — answer: INT8 quantization for CPU deployment and multi-stream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4 directions represent the academic frontier. XAI is the most immediately impactful for real-world deployment — law enforcement needs explainable AI evidence. Foundation models represent the longer-term research 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this as a clean 5-point recap. Problem → Solution → Data → Results → Deployment. The committee should be able to describe the full project after this one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6 contributions can each be defended independently. If pressed on any one: (1) architecture choice, (2) supervision methodology, (3) data engineering, (4) evaluation rigor, (5) systems engineering, (6) ethics.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committee. Leave the key performance metrics visible during Q&amp;A. Be ready for: (1) Why not use a lighter model? → 8.4% accuracy gap, (2) How does it scale? → Multi-camera future work, (3) Privacy? → Ephemeral processing design, (4) Why ViT over LSTM? → Parallel attention vs sequential processing.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6"/>
        <p:cNvGrpSpPr/>
        <p:nvPr/>
      </p:nvGrpSpPr>
      <p:grpSpPr>
        <a:xfrm>
          <a:off x="0" y="0"/>
          <a:ext cx="0" cy="0"/>
          <a:chOff x="0" y="0"/>
          <a:chExt cx="0" cy="0"/>
        </a:xfrm>
      </p:grpSpPr>
      <p:pic>
        <p:nvPicPr>
          <p:cNvPr id="17" name="Google Shape;17;p2"/>
          <p:cNvPicPr preferRelativeResize="0"/>
          <p:nvPr/>
        </p:nvPicPr>
        <p:blipFill rotWithShape="1">
          <a:blip r:embed="rId2">
            <a:alphaModFix/>
          </a:blip>
          <a:srcRect/>
          <a:stretch/>
        </p:blipFill>
        <p:spPr>
          <a:xfrm>
            <a:off x="0" y="0"/>
            <a:ext cx="24384000" cy="13716000"/>
          </a:xfrm>
          <a:prstGeom prst="rect">
            <a:avLst/>
          </a:prstGeom>
          <a:noFill/>
          <a:ln>
            <a:noFill/>
          </a:ln>
        </p:spPr>
      </p:pic>
      <p:sp>
        <p:nvSpPr>
          <p:cNvPr id="18" name="Google Shape;18;p2"/>
          <p:cNvSpPr txBox="1">
            <a:spLocks noGrp="1"/>
          </p:cNvSpPr>
          <p:nvPr>
            <p:ph type="ctrTitle"/>
          </p:nvPr>
        </p:nvSpPr>
        <p:spPr>
          <a:xfrm>
            <a:off x="1447800" y="4258828"/>
            <a:ext cx="10501744" cy="260840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070768"/>
              </a:buClr>
              <a:buSzPts val="7200"/>
              <a:buFont typeface="Arial"/>
              <a:buNone/>
              <a:defRPr sz="7200" b="1">
                <a:solidFill>
                  <a:srgbClr val="070768"/>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
          <p:cNvSpPr txBox="1">
            <a:spLocks noGrp="1"/>
          </p:cNvSpPr>
          <p:nvPr>
            <p:ph type="subTitle" idx="1"/>
          </p:nvPr>
        </p:nvSpPr>
        <p:spPr>
          <a:xfrm>
            <a:off x="1447799" y="7161069"/>
            <a:ext cx="10501745" cy="3311524"/>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2000"/>
              </a:spcBef>
              <a:spcAft>
                <a:spcPts val="0"/>
              </a:spcAft>
              <a:buClr>
                <a:srgbClr val="CA2126"/>
              </a:buClr>
              <a:buSzPts val="5400"/>
              <a:buNone/>
              <a:defRPr sz="5400" b="1">
                <a:solidFill>
                  <a:srgbClr val="CA2126"/>
                </a:solidFill>
                <a:latin typeface="Arial"/>
                <a:ea typeface="Arial"/>
                <a:cs typeface="Arial"/>
                <a:sym typeface="Arial"/>
              </a:defRPr>
            </a:lvl1pPr>
            <a:lvl2pPr lvl="1" algn="ctr">
              <a:lnSpc>
                <a:spcPct val="90000"/>
              </a:lnSpc>
              <a:spcBef>
                <a:spcPts val="1000"/>
              </a:spcBef>
              <a:spcAft>
                <a:spcPts val="0"/>
              </a:spcAft>
              <a:buClr>
                <a:schemeClr val="dk1"/>
              </a:buClr>
              <a:buSzPts val="4000"/>
              <a:buNone/>
              <a:defRPr sz="4000"/>
            </a:lvl2pPr>
            <a:lvl3pPr lvl="2" algn="ctr">
              <a:lnSpc>
                <a:spcPct val="90000"/>
              </a:lnSpc>
              <a:spcBef>
                <a:spcPts val="1000"/>
              </a:spcBef>
              <a:spcAft>
                <a:spcPts val="0"/>
              </a:spcAft>
              <a:buClr>
                <a:schemeClr val="dk1"/>
              </a:buClr>
              <a:buSzPts val="3600"/>
              <a:buNone/>
              <a:defRPr sz="3600"/>
            </a:lvl3pPr>
            <a:lvl4pPr lvl="3" algn="ctr">
              <a:lnSpc>
                <a:spcPct val="90000"/>
              </a:lnSpc>
              <a:spcBef>
                <a:spcPts val="1000"/>
              </a:spcBef>
              <a:spcAft>
                <a:spcPts val="0"/>
              </a:spcAft>
              <a:buClr>
                <a:schemeClr val="dk1"/>
              </a:buClr>
              <a:buSzPts val="3200"/>
              <a:buNone/>
              <a:defRPr sz="3200"/>
            </a:lvl4pPr>
            <a:lvl5pPr lvl="4" algn="ctr">
              <a:lnSpc>
                <a:spcPct val="90000"/>
              </a:lnSpc>
              <a:spcBef>
                <a:spcPts val="1000"/>
              </a:spcBef>
              <a:spcAft>
                <a:spcPts val="0"/>
              </a:spcAft>
              <a:buClr>
                <a:schemeClr val="dk1"/>
              </a:buClr>
              <a:buSzPts val="3200"/>
              <a:buNone/>
              <a:defRPr sz="3200"/>
            </a:lvl5pPr>
            <a:lvl6pPr lvl="5" algn="ctr">
              <a:lnSpc>
                <a:spcPct val="90000"/>
              </a:lnSpc>
              <a:spcBef>
                <a:spcPts val="1000"/>
              </a:spcBef>
              <a:spcAft>
                <a:spcPts val="0"/>
              </a:spcAft>
              <a:buClr>
                <a:schemeClr val="dk1"/>
              </a:buClr>
              <a:buSzPts val="3200"/>
              <a:buNone/>
              <a:defRPr sz="3200"/>
            </a:lvl6pPr>
            <a:lvl7pPr lvl="6" algn="ctr">
              <a:lnSpc>
                <a:spcPct val="90000"/>
              </a:lnSpc>
              <a:spcBef>
                <a:spcPts val="1000"/>
              </a:spcBef>
              <a:spcAft>
                <a:spcPts val="0"/>
              </a:spcAft>
              <a:buClr>
                <a:schemeClr val="dk1"/>
              </a:buClr>
              <a:buSzPts val="3200"/>
              <a:buNone/>
              <a:defRPr sz="3200"/>
            </a:lvl7pPr>
            <a:lvl8pPr lvl="7" algn="ctr">
              <a:lnSpc>
                <a:spcPct val="90000"/>
              </a:lnSpc>
              <a:spcBef>
                <a:spcPts val="1000"/>
              </a:spcBef>
              <a:spcAft>
                <a:spcPts val="0"/>
              </a:spcAft>
              <a:buClr>
                <a:schemeClr val="dk1"/>
              </a:buClr>
              <a:buSzPts val="3200"/>
              <a:buNone/>
              <a:defRPr sz="3200"/>
            </a:lvl8pPr>
            <a:lvl9pPr lvl="8" algn="ctr">
              <a:lnSpc>
                <a:spcPct val="90000"/>
              </a:lnSpc>
              <a:spcBef>
                <a:spcPts val="1000"/>
              </a:spcBef>
              <a:spcAft>
                <a:spcPts val="0"/>
              </a:spcAft>
              <a:buClr>
                <a:schemeClr val="dk1"/>
              </a:buClr>
              <a:buSzPts val="3200"/>
              <a:buNone/>
              <a:defRPr sz="3200"/>
            </a:lvl9pPr>
          </a:lstStyle>
          <a:p>
            <a:endParaRPr/>
          </a:p>
        </p:txBody>
      </p:sp>
      <p:sp>
        <p:nvSpPr>
          <p:cNvPr id="20" name="Google Shape;20;p2"/>
          <p:cNvSpPr txBox="1">
            <a:spLocks noGrp="1"/>
          </p:cNvSpPr>
          <p:nvPr>
            <p:ph type="dt" idx="10"/>
          </p:nvPr>
        </p:nvSpPr>
        <p:spPr>
          <a:xfrm>
            <a:off x="1676400" y="12712701"/>
            <a:ext cx="5486400" cy="73025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
          <p:cNvSpPr txBox="1">
            <a:spLocks noGrp="1"/>
          </p:cNvSpPr>
          <p:nvPr>
            <p:ph type="ftr" idx="11"/>
          </p:nvPr>
        </p:nvSpPr>
        <p:spPr>
          <a:xfrm>
            <a:off x="8077200" y="12712701"/>
            <a:ext cx="8229600" cy="73025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
          <p:cNvSpPr txBox="1">
            <a:spLocks noGrp="1"/>
          </p:cNvSpPr>
          <p:nvPr>
            <p:ph type="sldNum" idx="12"/>
          </p:nvPr>
        </p:nvSpPr>
        <p:spPr>
          <a:xfrm>
            <a:off x="17221200" y="12712701"/>
            <a:ext cx="5486400" cy="73025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01" name="Header Placeholder"/>
          <p:cNvSpPr txBox="1">
            <a:spLocks noGrp="1"/>
          </p:cNvSpPr>
          <p:nvPr>
            <p:ph type="hdr"/>
          </p:nvPr>
        </p:nvSpPr>
        <p:spPr>
          <a:xfrm>
            <a:off x="457200" y="228600"/>
            <a:ext cx="22934400" cy="457200"/>
          </a:xfrm>
          <a:prstGeom prst="rect">
            <a:avLst/>
          </a:prstGeom>
          <a:noFill/>
          <a:ln>
            <a:noFill/>
          </a:ln>
        </p:spPr>
        <p:txBody>
          <a:bodyPr wrap="none"/>
          <a:lstStyle/>
          <a:p>
            <a:r>
              <a:rPr lang="en-US" dirty="0"/>
              <a:t/>
            </a:r>
          </a:p>
        </p:txBody>
      </p:sp>
      <p:sp>
        <p:nvSpPr>
          <p:cNvPr id="102" name="Footer Placeholder"/>
          <p:cNvSpPr txBox="1">
            <a:spLocks noGrp="1"/>
          </p:cNvSpPr>
          <p:nvPr>
            <p:ph type="ftr"/>
          </p:nvPr>
        </p:nvSpPr>
        <p:spPr>
          <a:xfrm>
            <a:off x="457200" y="12964200"/>
            <a:ext cx="22934400" cy="457200"/>
          </a:xfrm>
          <a:prstGeom prst="rect">
            <a:avLst/>
          </a:prstGeom>
          <a:noFill/>
          <a:ln>
            <a:noFill/>
          </a:ln>
        </p:spPr>
        <p:txBody>
          <a:bodyPr wrap="none"/>
          <a:lstStyle/>
          <a:p>
            <a:r>
              <a:rPr lang="en-US" dirty="0"/>
              <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8" name="Google Shape;58;p8"/>
          <p:cNvSpPr txBox="1">
            <a:spLocks noGrp="1"/>
          </p:cNvSpPr>
          <p:nvPr>
            <p:ph type="ftr" idx="11"/>
          </p:nvPr>
        </p:nvSpPr>
        <p:spPr>
          <a:xfrm>
            <a:off x="8077200" y="12712701"/>
            <a:ext cx="8229600" cy="73025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8"/>
          <p:cNvSpPr txBox="1">
            <a:spLocks noGrp="1"/>
          </p:cNvSpPr>
          <p:nvPr>
            <p:ph type="sldNum" idx="12"/>
          </p:nvPr>
        </p:nvSpPr>
        <p:spPr>
          <a:xfrm>
            <a:off x="17221200" y="12712701"/>
            <a:ext cx="5486400" cy="73025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03" name="Header Placeholder Blank"/>
          <p:cNvSpPr txBox="1">
            <a:spLocks noGrp="1"/>
          </p:cNvSpPr>
          <p:nvPr>
            <p:ph type="hdr"/>
          </p:nvPr>
        </p:nvSpPr>
        <p:spPr>
          <a:xfrm>
            <a:off x="457200" y="228600"/>
            <a:ext cx="22934400" cy="457200"/>
          </a:xfrm>
          <a:prstGeom prst="rect">
            <a:avLst/>
          </a:prstGeom>
          <a:noFill/>
          <a:ln>
            <a:noFill/>
          </a:ln>
        </p:spPr>
        <p:txBody>
          <a:bodyPr wrap="none"/>
          <a:lstStyle/>
          <a:p>
            <a:r>
              <a:rPr lang="en-US" dirty="0"/>
              <a:t/>
            </a:r>
          </a:p>
        </p:txBody>
      </p:sp>
      <p:sp>
        <p:nvSpPr>
          <p:cNvPr id="104" name="Footer Placeholder Blank"/>
          <p:cNvSpPr txBox="1">
            <a:spLocks noGrp="1"/>
          </p:cNvSpPr>
          <p:nvPr>
            <p:ph type="ftr"/>
          </p:nvPr>
        </p:nvSpPr>
        <p:spPr>
          <a:xfrm>
            <a:off x="457200" y="12964200"/>
            <a:ext cx="22934400" cy="457200"/>
          </a:xfrm>
          <a:prstGeom prst="rect">
            <a:avLst/>
          </a:prstGeom>
          <a:noFill/>
          <a:ln>
            <a:noFill/>
          </a:ln>
        </p:spPr>
        <p:txBody>
          <a:bodyPr wrap="none"/>
          <a:lstStyle/>
          <a:p>
            <a:r>
              <a:rPr lang="en-US" dirty="0"/>
              <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1"/>
          <p:cNvPicPr preferRelativeResize="0"/>
          <p:nvPr/>
        </p:nvPicPr>
        <p:blipFill rotWithShape="1">
          <a:blip r:embed="rId13">
            <a:alphaModFix/>
          </a:blip>
          <a:srcRect/>
          <a:stretch/>
        </p:blipFill>
        <p:spPr>
          <a:xfrm>
            <a:off x="0" y="0"/>
            <a:ext cx="24384000" cy="13716000"/>
          </a:xfrm>
          <a:prstGeom prst="rect">
            <a:avLst/>
          </a:prstGeom>
          <a:noFill/>
          <a:ln>
            <a:noFill/>
          </a:ln>
        </p:spPr>
      </p:pic>
      <p:sp>
        <p:nvSpPr>
          <p:cNvPr id="11" name="Google Shape;11;p1"/>
          <p:cNvSpPr txBox="1">
            <a:spLocks noGrp="1"/>
          </p:cNvSpPr>
          <p:nvPr>
            <p:ph type="title"/>
          </p:nvPr>
        </p:nvSpPr>
        <p:spPr>
          <a:xfrm>
            <a:off x="1676400" y="730251"/>
            <a:ext cx="21031200" cy="2651126"/>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8800"/>
              <a:buFont typeface="Calibri"/>
              <a:buNone/>
              <a:defRPr sz="88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1"/>
          <p:cNvSpPr txBox="1">
            <a:spLocks noGrp="1"/>
          </p:cNvSpPr>
          <p:nvPr>
            <p:ph type="body" idx="1"/>
          </p:nvPr>
        </p:nvSpPr>
        <p:spPr>
          <a:xfrm>
            <a:off x="1676400" y="3651250"/>
            <a:ext cx="21031200" cy="8702676"/>
          </a:xfrm>
          <a:prstGeom prst="rect">
            <a:avLst/>
          </a:prstGeom>
          <a:noFill/>
          <a:ln>
            <a:noFill/>
          </a:ln>
        </p:spPr>
        <p:txBody>
          <a:bodyPr spcFirstLastPara="1" wrap="square" lIns="91425" tIns="45700" rIns="91425" bIns="45700" anchor="t" anchorCtr="0">
            <a:normAutofit/>
          </a:bodyPr>
          <a:lstStyle>
            <a:lvl1pPr marL="457200" marR="0" lvl="0" indent="-584200" algn="l" rtl="0">
              <a:lnSpc>
                <a:spcPct val="90000"/>
              </a:lnSpc>
              <a:spcBef>
                <a:spcPts val="2000"/>
              </a:spcBef>
              <a:spcAft>
                <a:spcPts val="0"/>
              </a:spcAft>
              <a:buClr>
                <a:schemeClr val="dk1"/>
              </a:buClr>
              <a:buSzPts val="5600"/>
              <a:buFont typeface="Arial"/>
              <a:buChar char="•"/>
              <a:defRPr sz="5600" b="0" i="0" u="none" strike="noStrike" cap="none">
                <a:solidFill>
                  <a:schemeClr val="dk1"/>
                </a:solidFill>
                <a:latin typeface="Calibri"/>
                <a:ea typeface="Calibri"/>
                <a:cs typeface="Calibri"/>
                <a:sym typeface="Calibri"/>
              </a:defRPr>
            </a:lvl1pPr>
            <a:lvl2pPr marL="914400" marR="0" lvl="1" indent="-533400" algn="l" rtl="0">
              <a:lnSpc>
                <a:spcPct val="90000"/>
              </a:lnSpc>
              <a:spcBef>
                <a:spcPts val="1000"/>
              </a:spcBef>
              <a:spcAft>
                <a:spcPts val="0"/>
              </a:spcAft>
              <a:buClr>
                <a:schemeClr val="dk1"/>
              </a:buClr>
              <a:buSzPts val="4800"/>
              <a:buFont typeface="Arial"/>
              <a:buChar char="•"/>
              <a:defRPr sz="4800" b="0" i="0" u="none" strike="noStrike" cap="none">
                <a:solidFill>
                  <a:schemeClr val="dk1"/>
                </a:solidFill>
                <a:latin typeface="Calibri"/>
                <a:ea typeface="Calibri"/>
                <a:cs typeface="Calibri"/>
                <a:sym typeface="Calibri"/>
              </a:defRPr>
            </a:lvl2pPr>
            <a:lvl3pPr marL="1371600" marR="0" lvl="2" indent="-482600" algn="l" rtl="0">
              <a:lnSpc>
                <a:spcPct val="90000"/>
              </a:lnSpc>
              <a:spcBef>
                <a:spcPts val="1000"/>
              </a:spcBef>
              <a:spcAft>
                <a:spcPts val="0"/>
              </a:spcAft>
              <a:buClr>
                <a:schemeClr val="dk1"/>
              </a:buClr>
              <a:buSzPts val="4000"/>
              <a:buFont typeface="Arial"/>
              <a:buChar char="•"/>
              <a:defRPr sz="4000" b="0" i="0" u="none" strike="noStrike" cap="none">
                <a:solidFill>
                  <a:schemeClr val="dk1"/>
                </a:solidFill>
                <a:latin typeface="Calibri"/>
                <a:ea typeface="Calibri"/>
                <a:cs typeface="Calibri"/>
                <a:sym typeface="Calibri"/>
              </a:defRPr>
            </a:lvl3pPr>
            <a:lvl4pPr marL="1828800" marR="0" lvl="3" indent="-457200" algn="l" rtl="0">
              <a:lnSpc>
                <a:spcPct val="90000"/>
              </a:lnSpc>
              <a:spcBef>
                <a:spcPts val="1000"/>
              </a:spcBef>
              <a:spcAft>
                <a:spcPts val="0"/>
              </a:spcAft>
              <a:buClr>
                <a:schemeClr val="dk1"/>
              </a:buClr>
              <a:buSzPts val="3600"/>
              <a:buFont typeface="Arial"/>
              <a:buChar char="•"/>
              <a:defRPr sz="3600" b="0" i="0" u="none" strike="noStrike" cap="none">
                <a:solidFill>
                  <a:schemeClr val="dk1"/>
                </a:solidFill>
                <a:latin typeface="Calibri"/>
                <a:ea typeface="Calibri"/>
                <a:cs typeface="Calibri"/>
                <a:sym typeface="Calibri"/>
              </a:defRPr>
            </a:lvl4pPr>
            <a:lvl5pPr marL="2286000" marR="0" lvl="4" indent="-457200" algn="l" rtl="0">
              <a:lnSpc>
                <a:spcPct val="90000"/>
              </a:lnSpc>
              <a:spcBef>
                <a:spcPts val="1000"/>
              </a:spcBef>
              <a:spcAft>
                <a:spcPts val="0"/>
              </a:spcAft>
              <a:buClr>
                <a:schemeClr val="dk1"/>
              </a:buClr>
              <a:buSzPts val="3600"/>
              <a:buFont typeface="Arial"/>
              <a:buChar char="•"/>
              <a:defRPr sz="3600" b="0" i="0" u="none" strike="noStrike" cap="none">
                <a:solidFill>
                  <a:schemeClr val="dk1"/>
                </a:solidFill>
                <a:latin typeface="Calibri"/>
                <a:ea typeface="Calibri"/>
                <a:cs typeface="Calibri"/>
                <a:sym typeface="Calibri"/>
              </a:defRPr>
            </a:lvl5pPr>
            <a:lvl6pPr marL="2743200" marR="0" lvl="5" indent="-457200" algn="l" rtl="0">
              <a:lnSpc>
                <a:spcPct val="90000"/>
              </a:lnSpc>
              <a:spcBef>
                <a:spcPts val="1000"/>
              </a:spcBef>
              <a:spcAft>
                <a:spcPts val="0"/>
              </a:spcAft>
              <a:buClr>
                <a:schemeClr val="dk1"/>
              </a:buClr>
              <a:buSzPts val="3600"/>
              <a:buFont typeface="Arial"/>
              <a:buChar char="•"/>
              <a:defRPr sz="3600" b="0" i="0" u="none" strike="noStrike" cap="none">
                <a:solidFill>
                  <a:schemeClr val="dk1"/>
                </a:solidFill>
                <a:latin typeface="Calibri"/>
                <a:ea typeface="Calibri"/>
                <a:cs typeface="Calibri"/>
                <a:sym typeface="Calibri"/>
              </a:defRPr>
            </a:lvl6pPr>
            <a:lvl7pPr marL="3200400" marR="0" lvl="6" indent="-457200" algn="l" rtl="0">
              <a:lnSpc>
                <a:spcPct val="90000"/>
              </a:lnSpc>
              <a:spcBef>
                <a:spcPts val="1000"/>
              </a:spcBef>
              <a:spcAft>
                <a:spcPts val="0"/>
              </a:spcAft>
              <a:buClr>
                <a:schemeClr val="dk1"/>
              </a:buClr>
              <a:buSzPts val="3600"/>
              <a:buFont typeface="Arial"/>
              <a:buChar char="•"/>
              <a:defRPr sz="3600" b="0" i="0" u="none" strike="noStrike" cap="none">
                <a:solidFill>
                  <a:schemeClr val="dk1"/>
                </a:solidFill>
                <a:latin typeface="Calibri"/>
                <a:ea typeface="Calibri"/>
                <a:cs typeface="Calibri"/>
                <a:sym typeface="Calibri"/>
              </a:defRPr>
            </a:lvl7pPr>
            <a:lvl8pPr marL="3657600" marR="0" lvl="7" indent="-457200" algn="l" rtl="0">
              <a:lnSpc>
                <a:spcPct val="90000"/>
              </a:lnSpc>
              <a:spcBef>
                <a:spcPts val="1000"/>
              </a:spcBef>
              <a:spcAft>
                <a:spcPts val="0"/>
              </a:spcAft>
              <a:buClr>
                <a:schemeClr val="dk1"/>
              </a:buClr>
              <a:buSzPts val="3600"/>
              <a:buFont typeface="Arial"/>
              <a:buChar char="•"/>
              <a:defRPr sz="3600" b="0" i="0" u="none" strike="noStrike" cap="none">
                <a:solidFill>
                  <a:schemeClr val="dk1"/>
                </a:solidFill>
                <a:latin typeface="Calibri"/>
                <a:ea typeface="Calibri"/>
                <a:cs typeface="Calibri"/>
                <a:sym typeface="Calibri"/>
              </a:defRPr>
            </a:lvl8pPr>
            <a:lvl9pPr marL="4114800" marR="0" lvl="8" indent="-457200" algn="l" rtl="0">
              <a:lnSpc>
                <a:spcPct val="90000"/>
              </a:lnSpc>
              <a:spcBef>
                <a:spcPts val="1000"/>
              </a:spcBef>
              <a:spcAft>
                <a:spcPts val="0"/>
              </a:spcAft>
              <a:buClr>
                <a:schemeClr val="dk1"/>
              </a:buClr>
              <a:buSzPts val="3600"/>
              <a:buFont typeface="Arial"/>
              <a:buChar char="•"/>
              <a:defRPr sz="36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dt" idx="10"/>
          </p:nvPr>
        </p:nvSpPr>
        <p:spPr>
          <a:xfrm>
            <a:off x="1676400" y="12712701"/>
            <a:ext cx="5486400" cy="73025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24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ftr" idx="11"/>
          </p:nvPr>
        </p:nvSpPr>
        <p:spPr>
          <a:xfrm>
            <a:off x="8077200" y="12712701"/>
            <a:ext cx="8229600" cy="73025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24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3600" b="0" i="0" u="none" strike="noStrike" cap="none">
                <a:solidFill>
                  <a:schemeClr val="dk1"/>
                </a:solidFill>
                <a:latin typeface="Calibri"/>
                <a:ea typeface="Calibri"/>
                <a:cs typeface="Calibri"/>
                <a:sym typeface="Calibri"/>
              </a:defRPr>
            </a:lvl9pPr>
          </a:lstStyle>
          <a:p>
            <a:endParaRPr/>
          </a:p>
        </p:txBody>
      </p:sp>
      <p:sp>
        <p:nvSpPr>
          <p:cNvPr id="15" name="Google Shape;15;p1"/>
          <p:cNvSpPr txBox="1">
            <a:spLocks noGrp="1"/>
          </p:cNvSpPr>
          <p:nvPr>
            <p:ph type="sldNum" idx="12"/>
          </p:nvPr>
        </p:nvSpPr>
        <p:spPr>
          <a:xfrm>
            <a:off x="17221200" y="12712701"/>
            <a:ext cx="5486400" cy="73025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2400" b="0" i="0" u="none" strike="noStrike" cap="none">
                <a:solidFill>
                  <a:srgbClr val="888888"/>
                </a:solidFill>
                <a:latin typeface="Calibri"/>
                <a:ea typeface="Calibri"/>
                <a:cs typeface="Calibri"/>
                <a:sym typeface="Calibri"/>
              </a:defRPr>
            </a:lvl1pPr>
            <a:lvl2pPr marL="0" marR="0" lvl="1" indent="0" algn="r" rtl="0">
              <a:spcBef>
                <a:spcPts val="0"/>
              </a:spcBef>
              <a:buNone/>
              <a:defRPr sz="2400" b="0" i="0" u="none" strike="noStrike" cap="none">
                <a:solidFill>
                  <a:srgbClr val="888888"/>
                </a:solidFill>
                <a:latin typeface="Calibri"/>
                <a:ea typeface="Calibri"/>
                <a:cs typeface="Calibri"/>
                <a:sym typeface="Calibri"/>
              </a:defRPr>
            </a:lvl2pPr>
            <a:lvl3pPr marL="0" marR="0" lvl="2" indent="0" algn="r" rtl="0">
              <a:spcBef>
                <a:spcPts val="0"/>
              </a:spcBef>
              <a:buNone/>
              <a:defRPr sz="2400" b="0" i="0" u="none" strike="noStrike" cap="none">
                <a:solidFill>
                  <a:srgbClr val="888888"/>
                </a:solidFill>
                <a:latin typeface="Calibri"/>
                <a:ea typeface="Calibri"/>
                <a:cs typeface="Calibri"/>
                <a:sym typeface="Calibri"/>
              </a:defRPr>
            </a:lvl3pPr>
            <a:lvl4pPr marL="0" marR="0" lvl="3" indent="0" algn="r" rtl="0">
              <a:spcBef>
                <a:spcPts val="0"/>
              </a:spcBef>
              <a:buNone/>
              <a:defRPr sz="2400" b="0" i="0" u="none" strike="noStrike" cap="none">
                <a:solidFill>
                  <a:srgbClr val="888888"/>
                </a:solidFill>
                <a:latin typeface="Calibri"/>
                <a:ea typeface="Calibri"/>
                <a:cs typeface="Calibri"/>
                <a:sym typeface="Calibri"/>
              </a:defRPr>
            </a:lvl4pPr>
            <a:lvl5pPr marL="0" marR="0" lvl="4" indent="0" algn="r" rtl="0">
              <a:spcBef>
                <a:spcPts val="0"/>
              </a:spcBef>
              <a:buNone/>
              <a:defRPr sz="2400" b="0" i="0" u="none" strike="noStrike" cap="none">
                <a:solidFill>
                  <a:srgbClr val="888888"/>
                </a:solidFill>
                <a:latin typeface="Calibri"/>
                <a:ea typeface="Calibri"/>
                <a:cs typeface="Calibri"/>
                <a:sym typeface="Calibri"/>
              </a:defRPr>
            </a:lvl5pPr>
            <a:lvl6pPr marL="0" marR="0" lvl="5" indent="0" algn="r" rtl="0">
              <a:spcBef>
                <a:spcPts val="0"/>
              </a:spcBef>
              <a:buNone/>
              <a:defRPr sz="2400" b="0" i="0" u="none" strike="noStrike" cap="none">
                <a:solidFill>
                  <a:srgbClr val="888888"/>
                </a:solidFill>
                <a:latin typeface="Calibri"/>
                <a:ea typeface="Calibri"/>
                <a:cs typeface="Calibri"/>
                <a:sym typeface="Calibri"/>
              </a:defRPr>
            </a:lvl6pPr>
            <a:lvl7pPr marL="0" marR="0" lvl="6" indent="0" algn="r" rtl="0">
              <a:spcBef>
                <a:spcPts val="0"/>
              </a:spcBef>
              <a:buNone/>
              <a:defRPr sz="2400" b="0" i="0" u="none" strike="noStrike" cap="none">
                <a:solidFill>
                  <a:srgbClr val="888888"/>
                </a:solidFill>
                <a:latin typeface="Calibri"/>
                <a:ea typeface="Calibri"/>
                <a:cs typeface="Calibri"/>
                <a:sym typeface="Calibri"/>
              </a:defRPr>
            </a:lvl7pPr>
            <a:lvl8pPr marL="0" marR="0" lvl="7" indent="0" algn="r" rtl="0">
              <a:spcBef>
                <a:spcPts val="0"/>
              </a:spcBef>
              <a:buNone/>
              <a:defRPr sz="2400" b="0" i="0" u="none" strike="noStrike" cap="none">
                <a:solidFill>
                  <a:srgbClr val="888888"/>
                </a:solidFill>
                <a:latin typeface="Calibri"/>
                <a:ea typeface="Calibri"/>
                <a:cs typeface="Calibri"/>
                <a:sym typeface="Calibri"/>
              </a:defRPr>
            </a:lvl8pPr>
            <a:lvl9pPr marL="0" marR="0" lvl="8" indent="0" algn="r" rtl="0">
              <a:spcBef>
                <a:spcPts val="0"/>
              </a:spcBef>
              <a:buNone/>
              <a:defRPr sz="24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1" hdr="1" ftr="1"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7.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7.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7.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7.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7.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7.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7.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7.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7.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7.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7.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7.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1280160"/>
          </a:xfrm>
          <a:prstGeom prst="rect">
            <a:avLst/>
          </a:prstGeom>
          <a:solidFill>
            <a:srgbClr val="0D1B2A"/>
          </a:solidFill>
          <a:ln w="12700">
            <a:solidFill>
              <a:srgbClr val="0D1B2A"/>
            </a:solidFill>
            <a:prstDash val="solid"/>
          </a:ln>
        </p:spPr>
      </p:sp>
      <p:sp>
        <p:nvSpPr>
          <p:cNvPr id="3" name="Text 1"/>
          <p:cNvSpPr/>
          <p:nvPr/>
        </p:nvSpPr>
        <p:spPr>
          <a:xfrm>
            <a:off x="457200" y="91440"/>
            <a:ext cx="8229600" cy="274320"/>
          </a:xfrm>
          <a:prstGeom prst="rect">
            <a:avLst/>
          </a:prstGeom>
          <a:noFill/>
          <a:ln/>
        </p:spPr>
        <p:txBody>
          <a:bodyPr wrap="square" lIns="0" tIns="0" rIns="0" bIns="0" rtlCol="0" anchor="ctr"/>
          <a:lstStyle/>
          <a:p>
            <a:pPr algn="ctr" indent="0" marL="0">
              <a:buNone/>
            </a:pPr>
            <a:r>
              <a:rPr lang="en-US" sz="900" b="1" spc="300" kern="0" dirty="0">
                <a:solidFill>
                  <a:srgbClr val="64748B"/>
                </a:solidFill>
                <a:latin typeface="Calibri" pitchFamily="34" charset="0"/>
                <a:ea typeface="Calibri" pitchFamily="34" charset="-122"/>
                <a:cs typeface="Calibri" pitchFamily="34" charset="-120"/>
              </a:rPr>
              <a:t>ALAMEIN INTERNATIONAL UNIVERSITY</a:t>
            </a:r>
            <a:endParaRPr lang="en-US" sz="900" dirty="0"/>
          </a:p>
        </p:txBody>
      </p:sp>
      <p:sp>
        <p:nvSpPr>
          <p:cNvPr id="4" name="Text 2"/>
          <p:cNvSpPr/>
          <p:nvPr/>
        </p:nvSpPr>
        <p:spPr>
          <a:xfrm>
            <a:off x="457200" y="347472"/>
            <a:ext cx="8229600" cy="228600"/>
          </a:xfrm>
          <a:prstGeom prst="rect">
            <a:avLst/>
          </a:prstGeom>
          <a:noFill/>
          <a:ln/>
        </p:spPr>
        <p:txBody>
          <a:bodyPr wrap="square" lIns="0" tIns="0" rIns="0" bIns="0" rtlCol="0" anchor="ctr"/>
          <a:lstStyle/>
          <a:p>
            <a:pPr algn="ctr" indent="0" marL="0">
              <a:buNone/>
            </a:pPr>
            <a:r>
              <a:rPr lang="en-US" sz="1000" dirty="0">
                <a:solidFill>
                  <a:srgbClr val="CBD5E1"/>
                </a:solidFill>
                <a:latin typeface="Calibri" pitchFamily="34" charset="0"/>
                <a:ea typeface="Calibri" pitchFamily="34" charset="-122"/>
                <a:cs typeface="Calibri" pitchFamily="34" charset="-120"/>
              </a:rPr>
              <a:t>Faculty of Computer Science &amp; Engineering</a:t>
            </a:r>
            <a:endParaRPr lang="en-US" sz="1000" dirty="0"/>
          </a:p>
        </p:txBody>
      </p:sp>
      <p:sp>
        <p:nvSpPr>
          <p:cNvPr id="5" name="Text 3"/>
          <p:cNvSpPr/>
          <p:nvPr/>
        </p:nvSpPr>
        <p:spPr>
          <a:xfrm>
            <a:off x="457200" y="585216"/>
            <a:ext cx="8229600" cy="228600"/>
          </a:xfrm>
          <a:prstGeom prst="rect">
            <a:avLst/>
          </a:prstGeom>
          <a:noFill/>
          <a:ln/>
        </p:spPr>
        <p:txBody>
          <a:bodyPr wrap="square" lIns="0" tIns="0" rIns="0" bIns="0" rtlCol="0" anchor="ctr"/>
          <a:lstStyle/>
          <a:p>
            <a:pPr algn="ctr" indent="0" marL="0">
              <a:buNone/>
            </a:pPr>
            <a:r>
              <a:rPr lang="en-US" sz="1000" dirty="0">
                <a:solidFill>
                  <a:srgbClr val="00D4FF"/>
                </a:solidFill>
                <a:latin typeface="Calibri" pitchFamily="34" charset="0"/>
                <a:ea typeface="Calibri" pitchFamily="34" charset="-122"/>
                <a:cs typeface="Calibri" pitchFamily="34" charset="-120"/>
              </a:rPr>
              <a:t>GP2 Mid-Term Defense — Spring 2026</a:t>
            </a:r>
            <a:endParaRPr lang="en-US" sz="1000" dirty="0"/>
          </a:p>
        </p:txBody>
      </p:sp>
      <p:sp>
        <p:nvSpPr>
          <p:cNvPr id="6" name="Text 4"/>
          <p:cNvSpPr/>
          <p:nvPr/>
        </p:nvSpPr>
        <p:spPr>
          <a:xfrm>
            <a:off x="457200" y="1417320"/>
            <a:ext cx="8229600" cy="960120"/>
          </a:xfrm>
          <a:prstGeom prst="rect">
            <a:avLst/>
          </a:prstGeom>
          <a:noFill/>
          <a:ln/>
        </p:spPr>
        <p:txBody>
          <a:bodyPr wrap="square" lIns="0" tIns="0" rIns="0" bIns="0" rtlCol="0" anchor="ctr"/>
          <a:lstStyle/>
          <a:p>
            <a:pPr algn="ctr" indent="0" marL="0">
              <a:buNone/>
            </a:pPr>
            <a:r>
              <a:rPr lang="en-US" sz="6000" b="1" dirty="0">
                <a:solidFill>
                  <a:srgbClr val="00D4FF"/>
                </a:solidFill>
                <a:latin typeface="Calibri" pitchFamily="34" charset="0"/>
                <a:ea typeface="Calibri" pitchFamily="34" charset="-122"/>
                <a:cs typeface="Calibri" pitchFamily="34" charset="-120"/>
              </a:rPr>
              <a:t>SecureSight</a:t>
            </a:r>
            <a:endParaRPr lang="en-US" sz="6000" dirty="0"/>
          </a:p>
        </p:txBody>
      </p:sp>
      <p:sp>
        <p:nvSpPr>
          <p:cNvPr id="7" name="Text 5"/>
          <p:cNvSpPr/>
          <p:nvPr/>
        </p:nvSpPr>
        <p:spPr>
          <a:xfrm>
            <a:off x="457200" y="2395728"/>
            <a:ext cx="8229600" cy="658368"/>
          </a:xfrm>
          <a:prstGeom prst="rect">
            <a:avLst/>
          </a:prstGeom>
          <a:noFill/>
          <a:ln/>
        </p:spPr>
        <p:txBody>
          <a:bodyPr wrap="square" lIns="0" tIns="0" rIns="0" bIns="0" rtlCol="0" anchor="ctr"/>
          <a:lstStyle/>
          <a:p>
            <a:pPr algn="ctr" indent="0" marL="0">
              <a:buNone/>
            </a:pPr>
            <a:r>
              <a:rPr lang="en-US" sz="1800" dirty="0">
                <a:solidFill>
                  <a:srgbClr val="FFFFFF"/>
                </a:solidFill>
                <a:latin typeface="Calibri" pitchFamily="34" charset="0"/>
                <a:ea typeface="Calibri" pitchFamily="34" charset="-122"/>
                <a:cs typeface="Calibri" pitchFamily="34" charset="-120"/>
              </a:rPr>
              <a:t>Smart Surveillance System to Detect</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Unusual Activities in Real Time</a:t>
            </a:r>
            <a:endParaRPr lang="en-US" sz="1800" dirty="0"/>
          </a:p>
        </p:txBody>
      </p:sp>
      <p:sp>
        <p:nvSpPr>
          <p:cNvPr id="8" name="Text 6"/>
          <p:cNvSpPr/>
          <p:nvPr/>
        </p:nvSpPr>
        <p:spPr>
          <a:xfrm>
            <a:off x="457200" y="3218688"/>
            <a:ext cx="8229600" cy="292608"/>
          </a:xfrm>
          <a:prstGeom prst="rect">
            <a:avLst/>
          </a:prstGeom>
          <a:noFill/>
          <a:ln/>
        </p:spPr>
        <p:txBody>
          <a:bodyPr wrap="square" lIns="0" tIns="0" rIns="0" bIns="0" rtlCol="0" anchor="ctr"/>
          <a:lstStyle/>
          <a:p>
            <a:pPr algn="ctr" indent="0" marL="0">
              <a:buNone/>
            </a:pPr>
            <a:r>
              <a:rPr lang="en-US" sz="1050" dirty="0">
                <a:solidFill>
                  <a:srgbClr val="CBD5E1"/>
                </a:solidFill>
                <a:latin typeface="Calibri" pitchFamily="34" charset="0"/>
                <a:ea typeface="Calibri" pitchFamily="34" charset="-122"/>
                <a:cs typeface="Calibri" pitchFamily="34" charset="-120"/>
              </a:rPr>
              <a:t>Ahmed Mostafa   |   Mohamed Hassona   |   Abdullah Abdalgawad   |   Omnia Adel   |   Mariam Elrafei   |   Khalid Abdelsalam   |   Tasneem Ibrahim</a:t>
            </a:r>
            <a:endParaRPr lang="en-US" sz="1050" dirty="0"/>
          </a:p>
        </p:txBody>
      </p:sp>
      <p:sp>
        <p:nvSpPr>
          <p:cNvPr id="9" name="Text 7"/>
          <p:cNvSpPr/>
          <p:nvPr/>
        </p:nvSpPr>
        <p:spPr>
          <a:xfrm>
            <a:off x="457200" y="3538728"/>
            <a:ext cx="8229600" cy="256032"/>
          </a:xfrm>
          <a:prstGeom prst="rect">
            <a:avLst/>
          </a:prstGeom>
          <a:noFill/>
          <a:ln/>
        </p:spPr>
        <p:txBody>
          <a:bodyPr wrap="square" lIns="0" tIns="0" rIns="0" bIns="0" rtlCol="0" anchor="ctr"/>
          <a:lstStyle/>
          <a:p>
            <a:pPr algn="ctr" indent="0" marL="0">
              <a:buNone/>
            </a:pPr>
            <a:r>
              <a:rPr lang="en-US" sz="1100" b="1" dirty="0">
                <a:solidFill>
                  <a:srgbClr val="10B981"/>
                </a:solidFill>
                <a:latin typeface="Calibri" pitchFamily="34" charset="0"/>
                <a:ea typeface="Calibri" pitchFamily="34" charset="-122"/>
                <a:cs typeface="Calibri" pitchFamily="34" charset="-120"/>
              </a:rPr>
              <a:t>Supervised by Dr. Essam Abdellatef</a:t>
            </a:r>
            <a:endParaRPr lang="en-US" sz="1100" dirty="0"/>
          </a:p>
        </p:txBody>
      </p:sp>
      <p:sp>
        <p:nvSpPr>
          <p:cNvPr id="10" name="Shape 8"/>
          <p:cNvSpPr/>
          <p:nvPr/>
        </p:nvSpPr>
        <p:spPr>
          <a:xfrm>
            <a:off x="0" y="4553712"/>
            <a:ext cx="9144000" cy="594360"/>
          </a:xfrm>
          <a:prstGeom prst="rect">
            <a:avLst/>
          </a:prstGeom>
          <a:solidFill>
            <a:srgbClr val="0D1B2A"/>
          </a:solidFill>
          <a:ln w="12700">
            <a:solidFill>
              <a:srgbClr val="0D1B2A"/>
            </a:solidFill>
            <a:prstDash val="solid"/>
          </a:ln>
        </p:spPr>
      </p:sp>
      <p:sp>
        <p:nvSpPr>
          <p:cNvPr id="11" name="Text 9"/>
          <p:cNvSpPr/>
          <p:nvPr/>
        </p:nvSpPr>
        <p:spPr>
          <a:xfrm>
            <a:off x="457200" y="4599432"/>
            <a:ext cx="8229600" cy="27432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ResNet-50  ·  R(2+1)D  ·  Vision Transformer  ·  UCF-Crime Dataset  ·  Real-Time Anomaly Detection</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1 · INTRODUCTION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Project Overview</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14400"/>
            <a:ext cx="1920240" cy="3566160"/>
          </a:xfrm>
          <a:prstGeom prst="roundRect">
            <a:avLst>
              <a:gd name="adj" fmla="val 3810"/>
            </a:avLst>
          </a:prstGeom>
          <a:solidFill>
            <a:srgbClr val="111D2E"/>
          </a:solidFill>
          <a:ln/>
          <a:effectLst>
            <a:outerShdw sx="100000" sy="100000" kx="0" ky="0" algn="bl" rotWithShape="0" blurRad="101600" dist="25400" dir="2700000">
              <a:srgbClr val="000000">
                <a:alpha val="25000"/>
              </a:srgbClr>
            </a:outerShdw>
          </a:effectLst>
        </p:spPr>
      </p:sp>
      <p:sp>
        <p:nvSpPr>
          <p:cNvPr id="7" name="Text 5"/>
          <p:cNvSpPr/>
          <p:nvPr/>
        </p:nvSpPr>
        <p:spPr>
          <a:xfrm>
            <a:off x="566928" y="987552"/>
            <a:ext cx="1700784"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  Goal</a:t>
            </a:r>
            <a:endParaRPr lang="en-US" sz="1200" dirty="0"/>
          </a:p>
        </p:txBody>
      </p:sp>
      <p:sp>
        <p:nvSpPr>
          <p:cNvPr id="8" name="Text 6"/>
          <p:cNvSpPr/>
          <p:nvPr/>
        </p:nvSpPr>
        <p:spPr>
          <a:xfrm>
            <a:off x="566928" y="1298448"/>
            <a:ext cx="1700784" cy="306324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Transform passive CCTV networks into active, real-time anomaly detection systems capable of immediate alert routing.</a:t>
            </a:r>
            <a:endParaRPr lang="en-US" sz="1100" dirty="0"/>
          </a:p>
        </p:txBody>
      </p:sp>
      <p:sp>
        <p:nvSpPr>
          <p:cNvPr id="9" name="Shape 7"/>
          <p:cNvSpPr/>
          <p:nvPr/>
        </p:nvSpPr>
        <p:spPr>
          <a:xfrm>
            <a:off x="2542032" y="914400"/>
            <a:ext cx="1920240" cy="3566160"/>
          </a:xfrm>
          <a:prstGeom prst="roundRect">
            <a:avLst>
              <a:gd name="adj" fmla="val 3810"/>
            </a:avLst>
          </a:prstGeom>
          <a:solidFill>
            <a:srgbClr val="111D2E"/>
          </a:solidFill>
          <a:ln/>
          <a:effectLst>
            <a:outerShdw sx="100000" sy="100000" kx="0" ky="0" algn="bl" rotWithShape="0" blurRad="101600" dist="25400" dir="2700000">
              <a:srgbClr val="000000">
                <a:alpha val="25000"/>
              </a:srgbClr>
            </a:outerShdw>
          </a:effectLst>
        </p:spPr>
      </p:sp>
      <p:sp>
        <p:nvSpPr>
          <p:cNvPr id="10" name="Text 8"/>
          <p:cNvSpPr/>
          <p:nvPr/>
        </p:nvSpPr>
        <p:spPr>
          <a:xfrm>
            <a:off x="2651760" y="987552"/>
            <a:ext cx="1700784"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  Core Technology</a:t>
            </a:r>
            <a:endParaRPr lang="en-US" sz="1200" dirty="0"/>
          </a:p>
        </p:txBody>
      </p:sp>
      <p:sp>
        <p:nvSpPr>
          <p:cNvPr id="11" name="Text 9"/>
          <p:cNvSpPr/>
          <p:nvPr/>
        </p:nvSpPr>
        <p:spPr>
          <a:xfrm>
            <a:off x="2651760" y="1298448"/>
            <a:ext cx="1700784" cy="306324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Dual-stream deep learning: ResNet-50 (spatial) + R(2+1)D (temporal) fused with a Vision Transformer sequence encoder.</a:t>
            </a:r>
            <a:endParaRPr lang="en-US" sz="1100" dirty="0"/>
          </a:p>
        </p:txBody>
      </p:sp>
      <p:sp>
        <p:nvSpPr>
          <p:cNvPr id="12" name="Shape 10"/>
          <p:cNvSpPr/>
          <p:nvPr/>
        </p:nvSpPr>
        <p:spPr>
          <a:xfrm>
            <a:off x="4626864" y="914400"/>
            <a:ext cx="1920240" cy="3566160"/>
          </a:xfrm>
          <a:prstGeom prst="roundRect">
            <a:avLst>
              <a:gd name="adj" fmla="val 3810"/>
            </a:avLst>
          </a:prstGeom>
          <a:solidFill>
            <a:srgbClr val="111D2E"/>
          </a:solidFill>
          <a:ln/>
          <a:effectLst>
            <a:outerShdw sx="100000" sy="100000" kx="0" ky="0" algn="bl" rotWithShape="0" blurRad="101600" dist="25400" dir="2700000">
              <a:srgbClr val="000000">
                <a:alpha val="25000"/>
              </a:srgbClr>
            </a:outerShdw>
          </a:effectLst>
        </p:spPr>
      </p:sp>
      <p:sp>
        <p:nvSpPr>
          <p:cNvPr id="13" name="Text 11"/>
          <p:cNvSpPr/>
          <p:nvPr/>
        </p:nvSpPr>
        <p:spPr>
          <a:xfrm>
            <a:off x="4736592" y="987552"/>
            <a:ext cx="1700784"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  Dataset</a:t>
            </a:r>
            <a:endParaRPr lang="en-US" sz="1200" dirty="0"/>
          </a:p>
        </p:txBody>
      </p:sp>
      <p:sp>
        <p:nvSpPr>
          <p:cNvPr id="14" name="Text 12"/>
          <p:cNvSpPr/>
          <p:nvPr/>
        </p:nvSpPr>
        <p:spPr>
          <a:xfrm>
            <a:off x="4736592" y="1298448"/>
            <a:ext cx="1700784" cy="306324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UCF-Crime benchmark — 14 crime classes, 128 hours, trained on precise clip-level temporal annotations.</a:t>
            </a:r>
            <a:endParaRPr lang="en-US" sz="1100" dirty="0"/>
          </a:p>
        </p:txBody>
      </p:sp>
      <p:sp>
        <p:nvSpPr>
          <p:cNvPr id="15" name="Shape 13"/>
          <p:cNvSpPr/>
          <p:nvPr/>
        </p:nvSpPr>
        <p:spPr>
          <a:xfrm>
            <a:off x="6711696" y="914400"/>
            <a:ext cx="1920240" cy="3566160"/>
          </a:xfrm>
          <a:prstGeom prst="roundRect">
            <a:avLst>
              <a:gd name="adj" fmla="val 3810"/>
            </a:avLst>
          </a:prstGeom>
          <a:solidFill>
            <a:srgbClr val="111D2E"/>
          </a:solidFill>
          <a:ln/>
          <a:effectLst>
            <a:outerShdw sx="100000" sy="100000" kx="0" ky="0" algn="bl" rotWithShape="0" blurRad="101600" dist="25400" dir="2700000">
              <a:srgbClr val="000000">
                <a:alpha val="25000"/>
              </a:srgbClr>
            </a:outerShdw>
          </a:effectLst>
        </p:spPr>
      </p:sp>
      <p:sp>
        <p:nvSpPr>
          <p:cNvPr id="16" name="Text 14"/>
          <p:cNvSpPr/>
          <p:nvPr/>
        </p:nvSpPr>
        <p:spPr>
          <a:xfrm>
            <a:off x="6821424" y="987552"/>
            <a:ext cx="1700784"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  Output</a:t>
            </a:r>
            <a:endParaRPr lang="en-US" sz="1200" dirty="0"/>
          </a:p>
        </p:txBody>
      </p:sp>
      <p:sp>
        <p:nvSpPr>
          <p:cNvPr id="17" name="Text 15"/>
          <p:cNvSpPr/>
          <p:nvPr/>
        </p:nvSpPr>
        <p:spPr>
          <a:xfrm>
            <a:off x="6821424" y="1298448"/>
            <a:ext cx="1700784" cy="306324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Multi-class anomaly classification with role-differentiated alert routing (Police, EMS, Fire) via MQTT protocol.</a:t>
            </a:r>
            <a:endParaRPr lang="en-US" sz="1100" dirty="0"/>
          </a:p>
        </p:txBody>
      </p:sp>
      <p:sp>
        <p:nvSpPr>
          <p:cNvPr id="18" name="Text 16"/>
          <p:cNvSpPr/>
          <p:nvPr/>
        </p:nvSpPr>
        <p:spPr>
          <a:xfrm>
            <a:off x="457200" y="4617720"/>
            <a:ext cx="8229600" cy="292608"/>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Peak Performance: </a:t>
            </a:r>
            <a:pPr indent="0" marL="0">
              <a:buNone/>
            </a:pPr>
            <a:r>
              <a:rPr lang="en-US" sz="1200" dirty="0">
                <a:solidFill>
                  <a:srgbClr val="CBD5E1"/>
                </a:solidFill>
                <a:latin typeface="Calibri" pitchFamily="34" charset="0"/>
                <a:ea typeface="Calibri" pitchFamily="34" charset="-122"/>
                <a:cs typeface="Calibri" pitchFamily="34" charset="-120"/>
              </a:rPr>
              <a:t>91.6% Accuracy  |  91.5% F1  |  9.86ms Latency  |  Mean AUC 0.89</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1 · INTRODUCTION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Problem Statement</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60120"/>
            <a:ext cx="2606040" cy="3794760"/>
          </a:xfrm>
          <a:prstGeom prst="roundRect">
            <a:avLst>
              <a:gd name="adj" fmla="val 2807"/>
            </a:avLst>
          </a:prstGeom>
          <a:solidFill>
            <a:srgbClr val="111D2E"/>
          </a:solidFill>
          <a:ln/>
        </p:spPr>
      </p:sp>
      <p:sp>
        <p:nvSpPr>
          <p:cNvPr id="7" name="Text 5"/>
          <p:cNvSpPr/>
          <p:nvPr/>
        </p:nvSpPr>
        <p:spPr>
          <a:xfrm>
            <a:off x="566928" y="1024128"/>
            <a:ext cx="2377440" cy="502920"/>
          </a:xfrm>
          <a:prstGeom prst="rect">
            <a:avLst/>
          </a:prstGeom>
          <a:noFill/>
          <a:ln/>
        </p:spPr>
        <p:txBody>
          <a:bodyPr wrap="square" lIns="0" tIns="0" rIns="0" bIns="0" rtlCol="0" anchor="ctr"/>
          <a:lstStyle/>
          <a:p>
            <a:pPr indent="0" marL="0">
              <a:buNone/>
            </a:pPr>
            <a:r>
              <a:rPr lang="en-US" sz="3200" b="1" dirty="0">
                <a:solidFill>
                  <a:srgbClr val="EF4444"/>
                </a:solidFill>
                <a:latin typeface="Calibri" pitchFamily="34" charset="0"/>
                <a:ea typeface="Calibri" pitchFamily="34" charset="-122"/>
                <a:cs typeface="Calibri" pitchFamily="34" charset="-120"/>
              </a:rPr>
              <a:t>01</a:t>
            </a:r>
            <a:endParaRPr lang="en-US" sz="3200" dirty="0"/>
          </a:p>
        </p:txBody>
      </p:sp>
      <p:sp>
        <p:nvSpPr>
          <p:cNvPr id="8" name="Text 6"/>
          <p:cNvSpPr/>
          <p:nvPr/>
        </p:nvSpPr>
        <p:spPr>
          <a:xfrm>
            <a:off x="566928" y="1536192"/>
            <a:ext cx="237744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Passive Utilization</a:t>
            </a:r>
            <a:endParaRPr lang="en-US" sz="1300" dirty="0"/>
          </a:p>
        </p:txBody>
      </p:sp>
      <p:sp>
        <p:nvSpPr>
          <p:cNvPr id="9" name="Shape 7"/>
          <p:cNvSpPr/>
          <p:nvPr/>
        </p:nvSpPr>
        <p:spPr>
          <a:xfrm>
            <a:off x="566928" y="1883664"/>
            <a:ext cx="2377440" cy="22860"/>
          </a:xfrm>
          <a:prstGeom prst="rect">
            <a:avLst/>
          </a:prstGeom>
          <a:solidFill>
            <a:srgbClr val="EF4444"/>
          </a:solidFill>
          <a:ln w="12700">
            <a:solidFill>
              <a:srgbClr val="EF4444"/>
            </a:solidFill>
            <a:prstDash val="solid"/>
          </a:ln>
        </p:spPr>
      </p:sp>
      <p:sp>
        <p:nvSpPr>
          <p:cNvPr id="10" name="Text 8"/>
          <p:cNvSpPr/>
          <p:nvPr/>
        </p:nvSpPr>
        <p:spPr>
          <a:xfrm>
            <a:off x="566928" y="1965960"/>
            <a:ext cx="2377440" cy="2743200"/>
          </a:xfrm>
          <a:prstGeom prst="rect">
            <a:avLst/>
          </a:prstGeom>
          <a:noFill/>
          <a:ln/>
        </p:spPr>
        <p:txBody>
          <a:bodyPr wrap="square" lIns="0" tIns="0" rIns="0" bIns="0" rtlCol="0" anchor="t"/>
          <a:lstStyle/>
          <a:p>
            <a:pPr indent="0" marL="0">
              <a:buNone/>
            </a:pPr>
            <a:r>
              <a:rPr lang="en-US" sz="1150" dirty="0">
                <a:solidFill>
                  <a:srgbClr val="CBD5E1"/>
                </a:solidFill>
                <a:latin typeface="Calibri" pitchFamily="34" charset="0"/>
                <a:ea typeface="Calibri" pitchFamily="34" charset="-122"/>
                <a:cs typeface="Calibri" pitchFamily="34" charset="-120"/>
              </a:rPr>
              <a:t>Over 1 billion CCTV cameras globally capture footage that is never analyzed. Human operators miss events due to cognitive fatigue within 30 minutes of monitoring.</a:t>
            </a:r>
            <a:endParaRPr lang="en-US" sz="1150" dirty="0"/>
          </a:p>
        </p:txBody>
      </p:sp>
      <p:sp>
        <p:nvSpPr>
          <p:cNvPr id="11" name="Shape 9"/>
          <p:cNvSpPr/>
          <p:nvPr/>
        </p:nvSpPr>
        <p:spPr>
          <a:xfrm>
            <a:off x="3273552" y="960120"/>
            <a:ext cx="2606040" cy="3794760"/>
          </a:xfrm>
          <a:prstGeom prst="roundRect">
            <a:avLst>
              <a:gd name="adj" fmla="val 2807"/>
            </a:avLst>
          </a:prstGeom>
          <a:solidFill>
            <a:srgbClr val="111D2E"/>
          </a:solidFill>
          <a:ln/>
        </p:spPr>
      </p:sp>
      <p:sp>
        <p:nvSpPr>
          <p:cNvPr id="12" name="Text 10"/>
          <p:cNvSpPr/>
          <p:nvPr/>
        </p:nvSpPr>
        <p:spPr>
          <a:xfrm>
            <a:off x="3383280" y="1024128"/>
            <a:ext cx="2377440" cy="502920"/>
          </a:xfrm>
          <a:prstGeom prst="rect">
            <a:avLst/>
          </a:prstGeom>
          <a:noFill/>
          <a:ln/>
        </p:spPr>
        <p:txBody>
          <a:bodyPr wrap="square" lIns="0" tIns="0" rIns="0" bIns="0" rtlCol="0" anchor="ctr"/>
          <a:lstStyle/>
          <a:p>
            <a:pPr indent="0" marL="0">
              <a:buNone/>
            </a:pPr>
            <a:r>
              <a:rPr lang="en-US" sz="3200" b="1" dirty="0">
                <a:solidFill>
                  <a:srgbClr val="EF4444"/>
                </a:solidFill>
                <a:latin typeface="Calibri" pitchFamily="34" charset="0"/>
                <a:ea typeface="Calibri" pitchFamily="34" charset="-122"/>
                <a:cs typeface="Calibri" pitchFamily="34" charset="-120"/>
              </a:rPr>
              <a:t>02</a:t>
            </a:r>
            <a:endParaRPr lang="en-US" sz="3200" dirty="0"/>
          </a:p>
        </p:txBody>
      </p:sp>
      <p:sp>
        <p:nvSpPr>
          <p:cNvPr id="13" name="Text 11"/>
          <p:cNvSpPr/>
          <p:nvPr/>
        </p:nvSpPr>
        <p:spPr>
          <a:xfrm>
            <a:off x="3383280" y="1536192"/>
            <a:ext cx="237744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Modality Silos</a:t>
            </a:r>
            <a:endParaRPr lang="en-US" sz="1300" dirty="0"/>
          </a:p>
        </p:txBody>
      </p:sp>
      <p:sp>
        <p:nvSpPr>
          <p:cNvPr id="14" name="Shape 12"/>
          <p:cNvSpPr/>
          <p:nvPr/>
        </p:nvSpPr>
        <p:spPr>
          <a:xfrm>
            <a:off x="3383280" y="1883664"/>
            <a:ext cx="2377440" cy="22860"/>
          </a:xfrm>
          <a:prstGeom prst="rect">
            <a:avLst/>
          </a:prstGeom>
          <a:solidFill>
            <a:srgbClr val="EF4444"/>
          </a:solidFill>
          <a:ln w="12700">
            <a:solidFill>
              <a:srgbClr val="EF4444"/>
            </a:solidFill>
            <a:prstDash val="solid"/>
          </a:ln>
        </p:spPr>
      </p:sp>
      <p:sp>
        <p:nvSpPr>
          <p:cNvPr id="15" name="Text 13"/>
          <p:cNvSpPr/>
          <p:nvPr/>
        </p:nvSpPr>
        <p:spPr>
          <a:xfrm>
            <a:off x="3383280" y="1965960"/>
            <a:ext cx="2377440" cy="2743200"/>
          </a:xfrm>
          <a:prstGeom prst="rect">
            <a:avLst/>
          </a:prstGeom>
          <a:noFill/>
          <a:ln/>
        </p:spPr>
        <p:txBody>
          <a:bodyPr wrap="square" lIns="0" tIns="0" rIns="0" bIns="0" rtlCol="0" anchor="t"/>
          <a:lstStyle/>
          <a:p>
            <a:pPr indent="0" marL="0">
              <a:buNone/>
            </a:pPr>
            <a:r>
              <a:rPr lang="en-US" sz="1150" dirty="0">
                <a:solidFill>
                  <a:srgbClr val="CBD5E1"/>
                </a:solidFill>
                <a:latin typeface="Calibri" pitchFamily="34" charset="0"/>
                <a:ea typeface="Calibri" pitchFamily="34" charset="-122"/>
                <a:cs typeface="Calibri" pitchFamily="34" charset="-120"/>
              </a:rPr>
              <a:t>Existing systems rely on spatial OR temporal features independently — failing to jointly characterize what anomalies look like AND how they move.</a:t>
            </a:r>
            <a:endParaRPr lang="en-US" sz="1150" dirty="0"/>
          </a:p>
        </p:txBody>
      </p:sp>
      <p:sp>
        <p:nvSpPr>
          <p:cNvPr id="16" name="Shape 14"/>
          <p:cNvSpPr/>
          <p:nvPr/>
        </p:nvSpPr>
        <p:spPr>
          <a:xfrm>
            <a:off x="6089904" y="960120"/>
            <a:ext cx="2606040" cy="3794760"/>
          </a:xfrm>
          <a:prstGeom prst="roundRect">
            <a:avLst>
              <a:gd name="adj" fmla="val 2807"/>
            </a:avLst>
          </a:prstGeom>
          <a:solidFill>
            <a:srgbClr val="111D2E"/>
          </a:solidFill>
          <a:ln/>
        </p:spPr>
      </p:sp>
      <p:sp>
        <p:nvSpPr>
          <p:cNvPr id="17" name="Text 15"/>
          <p:cNvSpPr/>
          <p:nvPr/>
        </p:nvSpPr>
        <p:spPr>
          <a:xfrm>
            <a:off x="6199632" y="1024128"/>
            <a:ext cx="2377440" cy="502920"/>
          </a:xfrm>
          <a:prstGeom prst="rect">
            <a:avLst/>
          </a:prstGeom>
          <a:noFill/>
          <a:ln/>
        </p:spPr>
        <p:txBody>
          <a:bodyPr wrap="square" lIns="0" tIns="0" rIns="0" bIns="0" rtlCol="0" anchor="ctr"/>
          <a:lstStyle/>
          <a:p>
            <a:pPr indent="0" marL="0">
              <a:buNone/>
            </a:pPr>
            <a:r>
              <a:rPr lang="en-US" sz="3200" b="1" dirty="0">
                <a:solidFill>
                  <a:srgbClr val="EF4444"/>
                </a:solidFill>
                <a:latin typeface="Calibri" pitchFamily="34" charset="0"/>
                <a:ea typeface="Calibri" pitchFamily="34" charset="-122"/>
                <a:cs typeface="Calibri" pitchFamily="34" charset="-120"/>
              </a:rPr>
              <a:t>03</a:t>
            </a:r>
            <a:endParaRPr lang="en-US" sz="3200" dirty="0"/>
          </a:p>
        </p:txBody>
      </p:sp>
      <p:sp>
        <p:nvSpPr>
          <p:cNvPr id="18" name="Text 16"/>
          <p:cNvSpPr/>
          <p:nvPr/>
        </p:nvSpPr>
        <p:spPr>
          <a:xfrm>
            <a:off x="6199632" y="1536192"/>
            <a:ext cx="237744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Deployment Gap</a:t>
            </a:r>
            <a:endParaRPr lang="en-US" sz="1300" dirty="0"/>
          </a:p>
        </p:txBody>
      </p:sp>
      <p:sp>
        <p:nvSpPr>
          <p:cNvPr id="19" name="Shape 17"/>
          <p:cNvSpPr/>
          <p:nvPr/>
        </p:nvSpPr>
        <p:spPr>
          <a:xfrm>
            <a:off x="6199632" y="1883664"/>
            <a:ext cx="2377440" cy="22860"/>
          </a:xfrm>
          <a:prstGeom prst="rect">
            <a:avLst/>
          </a:prstGeom>
          <a:solidFill>
            <a:srgbClr val="EF4444"/>
          </a:solidFill>
          <a:ln w="12700">
            <a:solidFill>
              <a:srgbClr val="EF4444"/>
            </a:solidFill>
            <a:prstDash val="solid"/>
          </a:ln>
        </p:spPr>
      </p:sp>
      <p:sp>
        <p:nvSpPr>
          <p:cNvPr id="20" name="Text 18"/>
          <p:cNvSpPr/>
          <p:nvPr/>
        </p:nvSpPr>
        <p:spPr>
          <a:xfrm>
            <a:off x="6199632" y="1965960"/>
            <a:ext cx="2377440" cy="2743200"/>
          </a:xfrm>
          <a:prstGeom prst="rect">
            <a:avLst/>
          </a:prstGeom>
          <a:noFill/>
          <a:ln/>
        </p:spPr>
        <p:txBody>
          <a:bodyPr wrap="square" lIns="0" tIns="0" rIns="0" bIns="0" rtlCol="0" anchor="t"/>
          <a:lstStyle/>
          <a:p>
            <a:pPr indent="0" marL="0">
              <a:buNone/>
            </a:pPr>
            <a:r>
              <a:rPr lang="en-US" sz="1150" dirty="0">
                <a:solidFill>
                  <a:srgbClr val="CBD5E1"/>
                </a:solidFill>
                <a:latin typeface="Calibri" pitchFamily="34" charset="0"/>
                <a:ea typeface="Calibri" pitchFamily="34" charset="-122"/>
                <a:cs typeface="Calibri" pitchFamily="34" charset="-120"/>
              </a:rPr>
              <a:t>Academic models optimize metrics on static test sets, ignoring production requirements: alert routing, fault tolerance, privacy compliance, and low latency.</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1 · INTRODUCTION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Motivation</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6012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7" name="Text 5"/>
          <p:cNvSpPr/>
          <p:nvPr/>
        </p:nvSpPr>
        <p:spPr>
          <a:xfrm>
            <a:off x="457200" y="1005840"/>
            <a:ext cx="1920240" cy="548640"/>
          </a:xfrm>
          <a:prstGeom prst="rect">
            <a:avLst/>
          </a:prstGeom>
          <a:noFill/>
          <a:ln/>
        </p:spPr>
        <p:txBody>
          <a:bodyPr wrap="square" lIns="0" tIns="0" rIns="0" bIns="0" rtlCol="0" anchor="ctr"/>
          <a:lstStyle/>
          <a:p>
            <a:pPr algn="ctr" indent="0" marL="0">
              <a:buNone/>
            </a:pPr>
            <a:r>
              <a:rPr lang="en-US" sz="2800" b="1" dirty="0">
                <a:solidFill>
                  <a:srgbClr val="00D4FF"/>
                </a:solidFill>
                <a:latin typeface="Calibri" pitchFamily="34" charset="0"/>
                <a:ea typeface="Calibri" pitchFamily="34" charset="-122"/>
                <a:cs typeface="Calibri" pitchFamily="34" charset="-120"/>
              </a:rPr>
              <a:t>1B+</a:t>
            </a:r>
            <a:endParaRPr lang="en-US" sz="2800" dirty="0"/>
          </a:p>
        </p:txBody>
      </p:sp>
      <p:sp>
        <p:nvSpPr>
          <p:cNvPr id="8" name="Text 6"/>
          <p:cNvSpPr/>
          <p:nvPr/>
        </p:nvSpPr>
        <p:spPr>
          <a:xfrm>
            <a:off x="457200" y="155448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CCTV cameras</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globally by 2025</a:t>
            </a:r>
            <a:endParaRPr lang="en-US" sz="1000" dirty="0"/>
          </a:p>
        </p:txBody>
      </p:sp>
      <p:sp>
        <p:nvSpPr>
          <p:cNvPr id="9" name="Shape 7"/>
          <p:cNvSpPr/>
          <p:nvPr/>
        </p:nvSpPr>
        <p:spPr>
          <a:xfrm>
            <a:off x="2542032" y="96012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10" name="Text 8"/>
          <p:cNvSpPr/>
          <p:nvPr/>
        </p:nvSpPr>
        <p:spPr>
          <a:xfrm>
            <a:off x="2542032" y="1005840"/>
            <a:ext cx="1920240" cy="548640"/>
          </a:xfrm>
          <a:prstGeom prst="rect">
            <a:avLst/>
          </a:prstGeom>
          <a:noFill/>
          <a:ln/>
        </p:spPr>
        <p:txBody>
          <a:bodyPr wrap="square" lIns="0" tIns="0" rIns="0" bIns="0" rtlCol="0" anchor="ctr"/>
          <a:lstStyle/>
          <a:p>
            <a:pPr algn="ctr" indent="0" marL="0">
              <a:buNone/>
            </a:pPr>
            <a:r>
              <a:rPr lang="en-US" sz="2800" b="1" dirty="0">
                <a:solidFill>
                  <a:srgbClr val="F59E0B"/>
                </a:solidFill>
                <a:latin typeface="Calibri" pitchFamily="34" charset="0"/>
                <a:ea typeface="Calibri" pitchFamily="34" charset="-122"/>
                <a:cs typeface="Calibri" pitchFamily="34" charset="-120"/>
              </a:rPr>
              <a:t>30min</a:t>
            </a:r>
            <a:endParaRPr lang="en-US" sz="2800" dirty="0"/>
          </a:p>
        </p:txBody>
      </p:sp>
      <p:sp>
        <p:nvSpPr>
          <p:cNvPr id="11" name="Text 9"/>
          <p:cNvSpPr/>
          <p:nvPr/>
        </p:nvSpPr>
        <p:spPr>
          <a:xfrm>
            <a:off x="2542032" y="155448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Until operator</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attention degrades</a:t>
            </a:r>
            <a:endParaRPr lang="en-US" sz="1000" dirty="0"/>
          </a:p>
        </p:txBody>
      </p:sp>
      <p:sp>
        <p:nvSpPr>
          <p:cNvPr id="12" name="Shape 10"/>
          <p:cNvSpPr/>
          <p:nvPr/>
        </p:nvSpPr>
        <p:spPr>
          <a:xfrm>
            <a:off x="4626864" y="96012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13" name="Text 11"/>
          <p:cNvSpPr/>
          <p:nvPr/>
        </p:nvSpPr>
        <p:spPr>
          <a:xfrm>
            <a:off x="4626864" y="1005840"/>
            <a:ext cx="1920240" cy="548640"/>
          </a:xfrm>
          <a:prstGeom prst="rect">
            <a:avLst/>
          </a:prstGeom>
          <a:noFill/>
          <a:ln/>
        </p:spPr>
        <p:txBody>
          <a:bodyPr wrap="square" lIns="0" tIns="0" rIns="0" bIns="0" rtlCol="0" anchor="ctr"/>
          <a:lstStyle/>
          <a:p>
            <a:pPr algn="ctr" indent="0" marL="0">
              <a:buNone/>
            </a:pPr>
            <a:r>
              <a:rPr lang="en-US" sz="2800" b="1" dirty="0">
                <a:solidFill>
                  <a:srgbClr val="EF4444"/>
                </a:solidFill>
                <a:latin typeface="Calibri" pitchFamily="34" charset="0"/>
                <a:ea typeface="Calibri" pitchFamily="34" charset="-122"/>
                <a:cs typeface="Calibri" pitchFamily="34" charset="-120"/>
              </a:rPr>
              <a:t>72%</a:t>
            </a:r>
            <a:endParaRPr lang="en-US" sz="2800" dirty="0"/>
          </a:p>
        </p:txBody>
      </p:sp>
      <p:sp>
        <p:nvSpPr>
          <p:cNvPr id="14" name="Text 12"/>
          <p:cNvSpPr/>
          <p:nvPr/>
        </p:nvSpPr>
        <p:spPr>
          <a:xfrm>
            <a:off x="4626864" y="155448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Citizens feel unsafe</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in crowded public areas</a:t>
            </a:r>
            <a:endParaRPr lang="en-US" sz="1000" dirty="0"/>
          </a:p>
        </p:txBody>
      </p:sp>
      <p:sp>
        <p:nvSpPr>
          <p:cNvPr id="15" name="Shape 13"/>
          <p:cNvSpPr/>
          <p:nvPr/>
        </p:nvSpPr>
        <p:spPr>
          <a:xfrm>
            <a:off x="6711696" y="96012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16" name="Text 14"/>
          <p:cNvSpPr/>
          <p:nvPr/>
        </p:nvSpPr>
        <p:spPr>
          <a:xfrm>
            <a:off x="6711696" y="1005840"/>
            <a:ext cx="1920240" cy="548640"/>
          </a:xfrm>
          <a:prstGeom prst="rect">
            <a:avLst/>
          </a:prstGeom>
          <a:noFill/>
          <a:ln/>
        </p:spPr>
        <p:txBody>
          <a:bodyPr wrap="square" lIns="0" tIns="0" rIns="0" bIns="0" rtlCol="0" anchor="ctr"/>
          <a:lstStyle/>
          <a:p>
            <a:pPr algn="ctr" indent="0" marL="0">
              <a:buNone/>
            </a:pPr>
            <a:r>
              <a:rPr lang="en-US" sz="2800" b="1" dirty="0">
                <a:solidFill>
                  <a:srgbClr val="64748B"/>
                </a:solidFill>
                <a:latin typeface="Calibri" pitchFamily="34" charset="0"/>
                <a:ea typeface="Calibri" pitchFamily="34" charset="-122"/>
                <a:cs typeface="Calibri" pitchFamily="34" charset="-120"/>
              </a:rPr>
              <a:t>0%</a:t>
            </a:r>
            <a:endParaRPr lang="en-US" sz="2800" dirty="0"/>
          </a:p>
        </p:txBody>
      </p:sp>
      <p:sp>
        <p:nvSpPr>
          <p:cNvPr id="17" name="Text 15"/>
          <p:cNvSpPr/>
          <p:nvPr/>
        </p:nvSpPr>
        <p:spPr>
          <a:xfrm>
            <a:off x="6711696" y="155448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Footage reviewed</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in real time</a:t>
            </a:r>
            <a:endParaRPr lang="en-US" sz="1000" dirty="0"/>
          </a:p>
        </p:txBody>
      </p:sp>
      <p:sp>
        <p:nvSpPr>
          <p:cNvPr id="18" name="Text 16"/>
          <p:cNvSpPr/>
          <p:nvPr/>
        </p:nvSpPr>
        <p:spPr>
          <a:xfrm>
            <a:off x="457200" y="2148840"/>
            <a:ext cx="8229600" cy="292608"/>
          </a:xfrm>
          <a:prstGeom prst="rect">
            <a:avLst/>
          </a:prstGeom>
          <a:noFill/>
          <a:ln/>
        </p:spPr>
        <p:txBody>
          <a:bodyPr wrap="square" lIns="0" tIns="0" rIns="0" bIns="0" rtlCol="0" anchor="ctr"/>
          <a:lstStyle/>
          <a:p>
            <a:pPr indent="0" marL="0">
              <a:buNone/>
            </a:pPr>
            <a:r>
              <a:rPr lang="en-US" sz="1400" b="1" dirty="0">
                <a:solidFill>
                  <a:srgbClr val="00D4FF"/>
                </a:solidFill>
                <a:latin typeface="Calibri" pitchFamily="34" charset="0"/>
                <a:ea typeface="Calibri" pitchFamily="34" charset="-122"/>
                <a:cs typeface="Calibri" pitchFamily="34" charset="-120"/>
              </a:rPr>
              <a:t>The Paradox</a:t>
            </a:r>
            <a:endParaRPr lang="en-US" sz="1400" dirty="0"/>
          </a:p>
        </p:txBody>
      </p:sp>
      <p:sp>
        <p:nvSpPr>
          <p:cNvPr id="19" name="Text 17"/>
          <p:cNvSpPr/>
          <p:nvPr/>
        </p:nvSpPr>
        <p:spPr>
          <a:xfrm>
            <a:off x="457200" y="2487168"/>
            <a:ext cx="8229600" cy="777240"/>
          </a:xfrm>
          <a:prstGeom prst="rect">
            <a:avLst/>
          </a:prstGeom>
          <a:noFill/>
          <a:ln/>
        </p:spPr>
        <p:txBody>
          <a:bodyPr wrap="square" lIns="0" tIns="0" rIns="0" bIns="0" rtlCol="0" anchor="ctr"/>
          <a:lstStyle/>
          <a:p>
            <a:pPr indent="0" marL="0">
              <a:buNone/>
            </a:pPr>
            <a:r>
              <a:rPr lang="en-US" sz="1300" dirty="0">
                <a:solidFill>
                  <a:srgbClr val="CBD5E1"/>
                </a:solidFill>
                <a:latin typeface="Calibri" pitchFamily="34" charset="0"/>
                <a:ea typeface="Calibri" pitchFamily="34" charset="-122"/>
                <a:cs typeface="Calibri" pitchFamily="34" charset="-120"/>
              </a:rPr>
              <a:t>Cities possess unprecedented visual capacity yet lack simultaneous processing capability. SecureSight resolves this by synthesizing CNN spatial precision with ViT long-range temporal reasoning into a unified, low-latency proactive surveillance agent.</a:t>
            </a:r>
            <a:endParaRPr lang="en-US" sz="1300" dirty="0"/>
          </a:p>
        </p:txBody>
      </p:sp>
      <p:sp>
        <p:nvSpPr>
          <p:cNvPr id="20" name="Text 18"/>
          <p:cNvSpPr/>
          <p:nvPr/>
        </p:nvSpPr>
        <p:spPr>
          <a:xfrm>
            <a:off x="457200" y="3401568"/>
            <a:ext cx="822960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Scale Overload · Delayed Reactive Response · Cognitive Fatigue → SecureSight addresses all three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1 · INTRODUCTION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Project Objectives</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Text 4"/>
          <p:cNvSpPr/>
          <p:nvPr/>
        </p:nvSpPr>
        <p:spPr>
          <a:xfrm>
            <a:off x="457200" y="960120"/>
            <a:ext cx="347472" cy="347472"/>
          </a:xfrm>
          <a:prstGeom prst="rect">
            <a:avLst/>
          </a:prstGeom>
          <a:noFill/>
          <a:ln/>
        </p:spPr>
        <p:txBody>
          <a:bodyPr wrap="square" lIns="0" tIns="0" rIns="0" bIns="0" rtlCol="0" anchor="ctr"/>
          <a:lstStyle/>
          <a:p>
            <a:pPr algn="ctr" indent="0" marL="0">
              <a:buNone/>
            </a:pPr>
            <a:r>
              <a:rPr lang="en-US" sz="1600" b="1" dirty="0">
                <a:solidFill>
                  <a:srgbClr val="00D4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914400" y="960120"/>
            <a:ext cx="2926080" cy="32004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Dual-Stream Neural Pipeline</a:t>
            </a:r>
            <a:endParaRPr lang="en-US" sz="1250" dirty="0"/>
          </a:p>
        </p:txBody>
      </p:sp>
      <p:sp>
        <p:nvSpPr>
          <p:cNvPr id="8" name="Text 6"/>
          <p:cNvSpPr/>
          <p:nvPr/>
        </p:nvSpPr>
        <p:spPr>
          <a:xfrm>
            <a:off x="914400" y="1289304"/>
            <a:ext cx="7772400" cy="402336"/>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Architect a parallel feature extraction framework using pre-trained ResNet-50 (spatial) and R(2+1)D (temporal) backbones.</a:t>
            </a:r>
            <a:endParaRPr lang="en-US" sz="1100" dirty="0"/>
          </a:p>
        </p:txBody>
      </p:sp>
      <p:sp>
        <p:nvSpPr>
          <p:cNvPr id="9" name="Text 7"/>
          <p:cNvSpPr/>
          <p:nvPr/>
        </p:nvSpPr>
        <p:spPr>
          <a:xfrm>
            <a:off x="457200" y="1755648"/>
            <a:ext cx="347472" cy="347472"/>
          </a:xfrm>
          <a:prstGeom prst="rect">
            <a:avLst/>
          </a:prstGeom>
          <a:noFill/>
          <a:ln/>
        </p:spPr>
        <p:txBody>
          <a:bodyPr wrap="square" lIns="0" tIns="0" rIns="0" bIns="0" rtlCol="0" anchor="ctr"/>
          <a:lstStyle/>
          <a:p>
            <a:pPr algn="ctr" indent="0" marL="0">
              <a:buNone/>
            </a:pPr>
            <a:r>
              <a:rPr lang="en-US" sz="1600" b="1" dirty="0">
                <a:solidFill>
                  <a:srgbClr val="00D4FF"/>
                </a:solidFill>
                <a:latin typeface="Calibri" pitchFamily="34" charset="0"/>
                <a:ea typeface="Calibri" pitchFamily="34" charset="-122"/>
                <a:cs typeface="Calibri" pitchFamily="34" charset="-120"/>
              </a:rPr>
              <a:t>2</a:t>
            </a:r>
            <a:endParaRPr lang="en-US" sz="1600" dirty="0"/>
          </a:p>
        </p:txBody>
      </p:sp>
      <p:sp>
        <p:nvSpPr>
          <p:cNvPr id="10" name="Text 8"/>
          <p:cNvSpPr/>
          <p:nvPr/>
        </p:nvSpPr>
        <p:spPr>
          <a:xfrm>
            <a:off x="914400" y="1755648"/>
            <a:ext cx="2926080" cy="32004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Lightweight Modality Fusion</a:t>
            </a:r>
            <a:endParaRPr lang="en-US" sz="1250" dirty="0"/>
          </a:p>
        </p:txBody>
      </p:sp>
      <p:sp>
        <p:nvSpPr>
          <p:cNvPr id="11" name="Text 9"/>
          <p:cNvSpPr/>
          <p:nvPr/>
        </p:nvSpPr>
        <p:spPr>
          <a:xfrm>
            <a:off x="914400" y="2084832"/>
            <a:ext cx="7772400" cy="402336"/>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Implement an optimized projection &amp; normalization pipeline concatenating 2048-D + 512-D embeddings into a 512-D joint token.</a:t>
            </a:r>
            <a:endParaRPr lang="en-US" sz="1100" dirty="0"/>
          </a:p>
        </p:txBody>
      </p:sp>
      <p:sp>
        <p:nvSpPr>
          <p:cNvPr id="12" name="Text 10"/>
          <p:cNvSpPr/>
          <p:nvPr/>
        </p:nvSpPr>
        <p:spPr>
          <a:xfrm>
            <a:off x="457200" y="2551176"/>
            <a:ext cx="347472" cy="347472"/>
          </a:xfrm>
          <a:prstGeom prst="rect">
            <a:avLst/>
          </a:prstGeom>
          <a:noFill/>
          <a:ln/>
        </p:spPr>
        <p:txBody>
          <a:bodyPr wrap="square" lIns="0" tIns="0" rIns="0" bIns="0" rtlCol="0" anchor="ctr"/>
          <a:lstStyle/>
          <a:p>
            <a:pPr algn="ctr" indent="0" marL="0">
              <a:buNone/>
            </a:pPr>
            <a:r>
              <a:rPr lang="en-US" sz="1600" b="1" dirty="0">
                <a:solidFill>
                  <a:srgbClr val="00D4FF"/>
                </a:solidFill>
                <a:latin typeface="Calibri" pitchFamily="34" charset="0"/>
                <a:ea typeface="Calibri" pitchFamily="34" charset="-122"/>
                <a:cs typeface="Calibri" pitchFamily="34" charset="-120"/>
              </a:rPr>
              <a:t>3</a:t>
            </a:r>
            <a:endParaRPr lang="en-US" sz="1600" dirty="0"/>
          </a:p>
        </p:txBody>
      </p:sp>
      <p:sp>
        <p:nvSpPr>
          <p:cNvPr id="13" name="Text 11"/>
          <p:cNvSpPr/>
          <p:nvPr/>
        </p:nvSpPr>
        <p:spPr>
          <a:xfrm>
            <a:off x="914400" y="2551176"/>
            <a:ext cx="2926080" cy="32004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Long-Range Attention Engine</a:t>
            </a:r>
            <a:endParaRPr lang="en-US" sz="1250" dirty="0"/>
          </a:p>
        </p:txBody>
      </p:sp>
      <p:sp>
        <p:nvSpPr>
          <p:cNvPr id="14" name="Text 12"/>
          <p:cNvSpPr/>
          <p:nvPr/>
        </p:nvSpPr>
        <p:spPr>
          <a:xfrm>
            <a:off x="914400" y="2880360"/>
            <a:ext cx="7772400" cy="402336"/>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Integrate a compact 4-block Vision Transformer (ViT) encoder with multi-head self-attention across an 8-clip sliding window.</a:t>
            </a:r>
            <a:endParaRPr lang="en-US" sz="1100" dirty="0"/>
          </a:p>
        </p:txBody>
      </p:sp>
      <p:sp>
        <p:nvSpPr>
          <p:cNvPr id="15" name="Text 13"/>
          <p:cNvSpPr/>
          <p:nvPr/>
        </p:nvSpPr>
        <p:spPr>
          <a:xfrm>
            <a:off x="457200" y="3346704"/>
            <a:ext cx="347472" cy="347472"/>
          </a:xfrm>
          <a:prstGeom prst="rect">
            <a:avLst/>
          </a:prstGeom>
          <a:noFill/>
          <a:ln/>
        </p:spPr>
        <p:txBody>
          <a:bodyPr wrap="square" lIns="0" tIns="0" rIns="0" bIns="0" rtlCol="0" anchor="ctr"/>
          <a:lstStyle/>
          <a:p>
            <a:pPr algn="ctr" indent="0" marL="0">
              <a:buNone/>
            </a:pPr>
            <a:r>
              <a:rPr lang="en-US" sz="1600" b="1" dirty="0">
                <a:solidFill>
                  <a:srgbClr val="00D4FF"/>
                </a:solidFill>
                <a:latin typeface="Calibri" pitchFamily="34" charset="0"/>
                <a:ea typeface="Calibri" pitchFamily="34" charset="-122"/>
                <a:cs typeface="Calibri" pitchFamily="34" charset="-120"/>
              </a:rPr>
              <a:t>4</a:t>
            </a:r>
            <a:endParaRPr lang="en-US" sz="1600" dirty="0"/>
          </a:p>
        </p:txBody>
      </p:sp>
      <p:sp>
        <p:nvSpPr>
          <p:cNvPr id="16" name="Text 14"/>
          <p:cNvSpPr/>
          <p:nvPr/>
        </p:nvSpPr>
        <p:spPr>
          <a:xfrm>
            <a:off x="914400" y="3346704"/>
            <a:ext cx="2926080" cy="32004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Precise Temporal Supervision</a:t>
            </a:r>
            <a:endParaRPr lang="en-US" sz="1250" dirty="0"/>
          </a:p>
        </p:txBody>
      </p:sp>
      <p:sp>
        <p:nvSpPr>
          <p:cNvPr id="17" name="Text 15"/>
          <p:cNvSpPr/>
          <p:nvPr/>
        </p:nvSpPr>
        <p:spPr>
          <a:xfrm>
            <a:off x="914400" y="3675888"/>
            <a:ext cx="7772400" cy="402336"/>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Eliminate noisy video-wide weak labels by using clip-level temporal annotations from the UCF-Crime benchmark.</a:t>
            </a:r>
            <a:endParaRPr lang="en-US" sz="1100" dirty="0"/>
          </a:p>
        </p:txBody>
      </p:sp>
      <p:sp>
        <p:nvSpPr>
          <p:cNvPr id="18" name="Text 16"/>
          <p:cNvSpPr/>
          <p:nvPr/>
        </p:nvSpPr>
        <p:spPr>
          <a:xfrm>
            <a:off x="457200" y="4142232"/>
            <a:ext cx="347472" cy="347472"/>
          </a:xfrm>
          <a:prstGeom prst="rect">
            <a:avLst/>
          </a:prstGeom>
          <a:noFill/>
          <a:ln/>
        </p:spPr>
        <p:txBody>
          <a:bodyPr wrap="square" lIns="0" tIns="0" rIns="0" bIns="0" rtlCol="0" anchor="ctr"/>
          <a:lstStyle/>
          <a:p>
            <a:pPr algn="ctr" indent="0" marL="0">
              <a:buNone/>
            </a:pPr>
            <a:r>
              <a:rPr lang="en-US" sz="1600" b="1" dirty="0">
                <a:solidFill>
                  <a:srgbClr val="00D4FF"/>
                </a:solidFill>
                <a:latin typeface="Calibri" pitchFamily="34" charset="0"/>
                <a:ea typeface="Calibri" pitchFamily="34" charset="-122"/>
                <a:cs typeface="Calibri" pitchFamily="34" charset="-120"/>
              </a:rPr>
              <a:t>5</a:t>
            </a:r>
            <a:endParaRPr lang="en-US" sz="1600" dirty="0"/>
          </a:p>
        </p:txBody>
      </p:sp>
      <p:sp>
        <p:nvSpPr>
          <p:cNvPr id="19" name="Text 17"/>
          <p:cNvSpPr/>
          <p:nvPr/>
        </p:nvSpPr>
        <p:spPr>
          <a:xfrm>
            <a:off x="914400" y="4142232"/>
            <a:ext cx="2926080" cy="32004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False-Alarm Safeguards</a:t>
            </a:r>
            <a:endParaRPr lang="en-US" sz="1250" dirty="0"/>
          </a:p>
        </p:txBody>
      </p:sp>
      <p:sp>
        <p:nvSpPr>
          <p:cNvPr id="20" name="Text 18"/>
          <p:cNvSpPr/>
          <p:nvPr/>
        </p:nvSpPr>
        <p:spPr>
          <a:xfrm>
            <a:off x="914400" y="4471416"/>
            <a:ext cx="7772400" cy="402336"/>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Implement 60% confidence threshold + 5-second temporal consistency check to suppress false positives with minimal latency.</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1 · INTRODUCTION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Project Contributions</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60120"/>
            <a:ext cx="2606040" cy="1737360"/>
          </a:xfrm>
          <a:prstGeom prst="roundRect">
            <a:avLst>
              <a:gd name="adj" fmla="val 4211"/>
            </a:avLst>
          </a:prstGeom>
          <a:solidFill>
            <a:srgbClr val="111D2E"/>
          </a:solidFill>
          <a:ln/>
        </p:spPr>
      </p:sp>
      <p:sp>
        <p:nvSpPr>
          <p:cNvPr id="7" name="Text 5"/>
          <p:cNvSpPr/>
          <p:nvPr/>
        </p:nvSpPr>
        <p:spPr>
          <a:xfrm>
            <a:off x="566928" y="1051560"/>
            <a:ext cx="2386584" cy="292608"/>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Novel Hybrid Architecture</a:t>
            </a:r>
            <a:endParaRPr lang="en-US" sz="1200" dirty="0"/>
          </a:p>
        </p:txBody>
      </p:sp>
      <p:sp>
        <p:nvSpPr>
          <p:cNvPr id="8" name="Text 6"/>
          <p:cNvSpPr/>
          <p:nvPr/>
        </p:nvSpPr>
        <p:spPr>
          <a:xfrm>
            <a:off x="566928" y="1399032"/>
            <a:ext cx="2386584" cy="118872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First application of ResNet-50 + R(2+1)D dual-stream fusion with a compact 4-block ViT encoder for crime video anomaly detection on UCF-Crime.</a:t>
            </a:r>
            <a:endParaRPr lang="en-US" sz="1100" dirty="0"/>
          </a:p>
        </p:txBody>
      </p:sp>
      <p:sp>
        <p:nvSpPr>
          <p:cNvPr id="9" name="Shape 7"/>
          <p:cNvSpPr/>
          <p:nvPr/>
        </p:nvSpPr>
        <p:spPr>
          <a:xfrm>
            <a:off x="3273552" y="960120"/>
            <a:ext cx="2606040" cy="1737360"/>
          </a:xfrm>
          <a:prstGeom prst="roundRect">
            <a:avLst>
              <a:gd name="adj" fmla="val 4211"/>
            </a:avLst>
          </a:prstGeom>
          <a:solidFill>
            <a:srgbClr val="111D2E"/>
          </a:solidFill>
          <a:ln/>
        </p:spPr>
      </p:sp>
      <p:sp>
        <p:nvSpPr>
          <p:cNvPr id="10" name="Text 8"/>
          <p:cNvSpPr/>
          <p:nvPr/>
        </p:nvSpPr>
        <p:spPr>
          <a:xfrm>
            <a:off x="3383280" y="1051560"/>
            <a:ext cx="2386584" cy="292608"/>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Clip-Level Supervision</a:t>
            </a:r>
            <a:endParaRPr lang="en-US" sz="1200" dirty="0"/>
          </a:p>
        </p:txBody>
      </p:sp>
      <p:sp>
        <p:nvSpPr>
          <p:cNvPr id="11" name="Text 9"/>
          <p:cNvSpPr/>
          <p:nvPr/>
        </p:nvSpPr>
        <p:spPr>
          <a:xfrm>
            <a:off x="3383280" y="1399032"/>
            <a:ext cx="2386584" cy="118872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Restructured UCF-Crime training around precise temporal annotations, eliminating weak-label noise and achieving significant accuracy improvements over baselines.</a:t>
            </a:r>
            <a:endParaRPr lang="en-US" sz="1100" dirty="0"/>
          </a:p>
        </p:txBody>
      </p:sp>
      <p:sp>
        <p:nvSpPr>
          <p:cNvPr id="12" name="Shape 10"/>
          <p:cNvSpPr/>
          <p:nvPr/>
        </p:nvSpPr>
        <p:spPr>
          <a:xfrm>
            <a:off x="6089904" y="960120"/>
            <a:ext cx="2606040" cy="1737360"/>
          </a:xfrm>
          <a:prstGeom prst="roundRect">
            <a:avLst>
              <a:gd name="adj" fmla="val 4211"/>
            </a:avLst>
          </a:prstGeom>
          <a:solidFill>
            <a:srgbClr val="111D2E"/>
          </a:solidFill>
          <a:ln/>
        </p:spPr>
      </p:sp>
      <p:sp>
        <p:nvSpPr>
          <p:cNvPr id="13" name="Text 11"/>
          <p:cNvSpPr/>
          <p:nvPr/>
        </p:nvSpPr>
        <p:spPr>
          <a:xfrm>
            <a:off x="6199632" y="1051560"/>
            <a:ext cx="2386584" cy="292608"/>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Production Engineering</a:t>
            </a:r>
            <a:endParaRPr lang="en-US" sz="1200" dirty="0"/>
          </a:p>
        </p:txBody>
      </p:sp>
      <p:sp>
        <p:nvSpPr>
          <p:cNvPr id="14" name="Text 12"/>
          <p:cNvSpPr/>
          <p:nvPr/>
        </p:nvSpPr>
        <p:spPr>
          <a:xfrm>
            <a:off x="6199632" y="1399032"/>
            <a:ext cx="2386584" cy="118872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Embedded the inference pipeline into an Express/Flask decoupled web architecture with MQTT alert routing, offline edge buffering, and ephemeral privacy processing.</a:t>
            </a:r>
            <a:endParaRPr lang="en-US" sz="1100" dirty="0"/>
          </a:p>
        </p:txBody>
      </p:sp>
      <p:sp>
        <p:nvSpPr>
          <p:cNvPr id="15" name="Shape 13"/>
          <p:cNvSpPr/>
          <p:nvPr/>
        </p:nvSpPr>
        <p:spPr>
          <a:xfrm>
            <a:off x="457200" y="2880360"/>
            <a:ext cx="3931920" cy="1737360"/>
          </a:xfrm>
          <a:prstGeom prst="roundRect">
            <a:avLst>
              <a:gd name="adj" fmla="val 4211"/>
            </a:avLst>
          </a:prstGeom>
          <a:solidFill>
            <a:srgbClr val="111D2E"/>
          </a:solidFill>
          <a:ln/>
        </p:spPr>
      </p:sp>
      <p:sp>
        <p:nvSpPr>
          <p:cNvPr id="16" name="Text 14"/>
          <p:cNvSpPr/>
          <p:nvPr/>
        </p:nvSpPr>
        <p:spPr>
          <a:xfrm>
            <a:off x="566928" y="2971800"/>
            <a:ext cx="3712464" cy="292608"/>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9-Class Merged Taxonomy</a:t>
            </a:r>
            <a:endParaRPr lang="en-US" sz="1200" dirty="0"/>
          </a:p>
        </p:txBody>
      </p:sp>
      <p:sp>
        <p:nvSpPr>
          <p:cNvPr id="17" name="Text 15"/>
          <p:cNvSpPr/>
          <p:nvPr/>
        </p:nvSpPr>
        <p:spPr>
          <a:xfrm>
            <a:off x="566928" y="3319272"/>
            <a:ext cx="3712464" cy="118872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Compressed 14 sparse UCF-Crime classes into 9 semantically coherent categories, reducing the classification head and improving generalization.</a:t>
            </a:r>
            <a:endParaRPr lang="en-US" sz="1100" dirty="0"/>
          </a:p>
        </p:txBody>
      </p:sp>
      <p:sp>
        <p:nvSpPr>
          <p:cNvPr id="18" name="Shape 16"/>
          <p:cNvSpPr/>
          <p:nvPr/>
        </p:nvSpPr>
        <p:spPr>
          <a:xfrm>
            <a:off x="4572000" y="2880360"/>
            <a:ext cx="3749040" cy="1737360"/>
          </a:xfrm>
          <a:prstGeom prst="roundRect">
            <a:avLst>
              <a:gd name="adj" fmla="val 4211"/>
            </a:avLst>
          </a:prstGeom>
          <a:solidFill>
            <a:srgbClr val="111D2E"/>
          </a:solidFill>
          <a:ln/>
        </p:spPr>
      </p:sp>
      <p:sp>
        <p:nvSpPr>
          <p:cNvPr id="19" name="Text 17"/>
          <p:cNvSpPr/>
          <p:nvPr/>
        </p:nvSpPr>
        <p:spPr>
          <a:xfrm>
            <a:off x="4681728" y="2971800"/>
            <a:ext cx="3529584" cy="292608"/>
          </a:xfrm>
          <a:prstGeom prst="rect">
            <a:avLst/>
          </a:prstGeom>
          <a:noFill/>
          <a:ln/>
        </p:spPr>
        <p:txBody>
          <a:bodyPr wrap="square" lIns="0" tIns="0" rIns="0" bIns="0" rtlCol="0" anchor="ctr"/>
          <a:lstStyle/>
          <a:p>
            <a:pPr indent="0" marL="0">
              <a:buNone/>
            </a:pPr>
            <a:r>
              <a:rPr lang="en-US" sz="1200" b="1" dirty="0">
                <a:solidFill>
                  <a:srgbClr val="EF4444"/>
                </a:solidFill>
                <a:latin typeface="Calibri" pitchFamily="34" charset="0"/>
                <a:ea typeface="Calibri" pitchFamily="34" charset="-122"/>
                <a:cs typeface="Calibri" pitchFamily="34" charset="-120"/>
              </a:rPr>
              <a:t>Statistical Rigor</a:t>
            </a:r>
            <a:endParaRPr lang="en-US" sz="1200" dirty="0"/>
          </a:p>
        </p:txBody>
      </p:sp>
      <p:sp>
        <p:nvSpPr>
          <p:cNvPr id="20" name="Text 18"/>
          <p:cNvSpPr/>
          <p:nvPr/>
        </p:nvSpPr>
        <p:spPr>
          <a:xfrm>
            <a:off x="4681728" y="3319272"/>
            <a:ext cx="3529584" cy="118872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Conducted 25 evaluation runs across 5 hyperparameter batches providing confidence intervals, stability rankings, and deployment recommendations.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1 · INTRODUCTION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Challenges Addressed</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60120"/>
            <a:ext cx="8229600" cy="731520"/>
          </a:xfrm>
          <a:prstGeom prst="roundRect">
            <a:avLst>
              <a:gd name="adj" fmla="val 7500"/>
            </a:avLst>
          </a:prstGeom>
          <a:solidFill>
            <a:srgbClr val="111D2E"/>
          </a:solidFill>
          <a:ln/>
        </p:spPr>
      </p:sp>
      <p:sp>
        <p:nvSpPr>
          <p:cNvPr id="7" name="Text 5"/>
          <p:cNvSpPr/>
          <p:nvPr/>
        </p:nvSpPr>
        <p:spPr>
          <a:xfrm>
            <a:off x="566928" y="1033272"/>
            <a:ext cx="365760" cy="457200"/>
          </a:xfrm>
          <a:prstGeom prst="rect">
            <a:avLst/>
          </a:prstGeom>
          <a:noFill/>
          <a:ln/>
        </p:spPr>
        <p:txBody>
          <a:bodyPr wrap="square" lIns="0" tIns="0" rIns="0" bIns="0" rtlCol="0" anchor="ctr"/>
          <a:lstStyle/>
          <a:p>
            <a:pPr algn="ctr" indent="0" marL="0">
              <a:buNone/>
            </a:pPr>
            <a:r>
              <a:rPr lang="en-US" sz="1600" dirty="0">
                <a:solidFill>
                  <a:srgbClr val="F59E0B"/>
                </a:solidFill>
                <a:latin typeface="Calibri" pitchFamily="34" charset="0"/>
                <a:ea typeface="Calibri" pitchFamily="34" charset="-122"/>
                <a:cs typeface="Calibri" pitchFamily="34" charset="-120"/>
              </a:rPr>
              <a:t>⚠</a:t>
            </a:r>
            <a:endParaRPr lang="en-US" sz="1600" dirty="0"/>
          </a:p>
        </p:txBody>
      </p:sp>
      <p:sp>
        <p:nvSpPr>
          <p:cNvPr id="8" name="Text 6"/>
          <p:cNvSpPr/>
          <p:nvPr/>
        </p:nvSpPr>
        <p:spPr>
          <a:xfrm>
            <a:off x="987552" y="1033272"/>
            <a:ext cx="237744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Environmental Variance</a:t>
            </a:r>
            <a:endParaRPr lang="en-US" sz="1200" dirty="0"/>
          </a:p>
        </p:txBody>
      </p:sp>
      <p:sp>
        <p:nvSpPr>
          <p:cNvPr id="9" name="Text 7"/>
          <p:cNvSpPr/>
          <p:nvPr/>
        </p:nvSpPr>
        <p:spPr>
          <a:xfrm>
            <a:off x="987552" y="1307592"/>
            <a:ext cx="7498080" cy="32004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 Robust preprocessing with normalization, multi-scale augmentation, and handling of day/night/weather variations in surveillance footage.</a:t>
            </a:r>
            <a:endParaRPr lang="en-US" sz="1100" dirty="0"/>
          </a:p>
        </p:txBody>
      </p:sp>
      <p:sp>
        <p:nvSpPr>
          <p:cNvPr id="10" name="Shape 8"/>
          <p:cNvSpPr/>
          <p:nvPr/>
        </p:nvSpPr>
        <p:spPr>
          <a:xfrm>
            <a:off x="457200" y="1764792"/>
            <a:ext cx="8229600" cy="731520"/>
          </a:xfrm>
          <a:prstGeom prst="roundRect">
            <a:avLst>
              <a:gd name="adj" fmla="val 7500"/>
            </a:avLst>
          </a:prstGeom>
          <a:solidFill>
            <a:srgbClr val="111D2E"/>
          </a:solidFill>
          <a:ln/>
        </p:spPr>
      </p:sp>
      <p:sp>
        <p:nvSpPr>
          <p:cNvPr id="11" name="Text 9"/>
          <p:cNvSpPr/>
          <p:nvPr/>
        </p:nvSpPr>
        <p:spPr>
          <a:xfrm>
            <a:off x="566928" y="1837944"/>
            <a:ext cx="365760" cy="457200"/>
          </a:xfrm>
          <a:prstGeom prst="rect">
            <a:avLst/>
          </a:prstGeom>
          <a:noFill/>
          <a:ln/>
        </p:spPr>
        <p:txBody>
          <a:bodyPr wrap="square" lIns="0" tIns="0" rIns="0" bIns="0" rtlCol="0" anchor="ctr"/>
          <a:lstStyle/>
          <a:p>
            <a:pPr algn="ctr" indent="0" marL="0">
              <a:buNone/>
            </a:pPr>
            <a:r>
              <a:rPr lang="en-US" sz="1600" dirty="0">
                <a:solidFill>
                  <a:srgbClr val="F59E0B"/>
                </a:solidFill>
                <a:latin typeface="Calibri" pitchFamily="34" charset="0"/>
                <a:ea typeface="Calibri" pitchFamily="34" charset="-122"/>
                <a:cs typeface="Calibri" pitchFamily="34" charset="-120"/>
              </a:rPr>
              <a:t>⚠</a:t>
            </a:r>
            <a:endParaRPr lang="en-US" sz="1600" dirty="0"/>
          </a:p>
        </p:txBody>
      </p:sp>
      <p:sp>
        <p:nvSpPr>
          <p:cNvPr id="12" name="Text 10"/>
          <p:cNvSpPr/>
          <p:nvPr/>
        </p:nvSpPr>
        <p:spPr>
          <a:xfrm>
            <a:off x="987552" y="1837944"/>
            <a:ext cx="237744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Dual-Modality Representation</a:t>
            </a:r>
            <a:endParaRPr lang="en-US" sz="1200" dirty="0"/>
          </a:p>
        </p:txBody>
      </p:sp>
      <p:sp>
        <p:nvSpPr>
          <p:cNvPr id="13" name="Text 11"/>
          <p:cNvSpPr/>
          <p:nvPr/>
        </p:nvSpPr>
        <p:spPr>
          <a:xfrm>
            <a:off x="987552" y="2112264"/>
            <a:ext cx="7498080" cy="32004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 Parallel ResNet-50 + R(2+1)D factorized architecture captures orthogonal appearance and motion streams without multiplicative pipeline cost.</a:t>
            </a:r>
            <a:endParaRPr lang="en-US" sz="1100" dirty="0"/>
          </a:p>
        </p:txBody>
      </p:sp>
      <p:sp>
        <p:nvSpPr>
          <p:cNvPr id="14" name="Shape 12"/>
          <p:cNvSpPr/>
          <p:nvPr/>
        </p:nvSpPr>
        <p:spPr>
          <a:xfrm>
            <a:off x="457200" y="2569464"/>
            <a:ext cx="8229600" cy="731520"/>
          </a:xfrm>
          <a:prstGeom prst="roundRect">
            <a:avLst>
              <a:gd name="adj" fmla="val 7500"/>
            </a:avLst>
          </a:prstGeom>
          <a:solidFill>
            <a:srgbClr val="111D2E"/>
          </a:solidFill>
          <a:ln/>
        </p:spPr>
      </p:sp>
      <p:sp>
        <p:nvSpPr>
          <p:cNvPr id="15" name="Text 13"/>
          <p:cNvSpPr/>
          <p:nvPr/>
        </p:nvSpPr>
        <p:spPr>
          <a:xfrm>
            <a:off x="566928" y="2642616"/>
            <a:ext cx="365760" cy="457200"/>
          </a:xfrm>
          <a:prstGeom prst="rect">
            <a:avLst/>
          </a:prstGeom>
          <a:noFill/>
          <a:ln/>
        </p:spPr>
        <p:txBody>
          <a:bodyPr wrap="square" lIns="0" tIns="0" rIns="0" bIns="0" rtlCol="0" anchor="ctr"/>
          <a:lstStyle/>
          <a:p>
            <a:pPr algn="ctr" indent="0" marL="0">
              <a:buNone/>
            </a:pPr>
            <a:r>
              <a:rPr lang="en-US" sz="1600" dirty="0">
                <a:solidFill>
                  <a:srgbClr val="F59E0B"/>
                </a:solidFill>
                <a:latin typeface="Calibri" pitchFamily="34" charset="0"/>
                <a:ea typeface="Calibri" pitchFamily="34" charset="-122"/>
                <a:cs typeface="Calibri" pitchFamily="34" charset="-120"/>
              </a:rPr>
              <a:t>⚠</a:t>
            </a:r>
            <a:endParaRPr lang="en-US" sz="1600" dirty="0"/>
          </a:p>
        </p:txBody>
      </p:sp>
      <p:sp>
        <p:nvSpPr>
          <p:cNvPr id="16" name="Text 14"/>
          <p:cNvSpPr/>
          <p:nvPr/>
        </p:nvSpPr>
        <p:spPr>
          <a:xfrm>
            <a:off x="987552" y="2642616"/>
            <a:ext cx="237744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Severe Class Imbalance</a:t>
            </a:r>
            <a:endParaRPr lang="en-US" sz="1200" dirty="0"/>
          </a:p>
        </p:txBody>
      </p:sp>
      <p:sp>
        <p:nvSpPr>
          <p:cNvPr id="17" name="Text 15"/>
          <p:cNvSpPr/>
          <p:nvPr/>
        </p:nvSpPr>
        <p:spPr>
          <a:xfrm>
            <a:off x="987552" y="2916936"/>
            <a:ext cx="7498080" cy="32004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 Normal class (948k frames) vs sparse crimes (7k–40k frames). Mitigated via stratified sampling, inverse-weight loss, and redundant normal video removal.</a:t>
            </a:r>
            <a:endParaRPr lang="en-US" sz="1100" dirty="0"/>
          </a:p>
        </p:txBody>
      </p:sp>
      <p:sp>
        <p:nvSpPr>
          <p:cNvPr id="18" name="Shape 16"/>
          <p:cNvSpPr/>
          <p:nvPr/>
        </p:nvSpPr>
        <p:spPr>
          <a:xfrm>
            <a:off x="457200" y="3374136"/>
            <a:ext cx="8229600" cy="731520"/>
          </a:xfrm>
          <a:prstGeom prst="roundRect">
            <a:avLst>
              <a:gd name="adj" fmla="val 7500"/>
            </a:avLst>
          </a:prstGeom>
          <a:solidFill>
            <a:srgbClr val="111D2E"/>
          </a:solidFill>
          <a:ln/>
        </p:spPr>
      </p:sp>
      <p:sp>
        <p:nvSpPr>
          <p:cNvPr id="19" name="Text 17"/>
          <p:cNvSpPr/>
          <p:nvPr/>
        </p:nvSpPr>
        <p:spPr>
          <a:xfrm>
            <a:off x="566928" y="3447288"/>
            <a:ext cx="365760" cy="457200"/>
          </a:xfrm>
          <a:prstGeom prst="rect">
            <a:avLst/>
          </a:prstGeom>
          <a:noFill/>
          <a:ln/>
        </p:spPr>
        <p:txBody>
          <a:bodyPr wrap="square" lIns="0" tIns="0" rIns="0" bIns="0" rtlCol="0" anchor="ctr"/>
          <a:lstStyle/>
          <a:p>
            <a:pPr algn="ctr" indent="0" marL="0">
              <a:buNone/>
            </a:pPr>
            <a:r>
              <a:rPr lang="en-US" sz="1600" dirty="0">
                <a:solidFill>
                  <a:srgbClr val="F59E0B"/>
                </a:solidFill>
                <a:latin typeface="Calibri" pitchFamily="34" charset="0"/>
                <a:ea typeface="Calibri" pitchFamily="34" charset="-122"/>
                <a:cs typeface="Calibri" pitchFamily="34" charset="-120"/>
              </a:rPr>
              <a:t>⚠</a:t>
            </a:r>
            <a:endParaRPr lang="en-US" sz="1600" dirty="0"/>
          </a:p>
        </p:txBody>
      </p:sp>
      <p:sp>
        <p:nvSpPr>
          <p:cNvPr id="20" name="Text 18"/>
          <p:cNvSpPr/>
          <p:nvPr/>
        </p:nvSpPr>
        <p:spPr>
          <a:xfrm>
            <a:off x="987552" y="3447288"/>
            <a:ext cx="237744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Label Noise (Weak Supervision)</a:t>
            </a:r>
            <a:endParaRPr lang="en-US" sz="1200" dirty="0"/>
          </a:p>
        </p:txBody>
      </p:sp>
      <p:sp>
        <p:nvSpPr>
          <p:cNvPr id="21" name="Text 19"/>
          <p:cNvSpPr/>
          <p:nvPr/>
        </p:nvSpPr>
        <p:spPr>
          <a:xfrm>
            <a:off x="987552" y="3721608"/>
            <a:ext cx="7498080" cy="32004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 Moved to precise clip-level temporal annotations from the official UCF-Crime GitHub, eliminating 10-min bag-level noise present in MIL baselines.</a:t>
            </a:r>
            <a:endParaRPr lang="en-US" sz="1100" dirty="0"/>
          </a:p>
        </p:txBody>
      </p:sp>
      <p:sp>
        <p:nvSpPr>
          <p:cNvPr id="22" name="Shape 20"/>
          <p:cNvSpPr/>
          <p:nvPr/>
        </p:nvSpPr>
        <p:spPr>
          <a:xfrm>
            <a:off x="457200" y="4178808"/>
            <a:ext cx="8229600" cy="731520"/>
          </a:xfrm>
          <a:prstGeom prst="roundRect">
            <a:avLst>
              <a:gd name="adj" fmla="val 7500"/>
            </a:avLst>
          </a:prstGeom>
          <a:solidFill>
            <a:srgbClr val="111D2E"/>
          </a:solidFill>
          <a:ln/>
        </p:spPr>
      </p:sp>
      <p:sp>
        <p:nvSpPr>
          <p:cNvPr id="23" name="Text 21"/>
          <p:cNvSpPr/>
          <p:nvPr/>
        </p:nvSpPr>
        <p:spPr>
          <a:xfrm>
            <a:off x="566928" y="4251960"/>
            <a:ext cx="365760" cy="457200"/>
          </a:xfrm>
          <a:prstGeom prst="rect">
            <a:avLst/>
          </a:prstGeom>
          <a:noFill/>
          <a:ln/>
        </p:spPr>
        <p:txBody>
          <a:bodyPr wrap="square" lIns="0" tIns="0" rIns="0" bIns="0" rtlCol="0" anchor="ctr"/>
          <a:lstStyle/>
          <a:p>
            <a:pPr algn="ctr" indent="0" marL="0">
              <a:buNone/>
            </a:pPr>
            <a:r>
              <a:rPr lang="en-US" sz="1600" dirty="0">
                <a:solidFill>
                  <a:srgbClr val="F59E0B"/>
                </a:solidFill>
                <a:latin typeface="Calibri" pitchFamily="34" charset="0"/>
                <a:ea typeface="Calibri" pitchFamily="34" charset="-122"/>
                <a:cs typeface="Calibri" pitchFamily="34" charset="-120"/>
              </a:rPr>
              <a:t>⚠</a:t>
            </a:r>
            <a:endParaRPr lang="en-US" sz="1600" dirty="0"/>
          </a:p>
        </p:txBody>
      </p:sp>
      <p:sp>
        <p:nvSpPr>
          <p:cNvPr id="24" name="Text 22"/>
          <p:cNvSpPr/>
          <p:nvPr/>
        </p:nvSpPr>
        <p:spPr>
          <a:xfrm>
            <a:off x="987552" y="4251960"/>
            <a:ext cx="237744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Latency-Accuracy Trade-Off</a:t>
            </a:r>
            <a:endParaRPr lang="en-US" sz="1200" dirty="0"/>
          </a:p>
        </p:txBody>
      </p:sp>
      <p:sp>
        <p:nvSpPr>
          <p:cNvPr id="25" name="Text 23"/>
          <p:cNvSpPr/>
          <p:nvPr/>
        </p:nvSpPr>
        <p:spPr>
          <a:xfrm>
            <a:off x="987552" y="4526280"/>
            <a:ext cx="7498080" cy="32004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 R(2+1)D factorization reduces 3D conv cost. Merged 9-class taxonomy compresses output head. Achieves 42.45ms latency at 91.6% accuracy.</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2 · DATASET</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Dataset Overview — UCF-Crime</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1440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7" name="Text 5"/>
          <p:cNvSpPr/>
          <p:nvPr/>
        </p:nvSpPr>
        <p:spPr>
          <a:xfrm>
            <a:off x="457200" y="960120"/>
            <a:ext cx="1920240" cy="548640"/>
          </a:xfrm>
          <a:prstGeom prst="rect">
            <a:avLst/>
          </a:prstGeom>
          <a:noFill/>
          <a:ln/>
        </p:spPr>
        <p:txBody>
          <a:bodyPr wrap="square" lIns="0" tIns="0" rIns="0" bIns="0" rtlCol="0" anchor="ctr"/>
          <a:lstStyle/>
          <a:p>
            <a:pPr algn="ctr" indent="0" marL="0">
              <a:buNone/>
            </a:pPr>
            <a:r>
              <a:rPr lang="en-US" sz="2800" b="1" dirty="0">
                <a:solidFill>
                  <a:srgbClr val="00D4FF"/>
                </a:solidFill>
                <a:latin typeface="Calibri" pitchFamily="34" charset="0"/>
                <a:ea typeface="Calibri" pitchFamily="34" charset="-122"/>
                <a:cs typeface="Calibri" pitchFamily="34" charset="-120"/>
              </a:rPr>
              <a:t>14</a:t>
            </a:r>
            <a:endParaRPr lang="en-US" sz="2800" dirty="0"/>
          </a:p>
        </p:txBody>
      </p:sp>
      <p:sp>
        <p:nvSpPr>
          <p:cNvPr id="8" name="Text 6"/>
          <p:cNvSpPr/>
          <p:nvPr/>
        </p:nvSpPr>
        <p:spPr>
          <a:xfrm>
            <a:off x="457200" y="150876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Original Classes</a:t>
            </a:r>
            <a:endParaRPr lang="en-US" sz="1000" dirty="0"/>
          </a:p>
        </p:txBody>
      </p:sp>
      <p:sp>
        <p:nvSpPr>
          <p:cNvPr id="9" name="Shape 7"/>
          <p:cNvSpPr/>
          <p:nvPr/>
        </p:nvSpPr>
        <p:spPr>
          <a:xfrm>
            <a:off x="2542032" y="91440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10" name="Text 8"/>
          <p:cNvSpPr/>
          <p:nvPr/>
        </p:nvSpPr>
        <p:spPr>
          <a:xfrm>
            <a:off x="2542032" y="960120"/>
            <a:ext cx="1920240" cy="548640"/>
          </a:xfrm>
          <a:prstGeom prst="rect">
            <a:avLst/>
          </a:prstGeom>
          <a:noFill/>
          <a:ln/>
        </p:spPr>
        <p:txBody>
          <a:bodyPr wrap="square" lIns="0" tIns="0" rIns="0" bIns="0" rtlCol="0" anchor="ctr"/>
          <a:lstStyle/>
          <a:p>
            <a:pPr algn="ctr" indent="0" marL="0">
              <a:buNone/>
            </a:pPr>
            <a:r>
              <a:rPr lang="en-US" sz="2800" b="1" dirty="0">
                <a:solidFill>
                  <a:srgbClr val="00D4FF"/>
                </a:solidFill>
                <a:latin typeface="Calibri" pitchFamily="34" charset="0"/>
                <a:ea typeface="Calibri" pitchFamily="34" charset="-122"/>
                <a:cs typeface="Calibri" pitchFamily="34" charset="-120"/>
              </a:rPr>
              <a:t>9</a:t>
            </a:r>
            <a:endParaRPr lang="en-US" sz="2800" dirty="0"/>
          </a:p>
        </p:txBody>
      </p:sp>
      <p:sp>
        <p:nvSpPr>
          <p:cNvPr id="11" name="Text 9"/>
          <p:cNvSpPr/>
          <p:nvPr/>
        </p:nvSpPr>
        <p:spPr>
          <a:xfrm>
            <a:off x="2542032" y="150876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Merged Classes</a:t>
            </a:r>
            <a:endParaRPr lang="en-US" sz="1000" dirty="0"/>
          </a:p>
        </p:txBody>
      </p:sp>
      <p:sp>
        <p:nvSpPr>
          <p:cNvPr id="12" name="Shape 10"/>
          <p:cNvSpPr/>
          <p:nvPr/>
        </p:nvSpPr>
        <p:spPr>
          <a:xfrm>
            <a:off x="4626864" y="91440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13" name="Text 11"/>
          <p:cNvSpPr/>
          <p:nvPr/>
        </p:nvSpPr>
        <p:spPr>
          <a:xfrm>
            <a:off x="4626864" y="960120"/>
            <a:ext cx="1920240" cy="548640"/>
          </a:xfrm>
          <a:prstGeom prst="rect">
            <a:avLst/>
          </a:prstGeom>
          <a:noFill/>
          <a:ln/>
        </p:spPr>
        <p:txBody>
          <a:bodyPr wrap="square" lIns="0" tIns="0" rIns="0" bIns="0" rtlCol="0" anchor="ctr"/>
          <a:lstStyle/>
          <a:p>
            <a:pPr algn="ctr" indent="0" marL="0">
              <a:buNone/>
            </a:pPr>
            <a:r>
              <a:rPr lang="en-US" sz="2800" b="1" dirty="0">
                <a:solidFill>
                  <a:srgbClr val="00D4FF"/>
                </a:solidFill>
                <a:latin typeface="Calibri" pitchFamily="34" charset="0"/>
                <a:ea typeface="Calibri" pitchFamily="34" charset="-122"/>
                <a:cs typeface="Calibri" pitchFamily="34" charset="-120"/>
              </a:rPr>
              <a:t>128h</a:t>
            </a:r>
            <a:endParaRPr lang="en-US" sz="2800" dirty="0"/>
          </a:p>
        </p:txBody>
      </p:sp>
      <p:sp>
        <p:nvSpPr>
          <p:cNvPr id="14" name="Text 12"/>
          <p:cNvSpPr/>
          <p:nvPr/>
        </p:nvSpPr>
        <p:spPr>
          <a:xfrm>
            <a:off x="4626864" y="150876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Total Video</a:t>
            </a:r>
            <a:endParaRPr lang="en-US" sz="1000" dirty="0"/>
          </a:p>
        </p:txBody>
      </p:sp>
      <p:sp>
        <p:nvSpPr>
          <p:cNvPr id="15" name="Shape 13"/>
          <p:cNvSpPr/>
          <p:nvPr/>
        </p:nvSpPr>
        <p:spPr>
          <a:xfrm>
            <a:off x="6711696" y="91440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16" name="Text 14"/>
          <p:cNvSpPr/>
          <p:nvPr/>
        </p:nvSpPr>
        <p:spPr>
          <a:xfrm>
            <a:off x="6711696" y="960120"/>
            <a:ext cx="1920240" cy="548640"/>
          </a:xfrm>
          <a:prstGeom prst="rect">
            <a:avLst/>
          </a:prstGeom>
          <a:noFill/>
          <a:ln/>
        </p:spPr>
        <p:txBody>
          <a:bodyPr wrap="square" lIns="0" tIns="0" rIns="0" bIns="0" rtlCol="0" anchor="ctr"/>
          <a:lstStyle/>
          <a:p>
            <a:pPr algn="ctr" indent="0" marL="0">
              <a:buNone/>
            </a:pPr>
            <a:r>
              <a:rPr lang="en-US" sz="2800" b="1" dirty="0">
                <a:solidFill>
                  <a:srgbClr val="00D4FF"/>
                </a:solidFill>
                <a:latin typeface="Calibri" pitchFamily="34" charset="0"/>
                <a:ea typeface="Calibri" pitchFamily="34" charset="-122"/>
                <a:cs typeface="Calibri" pitchFamily="34" charset="-120"/>
              </a:rPr>
              <a:t>1,900</a:t>
            </a:r>
            <a:endParaRPr lang="en-US" sz="2800" dirty="0"/>
          </a:p>
        </p:txBody>
      </p:sp>
      <p:sp>
        <p:nvSpPr>
          <p:cNvPr id="17" name="Text 15"/>
          <p:cNvSpPr/>
          <p:nvPr/>
        </p:nvSpPr>
        <p:spPr>
          <a:xfrm>
            <a:off x="6711696" y="150876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Surveillance Videos</a:t>
            </a:r>
            <a:endParaRPr lang="en-US" sz="1000" dirty="0"/>
          </a:p>
        </p:txBody>
      </p:sp>
      <p:sp>
        <p:nvSpPr>
          <p:cNvPr id="18" name="Text 16"/>
          <p:cNvSpPr/>
          <p:nvPr/>
        </p:nvSpPr>
        <p:spPr>
          <a:xfrm>
            <a:off x="457200" y="2084832"/>
            <a:ext cx="3931920" cy="274320"/>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Original 14 Classes:</a:t>
            </a:r>
            <a:endParaRPr lang="en-US" sz="1200" dirty="0"/>
          </a:p>
        </p:txBody>
      </p:sp>
      <p:sp>
        <p:nvSpPr>
          <p:cNvPr id="19" name="Text 17"/>
          <p:cNvSpPr/>
          <p:nvPr/>
        </p:nvSpPr>
        <p:spPr>
          <a:xfrm>
            <a:off x="457200" y="2395728"/>
            <a:ext cx="1828800" cy="2286000"/>
          </a:xfrm>
          <a:prstGeom prst="rect">
            <a:avLst/>
          </a:prstGeom>
          <a:noFill/>
          <a:ln/>
        </p:spPr>
        <p:txBody>
          <a:bodyPr wrap="square" lIns="0" tIns="0" rIns="0" bIns="0" rtlCol="0" anchor="t"/>
          <a:lstStyle/>
          <a:p>
            <a:pPr indent="0" marL="0">
              <a:buNone/>
            </a:pPr>
            <a:r>
              <a:rPr lang="en-US" sz="1150" dirty="0">
                <a:solidFill>
                  <a:srgbClr val="CBD5E1"/>
                </a:solidFill>
                <a:latin typeface="Calibri" pitchFamily="34" charset="0"/>
                <a:ea typeface="Calibri" pitchFamily="34" charset="-122"/>
                <a:cs typeface="Calibri" pitchFamily="34" charset="-120"/>
              </a:rPr>
              <a:t>Abuse</a:t>
            </a:r>
            <a:endParaRPr lang="en-US" sz="1150" dirty="0"/>
          </a:p>
          <a:p>
            <a:pPr indent="0" marL="0">
              <a:buNone/>
            </a:pPr>
            <a:r>
              <a:rPr lang="en-US" sz="1150" dirty="0">
                <a:solidFill>
                  <a:srgbClr val="CBD5E1"/>
                </a:solidFill>
                <a:latin typeface="Calibri" pitchFamily="34" charset="0"/>
                <a:ea typeface="Calibri" pitchFamily="34" charset="-122"/>
                <a:cs typeface="Calibri" pitchFamily="34" charset="-120"/>
              </a:rPr>
              <a:t>Arrest</a:t>
            </a:r>
            <a:endParaRPr lang="en-US" sz="1150" dirty="0"/>
          </a:p>
          <a:p>
            <a:pPr indent="0" marL="0">
              <a:buNone/>
            </a:pPr>
            <a:r>
              <a:rPr lang="en-US" sz="1150" dirty="0">
                <a:solidFill>
                  <a:srgbClr val="CBD5E1"/>
                </a:solidFill>
                <a:latin typeface="Calibri" pitchFamily="34" charset="0"/>
                <a:ea typeface="Calibri" pitchFamily="34" charset="-122"/>
                <a:cs typeface="Calibri" pitchFamily="34" charset="-120"/>
              </a:rPr>
              <a:t>Arson</a:t>
            </a:r>
            <a:endParaRPr lang="en-US" sz="1150" dirty="0"/>
          </a:p>
          <a:p>
            <a:pPr indent="0" marL="0">
              <a:buNone/>
            </a:pPr>
            <a:r>
              <a:rPr lang="en-US" sz="1150" dirty="0">
                <a:solidFill>
                  <a:srgbClr val="CBD5E1"/>
                </a:solidFill>
                <a:latin typeface="Calibri" pitchFamily="34" charset="0"/>
                <a:ea typeface="Calibri" pitchFamily="34" charset="-122"/>
                <a:cs typeface="Calibri" pitchFamily="34" charset="-120"/>
              </a:rPr>
              <a:t>Assault</a:t>
            </a:r>
            <a:endParaRPr lang="en-US" sz="1150" dirty="0"/>
          </a:p>
          <a:p>
            <a:pPr indent="0" marL="0">
              <a:buNone/>
            </a:pPr>
            <a:r>
              <a:rPr lang="en-US" sz="1150" dirty="0">
                <a:solidFill>
                  <a:srgbClr val="CBD5E1"/>
                </a:solidFill>
                <a:latin typeface="Calibri" pitchFamily="34" charset="0"/>
                <a:ea typeface="Calibri" pitchFamily="34" charset="-122"/>
                <a:cs typeface="Calibri" pitchFamily="34" charset="-120"/>
              </a:rPr>
              <a:t>Burglary</a:t>
            </a:r>
            <a:endParaRPr lang="en-US" sz="1150" dirty="0"/>
          </a:p>
          <a:p>
            <a:pPr indent="0" marL="0">
              <a:buNone/>
            </a:pPr>
            <a:r>
              <a:rPr lang="en-US" sz="1150" dirty="0">
                <a:solidFill>
                  <a:srgbClr val="CBD5E1"/>
                </a:solidFill>
                <a:latin typeface="Calibri" pitchFamily="34" charset="0"/>
                <a:ea typeface="Calibri" pitchFamily="34" charset="-122"/>
                <a:cs typeface="Calibri" pitchFamily="34" charset="-120"/>
              </a:rPr>
              <a:t>Explosion</a:t>
            </a:r>
            <a:endParaRPr lang="en-US" sz="1150" dirty="0"/>
          </a:p>
          <a:p>
            <a:pPr indent="0" marL="0">
              <a:buNone/>
            </a:pPr>
            <a:r>
              <a:rPr lang="en-US" sz="1150" dirty="0">
                <a:solidFill>
                  <a:srgbClr val="CBD5E1"/>
                </a:solidFill>
                <a:latin typeface="Calibri" pitchFamily="34" charset="0"/>
                <a:ea typeface="Calibri" pitchFamily="34" charset="-122"/>
                <a:cs typeface="Calibri" pitchFamily="34" charset="-120"/>
              </a:rPr>
              <a:t>Fighting</a:t>
            </a:r>
            <a:endParaRPr lang="en-US" sz="1150" dirty="0"/>
          </a:p>
        </p:txBody>
      </p:sp>
      <p:sp>
        <p:nvSpPr>
          <p:cNvPr id="20" name="Text 18"/>
          <p:cNvSpPr/>
          <p:nvPr/>
        </p:nvSpPr>
        <p:spPr>
          <a:xfrm>
            <a:off x="2377440" y="2395728"/>
            <a:ext cx="2011680" cy="2286000"/>
          </a:xfrm>
          <a:prstGeom prst="rect">
            <a:avLst/>
          </a:prstGeom>
          <a:noFill/>
          <a:ln/>
        </p:spPr>
        <p:txBody>
          <a:bodyPr wrap="square" lIns="0" tIns="0" rIns="0" bIns="0" rtlCol="0" anchor="t"/>
          <a:lstStyle/>
          <a:p>
            <a:pPr indent="0" marL="0">
              <a:buNone/>
            </a:pPr>
            <a:r>
              <a:rPr lang="en-US" sz="1150" dirty="0">
                <a:solidFill>
                  <a:srgbClr val="CBD5E1"/>
                </a:solidFill>
                <a:latin typeface="Calibri" pitchFamily="34" charset="0"/>
                <a:ea typeface="Calibri" pitchFamily="34" charset="-122"/>
                <a:cs typeface="Calibri" pitchFamily="34" charset="-120"/>
              </a:rPr>
              <a:t>Normal</a:t>
            </a:r>
            <a:endParaRPr lang="en-US" sz="1150" dirty="0"/>
          </a:p>
          <a:p>
            <a:pPr indent="0" marL="0">
              <a:buNone/>
            </a:pPr>
            <a:r>
              <a:rPr lang="en-US" sz="1150" dirty="0">
                <a:solidFill>
                  <a:srgbClr val="CBD5E1"/>
                </a:solidFill>
                <a:latin typeface="Calibri" pitchFamily="34" charset="0"/>
                <a:ea typeface="Calibri" pitchFamily="34" charset="-122"/>
                <a:cs typeface="Calibri" pitchFamily="34" charset="-120"/>
              </a:rPr>
              <a:t>RoadAccidents</a:t>
            </a:r>
            <a:endParaRPr lang="en-US" sz="1150" dirty="0"/>
          </a:p>
          <a:p>
            <a:pPr indent="0" marL="0">
              <a:buNone/>
            </a:pPr>
            <a:r>
              <a:rPr lang="en-US" sz="1150" dirty="0">
                <a:solidFill>
                  <a:srgbClr val="CBD5E1"/>
                </a:solidFill>
                <a:latin typeface="Calibri" pitchFamily="34" charset="0"/>
                <a:ea typeface="Calibri" pitchFamily="34" charset="-122"/>
                <a:cs typeface="Calibri" pitchFamily="34" charset="-120"/>
              </a:rPr>
              <a:t>Robbery</a:t>
            </a:r>
            <a:endParaRPr lang="en-US" sz="1150" dirty="0"/>
          </a:p>
          <a:p>
            <a:pPr indent="0" marL="0">
              <a:buNone/>
            </a:pPr>
            <a:r>
              <a:rPr lang="en-US" sz="1150" dirty="0">
                <a:solidFill>
                  <a:srgbClr val="CBD5E1"/>
                </a:solidFill>
                <a:latin typeface="Calibri" pitchFamily="34" charset="0"/>
                <a:ea typeface="Calibri" pitchFamily="34" charset="-122"/>
                <a:cs typeface="Calibri" pitchFamily="34" charset="-120"/>
              </a:rPr>
              <a:t>Shooting</a:t>
            </a:r>
            <a:endParaRPr lang="en-US" sz="1150" dirty="0"/>
          </a:p>
          <a:p>
            <a:pPr indent="0" marL="0">
              <a:buNone/>
            </a:pPr>
            <a:r>
              <a:rPr lang="en-US" sz="1150" dirty="0">
                <a:solidFill>
                  <a:srgbClr val="CBD5E1"/>
                </a:solidFill>
                <a:latin typeface="Calibri" pitchFamily="34" charset="0"/>
                <a:ea typeface="Calibri" pitchFamily="34" charset="-122"/>
                <a:cs typeface="Calibri" pitchFamily="34" charset="-120"/>
              </a:rPr>
              <a:t>ShopLifting</a:t>
            </a:r>
            <a:endParaRPr lang="en-US" sz="1150" dirty="0"/>
          </a:p>
          <a:p>
            <a:pPr indent="0" marL="0">
              <a:buNone/>
            </a:pPr>
            <a:r>
              <a:rPr lang="en-US" sz="1150" dirty="0">
                <a:solidFill>
                  <a:srgbClr val="CBD5E1"/>
                </a:solidFill>
                <a:latin typeface="Calibri" pitchFamily="34" charset="0"/>
                <a:ea typeface="Calibri" pitchFamily="34" charset="-122"/>
                <a:cs typeface="Calibri" pitchFamily="34" charset="-120"/>
              </a:rPr>
              <a:t>Stealing</a:t>
            </a:r>
            <a:endParaRPr lang="en-US" sz="1150" dirty="0"/>
          </a:p>
          <a:p>
            <a:pPr indent="0" marL="0">
              <a:buNone/>
            </a:pPr>
            <a:r>
              <a:rPr lang="en-US" sz="1150" dirty="0">
                <a:solidFill>
                  <a:srgbClr val="CBD5E1"/>
                </a:solidFill>
                <a:latin typeface="Calibri" pitchFamily="34" charset="0"/>
                <a:ea typeface="Calibri" pitchFamily="34" charset="-122"/>
                <a:cs typeface="Calibri" pitchFamily="34" charset="-120"/>
              </a:rPr>
              <a:t>Vandalism</a:t>
            </a:r>
            <a:endParaRPr lang="en-US" sz="1150" dirty="0"/>
          </a:p>
        </p:txBody>
      </p:sp>
      <p:sp>
        <p:nvSpPr>
          <p:cNvPr id="21" name="Text 19"/>
          <p:cNvSpPr/>
          <p:nvPr/>
        </p:nvSpPr>
        <p:spPr>
          <a:xfrm>
            <a:off x="4572000" y="2084832"/>
            <a:ext cx="4206240" cy="274320"/>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Merged 9-Class Taxonomy:</a:t>
            </a:r>
            <a:endParaRPr lang="en-US" sz="1200" dirty="0"/>
          </a:p>
        </p:txBody>
      </p:sp>
      <p:sp>
        <p:nvSpPr>
          <p:cNvPr id="22" name="Text 20"/>
          <p:cNvSpPr/>
          <p:nvPr/>
        </p:nvSpPr>
        <p:spPr>
          <a:xfrm>
            <a:off x="4572000" y="2395728"/>
            <a:ext cx="4389120" cy="256032"/>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Violence  (Assault + Fighting + Abuse)</a:t>
            </a:r>
            <a:endParaRPr lang="en-US" sz="1050" dirty="0"/>
          </a:p>
        </p:txBody>
      </p:sp>
      <p:sp>
        <p:nvSpPr>
          <p:cNvPr id="23" name="Text 21"/>
          <p:cNvSpPr/>
          <p:nvPr/>
        </p:nvSpPr>
        <p:spPr>
          <a:xfrm>
            <a:off x="4572000" y="2679192"/>
            <a:ext cx="4389120" cy="256032"/>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Theft  (ShopLifting + Stealing + Burglary + Robbery)</a:t>
            </a:r>
            <a:endParaRPr lang="en-US" sz="1050" dirty="0"/>
          </a:p>
        </p:txBody>
      </p:sp>
      <p:sp>
        <p:nvSpPr>
          <p:cNvPr id="24" name="Text 22"/>
          <p:cNvSpPr/>
          <p:nvPr/>
        </p:nvSpPr>
        <p:spPr>
          <a:xfrm>
            <a:off x="4572000" y="2962656"/>
            <a:ext cx="4389120" cy="256032"/>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Arson  (Arson)</a:t>
            </a:r>
            <a:endParaRPr lang="en-US" sz="1050" dirty="0"/>
          </a:p>
        </p:txBody>
      </p:sp>
      <p:sp>
        <p:nvSpPr>
          <p:cNvPr id="25" name="Text 23"/>
          <p:cNvSpPr/>
          <p:nvPr/>
        </p:nvSpPr>
        <p:spPr>
          <a:xfrm>
            <a:off x="4572000" y="3246120"/>
            <a:ext cx="4389120" cy="256032"/>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Explosion  (Explosion)</a:t>
            </a:r>
            <a:endParaRPr lang="en-US" sz="1050" dirty="0"/>
          </a:p>
        </p:txBody>
      </p:sp>
      <p:sp>
        <p:nvSpPr>
          <p:cNvPr id="26" name="Text 24"/>
          <p:cNvSpPr/>
          <p:nvPr/>
        </p:nvSpPr>
        <p:spPr>
          <a:xfrm>
            <a:off x="4572000" y="3529584"/>
            <a:ext cx="4389120" cy="256032"/>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Arrest  (Arrest)</a:t>
            </a:r>
            <a:endParaRPr lang="en-US" sz="1050" dirty="0"/>
          </a:p>
        </p:txBody>
      </p:sp>
      <p:sp>
        <p:nvSpPr>
          <p:cNvPr id="27" name="Text 25"/>
          <p:cNvSpPr/>
          <p:nvPr/>
        </p:nvSpPr>
        <p:spPr>
          <a:xfrm>
            <a:off x="4572000" y="3813048"/>
            <a:ext cx="4389120" cy="256032"/>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RoadAccidents  (RoadAccidents)</a:t>
            </a:r>
            <a:endParaRPr lang="en-US" sz="1050" dirty="0"/>
          </a:p>
        </p:txBody>
      </p:sp>
      <p:sp>
        <p:nvSpPr>
          <p:cNvPr id="28" name="Text 26"/>
          <p:cNvSpPr/>
          <p:nvPr/>
        </p:nvSpPr>
        <p:spPr>
          <a:xfrm>
            <a:off x="4572000" y="4096512"/>
            <a:ext cx="4389120" cy="256032"/>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Shooting  (Shooting)</a:t>
            </a:r>
            <a:endParaRPr lang="en-US" sz="1050" dirty="0"/>
          </a:p>
        </p:txBody>
      </p:sp>
      <p:sp>
        <p:nvSpPr>
          <p:cNvPr id="29" name="Text 27"/>
          <p:cNvSpPr/>
          <p:nvPr/>
        </p:nvSpPr>
        <p:spPr>
          <a:xfrm>
            <a:off x="4572000" y="4379976"/>
            <a:ext cx="4389120" cy="256032"/>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Vandalism  (Vandalism)</a:t>
            </a:r>
            <a:endParaRPr lang="en-US" sz="1050" dirty="0"/>
          </a:p>
        </p:txBody>
      </p:sp>
      <p:sp>
        <p:nvSpPr>
          <p:cNvPr id="30" name="Text 28"/>
          <p:cNvSpPr/>
          <p:nvPr/>
        </p:nvSpPr>
        <p:spPr>
          <a:xfrm>
            <a:off x="4572000" y="4663440"/>
            <a:ext cx="4389120" cy="256032"/>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Normal  (Normal)</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2 · DATASET</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Data Collection Pipeline</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1005840"/>
            <a:ext cx="1463040" cy="3291840"/>
          </a:xfrm>
          <a:prstGeom prst="roundRect">
            <a:avLst>
              <a:gd name="adj" fmla="val 5000"/>
            </a:avLst>
          </a:prstGeom>
          <a:solidFill>
            <a:srgbClr val="111D2E"/>
          </a:solidFill>
          <a:ln/>
        </p:spPr>
      </p:sp>
      <p:sp>
        <p:nvSpPr>
          <p:cNvPr id="7" name="Text 5"/>
          <p:cNvSpPr/>
          <p:nvPr/>
        </p:nvSpPr>
        <p:spPr>
          <a:xfrm>
            <a:off x="457200" y="1078992"/>
            <a:ext cx="1463040" cy="411480"/>
          </a:xfrm>
          <a:prstGeom prst="rect">
            <a:avLst/>
          </a:prstGeom>
          <a:noFill/>
          <a:ln/>
        </p:spPr>
        <p:txBody>
          <a:bodyPr wrap="square" lIns="0" tIns="0" rIns="0" bIns="0" rtlCol="0" anchor="ctr"/>
          <a:lstStyle/>
          <a:p>
            <a:pPr algn="ctr" indent="0" marL="0">
              <a:buNone/>
            </a:pPr>
            <a:r>
              <a:rPr lang="en-US" sz="2200" b="1" dirty="0">
                <a:solidFill>
                  <a:srgbClr val="00D4FF"/>
                </a:solidFill>
                <a:latin typeface="Calibri" pitchFamily="34" charset="0"/>
                <a:ea typeface="Calibri" pitchFamily="34" charset="-122"/>
                <a:cs typeface="Calibri" pitchFamily="34" charset="-120"/>
              </a:rPr>
              <a:t>1</a:t>
            </a:r>
            <a:endParaRPr lang="en-US" sz="2200" dirty="0"/>
          </a:p>
        </p:txBody>
      </p:sp>
      <p:sp>
        <p:nvSpPr>
          <p:cNvPr id="8" name="Text 6"/>
          <p:cNvSpPr/>
          <p:nvPr/>
        </p:nvSpPr>
        <p:spPr>
          <a:xfrm>
            <a:off x="457200" y="1508760"/>
            <a:ext cx="1463040" cy="5943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Raw UCF-Crime</a:t>
            </a:r>
            <a:endParaRPr lang="en-US" sz="1100" dirty="0"/>
          </a:p>
        </p:txBody>
      </p:sp>
      <p:sp>
        <p:nvSpPr>
          <p:cNvPr id="9" name="Text 7"/>
          <p:cNvSpPr/>
          <p:nvPr/>
        </p:nvSpPr>
        <p:spPr>
          <a:xfrm>
            <a:off x="457200" y="2157984"/>
            <a:ext cx="1463040" cy="2011680"/>
          </a:xfrm>
          <a:prstGeom prst="rect">
            <a:avLst/>
          </a:prstGeom>
          <a:noFill/>
          <a:ln/>
        </p:spPr>
        <p:txBody>
          <a:bodyPr wrap="square" lIns="0" tIns="0" rIns="0" bIns="0" rtlCol="0" anchor="ctr"/>
          <a:lstStyle/>
          <a:p>
            <a:pPr algn="ctr" indent="0" marL="0">
              <a:buNone/>
            </a:pPr>
            <a:r>
              <a:rPr lang="en-US" sz="1000" dirty="0">
                <a:solidFill>
                  <a:srgbClr val="CBD5E1"/>
                </a:solidFill>
                <a:latin typeface="Calibri" pitchFamily="34" charset="0"/>
                <a:ea typeface="Calibri" pitchFamily="34" charset="-122"/>
                <a:cs typeface="Calibri" pitchFamily="34" charset="-120"/>
              </a:rPr>
              <a:t>128h surveillance video</a:t>
            </a:r>
            <a:endParaRPr lang="en-US" sz="1000" dirty="0"/>
          </a:p>
          <a:p>
            <a:pPr algn="ctr" indent="0" marL="0">
              <a:buNone/>
            </a:pPr>
            <a:r>
              <a:rPr lang="en-US" sz="1000" dirty="0">
                <a:solidFill>
                  <a:srgbClr val="CBD5E1"/>
                </a:solidFill>
                <a:latin typeface="Calibri" pitchFamily="34" charset="0"/>
                <a:ea typeface="Calibri" pitchFamily="34" charset="-122"/>
                <a:cs typeface="Calibri" pitchFamily="34" charset="-120"/>
              </a:rPr>
              <a:t>14 crime categories</a:t>
            </a:r>
            <a:endParaRPr lang="en-US" sz="1000" dirty="0"/>
          </a:p>
          <a:p>
            <a:pPr algn="ctr" indent="0" marL="0">
              <a:buNone/>
            </a:pPr>
            <a:r>
              <a:rPr lang="en-US" sz="1000" dirty="0">
                <a:solidFill>
                  <a:srgbClr val="CBD5E1"/>
                </a:solidFill>
                <a:latin typeface="Calibri" pitchFamily="34" charset="0"/>
                <a:ea typeface="Calibri" pitchFamily="34" charset="-122"/>
                <a:cs typeface="Calibri" pitchFamily="34" charset="-120"/>
              </a:rPr>
              <a:t>+ Normal activity</a:t>
            </a:r>
            <a:endParaRPr lang="en-US" sz="1000" dirty="0"/>
          </a:p>
        </p:txBody>
      </p:sp>
      <p:sp>
        <p:nvSpPr>
          <p:cNvPr id="10" name="Shape 8"/>
          <p:cNvSpPr/>
          <p:nvPr/>
        </p:nvSpPr>
        <p:spPr>
          <a:xfrm>
            <a:off x="1938528" y="2697480"/>
            <a:ext cx="164592" cy="0"/>
          </a:xfrm>
          <a:prstGeom prst="line">
            <a:avLst/>
          </a:prstGeom>
          <a:noFill/>
          <a:ln w="25400">
            <a:solidFill>
              <a:srgbClr val="00D4FF"/>
            </a:solidFill>
            <a:prstDash val="solid"/>
          </a:ln>
        </p:spPr>
      </p:sp>
      <p:sp>
        <p:nvSpPr>
          <p:cNvPr id="11" name="Shape 9"/>
          <p:cNvSpPr/>
          <p:nvPr/>
        </p:nvSpPr>
        <p:spPr>
          <a:xfrm>
            <a:off x="2121408" y="1005840"/>
            <a:ext cx="1463040" cy="3291840"/>
          </a:xfrm>
          <a:prstGeom prst="roundRect">
            <a:avLst>
              <a:gd name="adj" fmla="val 5000"/>
            </a:avLst>
          </a:prstGeom>
          <a:solidFill>
            <a:srgbClr val="111D2E"/>
          </a:solidFill>
          <a:ln/>
        </p:spPr>
      </p:sp>
      <p:sp>
        <p:nvSpPr>
          <p:cNvPr id="12" name="Text 10"/>
          <p:cNvSpPr/>
          <p:nvPr/>
        </p:nvSpPr>
        <p:spPr>
          <a:xfrm>
            <a:off x="2121408" y="1078992"/>
            <a:ext cx="1463040" cy="411480"/>
          </a:xfrm>
          <a:prstGeom prst="rect">
            <a:avLst/>
          </a:prstGeom>
          <a:noFill/>
          <a:ln/>
        </p:spPr>
        <p:txBody>
          <a:bodyPr wrap="square" lIns="0" tIns="0" rIns="0" bIns="0" rtlCol="0" anchor="ctr"/>
          <a:lstStyle/>
          <a:p>
            <a:pPr algn="ctr" indent="0" marL="0">
              <a:buNone/>
            </a:pPr>
            <a:r>
              <a:rPr lang="en-US" sz="2200" b="1" dirty="0">
                <a:solidFill>
                  <a:srgbClr val="00D4FF"/>
                </a:solidFill>
                <a:latin typeface="Calibri" pitchFamily="34" charset="0"/>
                <a:ea typeface="Calibri" pitchFamily="34" charset="-122"/>
                <a:cs typeface="Calibri" pitchFamily="34" charset="-120"/>
              </a:rPr>
              <a:t>2</a:t>
            </a:r>
            <a:endParaRPr lang="en-US" sz="2200" dirty="0"/>
          </a:p>
        </p:txBody>
      </p:sp>
      <p:sp>
        <p:nvSpPr>
          <p:cNvPr id="13" name="Text 11"/>
          <p:cNvSpPr/>
          <p:nvPr/>
        </p:nvSpPr>
        <p:spPr>
          <a:xfrm>
            <a:off x="2121408" y="1508760"/>
            <a:ext cx="1463040" cy="5943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Official Temporal</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Annotations</a:t>
            </a:r>
            <a:endParaRPr lang="en-US" sz="1100" dirty="0"/>
          </a:p>
        </p:txBody>
      </p:sp>
      <p:sp>
        <p:nvSpPr>
          <p:cNvPr id="14" name="Text 12"/>
          <p:cNvSpPr/>
          <p:nvPr/>
        </p:nvSpPr>
        <p:spPr>
          <a:xfrm>
            <a:off x="2121408" y="2157984"/>
            <a:ext cx="1463040" cy="2011680"/>
          </a:xfrm>
          <a:prstGeom prst="rect">
            <a:avLst/>
          </a:prstGeom>
          <a:noFill/>
          <a:ln/>
        </p:spPr>
        <p:txBody>
          <a:bodyPr wrap="square" lIns="0" tIns="0" rIns="0" bIns="0" rtlCol="0" anchor="ctr"/>
          <a:lstStyle/>
          <a:p>
            <a:pPr algn="ctr" indent="0" marL="0">
              <a:buNone/>
            </a:pPr>
            <a:r>
              <a:rPr lang="en-US" sz="1000" dirty="0">
                <a:solidFill>
                  <a:srgbClr val="CBD5E1"/>
                </a:solidFill>
                <a:latin typeface="Calibri" pitchFamily="34" charset="0"/>
                <a:ea typeface="Calibri" pitchFamily="34" charset="-122"/>
                <a:cs typeface="Calibri" pitchFamily="34" charset="-120"/>
              </a:rPr>
              <a:t>Clip-level start/end</a:t>
            </a:r>
            <a:endParaRPr lang="en-US" sz="1000" dirty="0"/>
          </a:p>
          <a:p>
            <a:pPr algn="ctr" indent="0" marL="0">
              <a:buNone/>
            </a:pPr>
            <a:r>
              <a:rPr lang="en-US" sz="1000" dirty="0">
                <a:solidFill>
                  <a:srgbClr val="CBD5E1"/>
                </a:solidFill>
                <a:latin typeface="Calibri" pitchFamily="34" charset="0"/>
                <a:ea typeface="Calibri" pitchFamily="34" charset="-122"/>
                <a:cs typeface="Calibri" pitchFamily="34" charset="-120"/>
              </a:rPr>
              <a:t>timestamps from</a:t>
            </a:r>
            <a:endParaRPr lang="en-US" sz="1000" dirty="0"/>
          </a:p>
          <a:p>
            <a:pPr algn="ctr" indent="0" marL="0">
              <a:buNone/>
            </a:pPr>
            <a:r>
              <a:rPr lang="en-US" sz="1000" dirty="0">
                <a:solidFill>
                  <a:srgbClr val="CBD5E1"/>
                </a:solidFill>
                <a:latin typeface="Calibri" pitchFamily="34" charset="0"/>
                <a:ea typeface="Calibri" pitchFamily="34" charset="-122"/>
                <a:cs typeface="Calibri" pitchFamily="34" charset="-120"/>
              </a:rPr>
              <a:t>Xuange923 GitHub</a:t>
            </a:r>
            <a:endParaRPr lang="en-US" sz="1000" dirty="0"/>
          </a:p>
        </p:txBody>
      </p:sp>
      <p:sp>
        <p:nvSpPr>
          <p:cNvPr id="15" name="Shape 13"/>
          <p:cNvSpPr/>
          <p:nvPr/>
        </p:nvSpPr>
        <p:spPr>
          <a:xfrm>
            <a:off x="3602736" y="2697480"/>
            <a:ext cx="164592" cy="0"/>
          </a:xfrm>
          <a:prstGeom prst="line">
            <a:avLst/>
          </a:prstGeom>
          <a:noFill/>
          <a:ln w="25400">
            <a:solidFill>
              <a:srgbClr val="00D4FF"/>
            </a:solidFill>
            <a:prstDash val="solid"/>
          </a:ln>
        </p:spPr>
      </p:sp>
      <p:sp>
        <p:nvSpPr>
          <p:cNvPr id="16" name="Shape 14"/>
          <p:cNvSpPr/>
          <p:nvPr/>
        </p:nvSpPr>
        <p:spPr>
          <a:xfrm>
            <a:off x="3785616" y="1005840"/>
            <a:ext cx="1463040" cy="3291840"/>
          </a:xfrm>
          <a:prstGeom prst="roundRect">
            <a:avLst>
              <a:gd name="adj" fmla="val 5000"/>
            </a:avLst>
          </a:prstGeom>
          <a:solidFill>
            <a:srgbClr val="111D2E"/>
          </a:solidFill>
          <a:ln/>
        </p:spPr>
      </p:sp>
      <p:sp>
        <p:nvSpPr>
          <p:cNvPr id="17" name="Text 15"/>
          <p:cNvSpPr/>
          <p:nvPr/>
        </p:nvSpPr>
        <p:spPr>
          <a:xfrm>
            <a:off x="3785616" y="1078992"/>
            <a:ext cx="1463040" cy="411480"/>
          </a:xfrm>
          <a:prstGeom prst="rect">
            <a:avLst/>
          </a:prstGeom>
          <a:noFill/>
          <a:ln/>
        </p:spPr>
        <p:txBody>
          <a:bodyPr wrap="square" lIns="0" tIns="0" rIns="0" bIns="0" rtlCol="0" anchor="ctr"/>
          <a:lstStyle/>
          <a:p>
            <a:pPr algn="ctr" indent="0" marL="0">
              <a:buNone/>
            </a:pPr>
            <a:r>
              <a:rPr lang="en-US" sz="2200" b="1" dirty="0">
                <a:solidFill>
                  <a:srgbClr val="00D4FF"/>
                </a:solidFill>
                <a:latin typeface="Calibri" pitchFamily="34" charset="0"/>
                <a:ea typeface="Calibri" pitchFamily="34" charset="-122"/>
                <a:cs typeface="Calibri" pitchFamily="34" charset="-120"/>
              </a:rPr>
              <a:t>3</a:t>
            </a:r>
            <a:endParaRPr lang="en-US" sz="2200" dirty="0"/>
          </a:p>
        </p:txBody>
      </p:sp>
      <p:sp>
        <p:nvSpPr>
          <p:cNvPr id="18" name="Text 16"/>
          <p:cNvSpPr/>
          <p:nvPr/>
        </p:nvSpPr>
        <p:spPr>
          <a:xfrm>
            <a:off x="3785616" y="1508760"/>
            <a:ext cx="1463040" cy="5943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Frame</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Extraction</a:t>
            </a:r>
            <a:endParaRPr lang="en-US" sz="1100" dirty="0"/>
          </a:p>
        </p:txBody>
      </p:sp>
      <p:sp>
        <p:nvSpPr>
          <p:cNvPr id="19" name="Text 17"/>
          <p:cNvSpPr/>
          <p:nvPr/>
        </p:nvSpPr>
        <p:spPr>
          <a:xfrm>
            <a:off x="3785616" y="2157984"/>
            <a:ext cx="1463040" cy="2011680"/>
          </a:xfrm>
          <a:prstGeom prst="rect">
            <a:avLst/>
          </a:prstGeom>
          <a:noFill/>
          <a:ln/>
        </p:spPr>
        <p:txBody>
          <a:bodyPr wrap="square" lIns="0" tIns="0" rIns="0" bIns="0" rtlCol="0" anchor="ctr"/>
          <a:lstStyle/>
          <a:p>
            <a:pPr algn="ctr" indent="0" marL="0">
              <a:buNone/>
            </a:pPr>
            <a:r>
              <a:rPr lang="en-US" sz="1000" dirty="0">
                <a:solidFill>
                  <a:srgbClr val="CBD5E1"/>
                </a:solidFill>
                <a:latin typeface="Calibri" pitchFamily="34" charset="0"/>
                <a:ea typeface="Calibri" pitchFamily="34" charset="-122"/>
                <a:cs typeface="Calibri" pitchFamily="34" charset="-120"/>
              </a:rPr>
              <a:t>5 FPS sampling</a:t>
            </a:r>
            <a:endParaRPr lang="en-US" sz="1000" dirty="0"/>
          </a:p>
          <a:p>
            <a:pPr algn="ctr" indent="0" marL="0">
              <a:buNone/>
            </a:pPr>
            <a:r>
              <a:rPr lang="en-US" sz="1000" dirty="0">
                <a:solidFill>
                  <a:srgbClr val="CBD5E1"/>
                </a:solidFill>
                <a:latin typeface="Calibri" pitchFamily="34" charset="0"/>
                <a:ea typeface="Calibri" pitchFamily="34" charset="-122"/>
                <a:cs typeface="Calibri" pitchFamily="34" charset="-120"/>
              </a:rPr>
              <a:t>16-frame clip volumes</a:t>
            </a:r>
            <a:endParaRPr lang="en-US" sz="1000" dirty="0"/>
          </a:p>
          <a:p>
            <a:pPr algn="ctr" indent="0" marL="0">
              <a:buNone/>
            </a:pPr>
            <a:r>
              <a:rPr lang="en-US" sz="1000" dirty="0">
                <a:solidFill>
                  <a:srgbClr val="CBD5E1"/>
                </a:solidFill>
                <a:latin typeface="Calibri" pitchFamily="34" charset="0"/>
                <a:ea typeface="Calibri" pitchFamily="34" charset="-122"/>
                <a:cs typeface="Calibri" pitchFamily="34" charset="-120"/>
              </a:rPr>
              <a:t>112×112 resize</a:t>
            </a:r>
            <a:endParaRPr lang="en-US" sz="1000" dirty="0"/>
          </a:p>
        </p:txBody>
      </p:sp>
      <p:sp>
        <p:nvSpPr>
          <p:cNvPr id="20" name="Shape 18"/>
          <p:cNvSpPr/>
          <p:nvPr/>
        </p:nvSpPr>
        <p:spPr>
          <a:xfrm>
            <a:off x="5266944" y="2697480"/>
            <a:ext cx="164592" cy="0"/>
          </a:xfrm>
          <a:prstGeom prst="line">
            <a:avLst/>
          </a:prstGeom>
          <a:noFill/>
          <a:ln w="25400">
            <a:solidFill>
              <a:srgbClr val="00D4FF"/>
            </a:solidFill>
            <a:prstDash val="solid"/>
          </a:ln>
        </p:spPr>
      </p:sp>
      <p:sp>
        <p:nvSpPr>
          <p:cNvPr id="21" name="Shape 19"/>
          <p:cNvSpPr/>
          <p:nvPr/>
        </p:nvSpPr>
        <p:spPr>
          <a:xfrm>
            <a:off x="5449824" y="1005840"/>
            <a:ext cx="1463040" cy="3291840"/>
          </a:xfrm>
          <a:prstGeom prst="roundRect">
            <a:avLst>
              <a:gd name="adj" fmla="val 5000"/>
            </a:avLst>
          </a:prstGeom>
          <a:solidFill>
            <a:srgbClr val="111D2E"/>
          </a:solidFill>
          <a:ln/>
        </p:spPr>
      </p:sp>
      <p:sp>
        <p:nvSpPr>
          <p:cNvPr id="22" name="Text 20"/>
          <p:cNvSpPr/>
          <p:nvPr/>
        </p:nvSpPr>
        <p:spPr>
          <a:xfrm>
            <a:off x="5449824" y="1078992"/>
            <a:ext cx="1463040" cy="411480"/>
          </a:xfrm>
          <a:prstGeom prst="rect">
            <a:avLst/>
          </a:prstGeom>
          <a:noFill/>
          <a:ln/>
        </p:spPr>
        <p:txBody>
          <a:bodyPr wrap="square" lIns="0" tIns="0" rIns="0" bIns="0" rtlCol="0" anchor="ctr"/>
          <a:lstStyle/>
          <a:p>
            <a:pPr algn="ctr" indent="0" marL="0">
              <a:buNone/>
            </a:pPr>
            <a:r>
              <a:rPr lang="en-US" sz="2200" b="1" dirty="0">
                <a:solidFill>
                  <a:srgbClr val="00D4FF"/>
                </a:solidFill>
                <a:latin typeface="Calibri" pitchFamily="34" charset="0"/>
                <a:ea typeface="Calibri" pitchFamily="34" charset="-122"/>
                <a:cs typeface="Calibri" pitchFamily="34" charset="-120"/>
              </a:rPr>
              <a:t>4</a:t>
            </a:r>
            <a:endParaRPr lang="en-US" sz="2200" dirty="0"/>
          </a:p>
        </p:txBody>
      </p:sp>
      <p:sp>
        <p:nvSpPr>
          <p:cNvPr id="23" name="Text 21"/>
          <p:cNvSpPr/>
          <p:nvPr/>
        </p:nvSpPr>
        <p:spPr>
          <a:xfrm>
            <a:off x="5449824" y="1508760"/>
            <a:ext cx="1463040" cy="5943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Class</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Merging</a:t>
            </a:r>
            <a:endParaRPr lang="en-US" sz="1100" dirty="0"/>
          </a:p>
        </p:txBody>
      </p:sp>
      <p:sp>
        <p:nvSpPr>
          <p:cNvPr id="24" name="Text 22"/>
          <p:cNvSpPr/>
          <p:nvPr/>
        </p:nvSpPr>
        <p:spPr>
          <a:xfrm>
            <a:off x="5449824" y="2157984"/>
            <a:ext cx="1463040" cy="2011680"/>
          </a:xfrm>
          <a:prstGeom prst="rect">
            <a:avLst/>
          </a:prstGeom>
          <a:noFill/>
          <a:ln/>
        </p:spPr>
        <p:txBody>
          <a:bodyPr wrap="square" lIns="0" tIns="0" rIns="0" bIns="0" rtlCol="0" anchor="ctr"/>
          <a:lstStyle/>
          <a:p>
            <a:pPr algn="ctr" indent="0" marL="0">
              <a:buNone/>
            </a:pPr>
            <a:r>
              <a:rPr lang="en-US" sz="1000" dirty="0">
                <a:solidFill>
                  <a:srgbClr val="CBD5E1"/>
                </a:solidFill>
                <a:latin typeface="Calibri" pitchFamily="34" charset="0"/>
                <a:ea typeface="Calibri" pitchFamily="34" charset="-122"/>
                <a:cs typeface="Calibri" pitchFamily="34" charset="-120"/>
              </a:rPr>
              <a:t>14 → 9 merged</a:t>
            </a:r>
            <a:endParaRPr lang="en-US" sz="1000" dirty="0"/>
          </a:p>
          <a:p>
            <a:pPr algn="ctr" indent="0" marL="0">
              <a:buNone/>
            </a:pPr>
            <a:r>
              <a:rPr lang="en-US" sz="1000" dirty="0">
                <a:solidFill>
                  <a:srgbClr val="CBD5E1"/>
                </a:solidFill>
                <a:latin typeface="Calibri" pitchFamily="34" charset="0"/>
                <a:ea typeface="Calibri" pitchFamily="34" charset="-122"/>
                <a:cs typeface="Calibri" pitchFamily="34" charset="-120"/>
              </a:rPr>
              <a:t>taxonomy based on</a:t>
            </a:r>
            <a:endParaRPr lang="en-US" sz="1000" dirty="0"/>
          </a:p>
          <a:p>
            <a:pPr algn="ctr" indent="0" marL="0">
              <a:buNone/>
            </a:pPr>
            <a:r>
              <a:rPr lang="en-US" sz="1000" dirty="0">
                <a:solidFill>
                  <a:srgbClr val="CBD5E1"/>
                </a:solidFill>
                <a:latin typeface="Calibri" pitchFamily="34" charset="0"/>
                <a:ea typeface="Calibri" pitchFamily="34" charset="-122"/>
                <a:cs typeface="Calibri" pitchFamily="34" charset="-120"/>
              </a:rPr>
              <a:t>visual similarity</a:t>
            </a:r>
            <a:endParaRPr lang="en-US" sz="1000" dirty="0"/>
          </a:p>
        </p:txBody>
      </p:sp>
      <p:sp>
        <p:nvSpPr>
          <p:cNvPr id="25" name="Shape 23"/>
          <p:cNvSpPr/>
          <p:nvPr/>
        </p:nvSpPr>
        <p:spPr>
          <a:xfrm>
            <a:off x="6931152" y="2697480"/>
            <a:ext cx="164592" cy="0"/>
          </a:xfrm>
          <a:prstGeom prst="line">
            <a:avLst/>
          </a:prstGeom>
          <a:noFill/>
          <a:ln w="25400">
            <a:solidFill>
              <a:srgbClr val="00D4FF"/>
            </a:solidFill>
            <a:prstDash val="solid"/>
          </a:ln>
        </p:spPr>
      </p:sp>
      <p:sp>
        <p:nvSpPr>
          <p:cNvPr id="26" name="Shape 24"/>
          <p:cNvSpPr/>
          <p:nvPr/>
        </p:nvSpPr>
        <p:spPr>
          <a:xfrm>
            <a:off x="7114032" y="1005840"/>
            <a:ext cx="1463040" cy="3291840"/>
          </a:xfrm>
          <a:prstGeom prst="roundRect">
            <a:avLst>
              <a:gd name="adj" fmla="val 5000"/>
            </a:avLst>
          </a:prstGeom>
          <a:solidFill>
            <a:srgbClr val="111D2E"/>
          </a:solidFill>
          <a:ln/>
        </p:spPr>
      </p:sp>
      <p:sp>
        <p:nvSpPr>
          <p:cNvPr id="27" name="Text 25"/>
          <p:cNvSpPr/>
          <p:nvPr/>
        </p:nvSpPr>
        <p:spPr>
          <a:xfrm>
            <a:off x="7114032" y="1078992"/>
            <a:ext cx="1463040" cy="411480"/>
          </a:xfrm>
          <a:prstGeom prst="rect">
            <a:avLst/>
          </a:prstGeom>
          <a:noFill/>
          <a:ln/>
        </p:spPr>
        <p:txBody>
          <a:bodyPr wrap="square" lIns="0" tIns="0" rIns="0" bIns="0" rtlCol="0" anchor="ctr"/>
          <a:lstStyle/>
          <a:p>
            <a:pPr algn="ctr" indent="0" marL="0">
              <a:buNone/>
            </a:pPr>
            <a:r>
              <a:rPr lang="en-US" sz="2200" b="1" dirty="0">
                <a:solidFill>
                  <a:srgbClr val="00D4FF"/>
                </a:solidFill>
                <a:latin typeface="Calibri" pitchFamily="34" charset="0"/>
                <a:ea typeface="Calibri" pitchFamily="34" charset="-122"/>
                <a:cs typeface="Calibri" pitchFamily="34" charset="-120"/>
              </a:rPr>
              <a:t>5</a:t>
            </a:r>
            <a:endParaRPr lang="en-US" sz="2200" dirty="0"/>
          </a:p>
        </p:txBody>
      </p:sp>
      <p:sp>
        <p:nvSpPr>
          <p:cNvPr id="28" name="Text 26"/>
          <p:cNvSpPr/>
          <p:nvPr/>
        </p:nvSpPr>
        <p:spPr>
          <a:xfrm>
            <a:off x="7114032" y="1508760"/>
            <a:ext cx="1463040" cy="5943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Stratified</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Split</a:t>
            </a:r>
            <a:endParaRPr lang="en-US" sz="1100" dirty="0"/>
          </a:p>
        </p:txBody>
      </p:sp>
      <p:sp>
        <p:nvSpPr>
          <p:cNvPr id="29" name="Text 27"/>
          <p:cNvSpPr/>
          <p:nvPr/>
        </p:nvSpPr>
        <p:spPr>
          <a:xfrm>
            <a:off x="7114032" y="2157984"/>
            <a:ext cx="1463040" cy="2011680"/>
          </a:xfrm>
          <a:prstGeom prst="rect">
            <a:avLst/>
          </a:prstGeom>
          <a:noFill/>
          <a:ln/>
        </p:spPr>
        <p:txBody>
          <a:bodyPr wrap="square" lIns="0" tIns="0" rIns="0" bIns="0" rtlCol="0" anchor="ctr"/>
          <a:lstStyle/>
          <a:p>
            <a:pPr algn="ctr" indent="0" marL="0">
              <a:buNone/>
            </a:pPr>
            <a:r>
              <a:rPr lang="en-US" sz="1000" dirty="0">
                <a:solidFill>
                  <a:srgbClr val="CBD5E1"/>
                </a:solidFill>
                <a:latin typeface="Calibri" pitchFamily="34" charset="0"/>
                <a:ea typeface="Calibri" pitchFamily="34" charset="-122"/>
                <a:cs typeface="Calibri" pitchFamily="34" charset="-120"/>
              </a:rPr>
              <a:t>70% Train</a:t>
            </a:r>
            <a:endParaRPr lang="en-US" sz="1000" dirty="0"/>
          </a:p>
          <a:p>
            <a:pPr algn="ctr" indent="0" marL="0">
              <a:buNone/>
            </a:pPr>
            <a:r>
              <a:rPr lang="en-US" sz="1000" dirty="0">
                <a:solidFill>
                  <a:srgbClr val="CBD5E1"/>
                </a:solidFill>
                <a:latin typeface="Calibri" pitchFamily="34" charset="0"/>
                <a:ea typeface="Calibri" pitchFamily="34" charset="-122"/>
                <a:cs typeface="Calibri" pitchFamily="34" charset="-120"/>
              </a:rPr>
              <a:t>15% Validation</a:t>
            </a:r>
            <a:endParaRPr lang="en-US" sz="1000" dirty="0"/>
          </a:p>
          <a:p>
            <a:pPr algn="ctr" indent="0" marL="0">
              <a:buNone/>
            </a:pPr>
            <a:r>
              <a:rPr lang="en-US" sz="1000" dirty="0">
                <a:solidFill>
                  <a:srgbClr val="CBD5E1"/>
                </a:solidFill>
                <a:latin typeface="Calibri" pitchFamily="34" charset="0"/>
                <a:ea typeface="Calibri" pitchFamily="34" charset="-122"/>
                <a:cs typeface="Calibri" pitchFamily="34" charset="-120"/>
              </a:rPr>
              <a:t>15% Test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2 · DATASET</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Dataset Challenges</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1005840"/>
            <a:ext cx="4023360" cy="1783080"/>
          </a:xfrm>
          <a:prstGeom prst="roundRect">
            <a:avLst>
              <a:gd name="adj" fmla="val 4103"/>
            </a:avLst>
          </a:prstGeom>
          <a:solidFill>
            <a:srgbClr val="111D2E"/>
          </a:solidFill>
          <a:ln/>
        </p:spPr>
      </p:sp>
      <p:sp>
        <p:nvSpPr>
          <p:cNvPr id="7" name="Text 5"/>
          <p:cNvSpPr/>
          <p:nvPr/>
        </p:nvSpPr>
        <p:spPr>
          <a:xfrm>
            <a:off x="566928" y="1097280"/>
            <a:ext cx="3794760" cy="292608"/>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  Extreme Class Imbalance</a:t>
            </a:r>
            <a:endParaRPr lang="en-US" sz="1200" dirty="0"/>
          </a:p>
        </p:txBody>
      </p:sp>
      <p:sp>
        <p:nvSpPr>
          <p:cNvPr id="8" name="Text 6"/>
          <p:cNvSpPr/>
          <p:nvPr/>
        </p:nvSpPr>
        <p:spPr>
          <a:xfrm>
            <a:off x="566928" y="1444752"/>
            <a:ext cx="3794760" cy="1243584"/>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Normal class: 948k training frames vs Shooting: 7.1k. A 133:1 ratio forces gradient bias toward normality, causing false negatives on critical anomalies.</a:t>
            </a:r>
            <a:endParaRPr lang="en-US" sz="1100" dirty="0"/>
          </a:p>
        </p:txBody>
      </p:sp>
      <p:sp>
        <p:nvSpPr>
          <p:cNvPr id="9" name="Shape 7"/>
          <p:cNvSpPr/>
          <p:nvPr/>
        </p:nvSpPr>
        <p:spPr>
          <a:xfrm>
            <a:off x="4800600" y="1005840"/>
            <a:ext cx="4023360" cy="1783080"/>
          </a:xfrm>
          <a:prstGeom prst="roundRect">
            <a:avLst>
              <a:gd name="adj" fmla="val 4103"/>
            </a:avLst>
          </a:prstGeom>
          <a:solidFill>
            <a:srgbClr val="111D2E"/>
          </a:solidFill>
          <a:ln/>
        </p:spPr>
      </p:sp>
      <p:sp>
        <p:nvSpPr>
          <p:cNvPr id="10" name="Text 8"/>
          <p:cNvSpPr/>
          <p:nvPr/>
        </p:nvSpPr>
        <p:spPr>
          <a:xfrm>
            <a:off x="4910328" y="1097280"/>
            <a:ext cx="3794760" cy="292608"/>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  Weak Label Noise (MIL)</a:t>
            </a:r>
            <a:endParaRPr lang="en-US" sz="1200" dirty="0"/>
          </a:p>
        </p:txBody>
      </p:sp>
      <p:sp>
        <p:nvSpPr>
          <p:cNvPr id="11" name="Text 9"/>
          <p:cNvSpPr/>
          <p:nvPr/>
        </p:nvSpPr>
        <p:spPr>
          <a:xfrm>
            <a:off x="4910328" y="1444752"/>
            <a:ext cx="3794760" cy="1243584"/>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Traditional bag-level labels annotate a full 10-min video as anomalous. This injects massive normal-frame noise into anomaly gradients during backpropagation.</a:t>
            </a:r>
            <a:endParaRPr lang="en-US" sz="1100" dirty="0"/>
          </a:p>
        </p:txBody>
      </p:sp>
      <p:sp>
        <p:nvSpPr>
          <p:cNvPr id="12" name="Shape 10"/>
          <p:cNvSpPr/>
          <p:nvPr/>
        </p:nvSpPr>
        <p:spPr>
          <a:xfrm>
            <a:off x="457200" y="2971800"/>
            <a:ext cx="4023360" cy="1783080"/>
          </a:xfrm>
          <a:prstGeom prst="roundRect">
            <a:avLst>
              <a:gd name="adj" fmla="val 4103"/>
            </a:avLst>
          </a:prstGeom>
          <a:solidFill>
            <a:srgbClr val="111D2E"/>
          </a:solidFill>
          <a:ln/>
        </p:spPr>
      </p:sp>
      <p:sp>
        <p:nvSpPr>
          <p:cNvPr id="13" name="Text 11"/>
          <p:cNvSpPr/>
          <p:nvPr/>
        </p:nvSpPr>
        <p:spPr>
          <a:xfrm>
            <a:off x="566928" y="3063240"/>
            <a:ext cx="3794760" cy="292608"/>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  Environmental Variance</a:t>
            </a:r>
            <a:endParaRPr lang="en-US" sz="1200" dirty="0"/>
          </a:p>
        </p:txBody>
      </p:sp>
      <p:sp>
        <p:nvSpPr>
          <p:cNvPr id="14" name="Text 12"/>
          <p:cNvSpPr/>
          <p:nvPr/>
        </p:nvSpPr>
        <p:spPr>
          <a:xfrm>
            <a:off x="566928" y="3410712"/>
            <a:ext cx="3794760" cy="1243584"/>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Real surveillance footage has fixed camera angles, variable frame rates, night/day lighting shifts, weather occlusions, and compressed low-resolution streams.</a:t>
            </a:r>
            <a:endParaRPr lang="en-US" sz="1100" dirty="0"/>
          </a:p>
        </p:txBody>
      </p:sp>
      <p:sp>
        <p:nvSpPr>
          <p:cNvPr id="15" name="Shape 13"/>
          <p:cNvSpPr/>
          <p:nvPr/>
        </p:nvSpPr>
        <p:spPr>
          <a:xfrm>
            <a:off x="4800600" y="2971800"/>
            <a:ext cx="4023360" cy="1783080"/>
          </a:xfrm>
          <a:prstGeom prst="roundRect">
            <a:avLst>
              <a:gd name="adj" fmla="val 4103"/>
            </a:avLst>
          </a:prstGeom>
          <a:solidFill>
            <a:srgbClr val="111D2E"/>
          </a:solidFill>
          <a:ln/>
        </p:spPr>
      </p:sp>
      <p:sp>
        <p:nvSpPr>
          <p:cNvPr id="16" name="Text 14"/>
          <p:cNvSpPr/>
          <p:nvPr/>
        </p:nvSpPr>
        <p:spPr>
          <a:xfrm>
            <a:off x="4910328" y="3063240"/>
            <a:ext cx="3794760" cy="292608"/>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  Visual Class Ambiguity</a:t>
            </a:r>
            <a:endParaRPr lang="en-US" sz="1200" dirty="0"/>
          </a:p>
        </p:txBody>
      </p:sp>
      <p:sp>
        <p:nvSpPr>
          <p:cNvPr id="17" name="Text 15"/>
          <p:cNvSpPr/>
          <p:nvPr/>
        </p:nvSpPr>
        <p:spPr>
          <a:xfrm>
            <a:off x="4910328" y="3410712"/>
            <a:ext cx="3794760" cy="1243584"/>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Arrest and Robbery share similar visual patterns with Normal street activity. Low AUC (0.78 Arrest, 0.82 Robbery) confirms the difficulty of discrimination in low-res CCTV.</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2 · DATASET</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Data Preprocessing Pipeline</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1051560"/>
            <a:ext cx="8229600" cy="685800"/>
          </a:xfrm>
          <a:prstGeom prst="roundRect">
            <a:avLst>
              <a:gd name="adj" fmla="val 9333"/>
            </a:avLst>
          </a:prstGeom>
          <a:solidFill>
            <a:srgbClr val="111D2E"/>
          </a:solidFill>
          <a:ln/>
        </p:spPr>
      </p:sp>
      <p:sp>
        <p:nvSpPr>
          <p:cNvPr id="7" name="Text 5"/>
          <p:cNvSpPr/>
          <p:nvPr/>
        </p:nvSpPr>
        <p:spPr>
          <a:xfrm>
            <a:off x="566928" y="1124712"/>
            <a:ext cx="384048" cy="457200"/>
          </a:xfrm>
          <a:prstGeom prst="rect">
            <a:avLst/>
          </a:prstGeom>
          <a:noFill/>
          <a:ln/>
        </p:spPr>
        <p:txBody>
          <a:bodyPr wrap="square" lIns="0" tIns="0" rIns="0" bIns="0" rtlCol="0" anchor="ctr"/>
          <a:lstStyle/>
          <a:p>
            <a:pPr algn="ctr" indent="0" marL="0">
              <a:buNone/>
            </a:pPr>
            <a:r>
              <a:rPr lang="en-US" sz="1800" b="1" dirty="0">
                <a:solidFill>
                  <a:srgbClr val="00D4FF"/>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1078992" y="1124712"/>
            <a:ext cx="219456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Raw Video</a:t>
            </a:r>
            <a:endParaRPr lang="en-US" sz="1300" dirty="0"/>
          </a:p>
        </p:txBody>
      </p:sp>
      <p:sp>
        <p:nvSpPr>
          <p:cNvPr id="9" name="Text 7"/>
          <p:cNvSpPr/>
          <p:nvPr/>
        </p:nvSpPr>
        <p:spPr>
          <a:xfrm>
            <a:off x="1078992" y="1417320"/>
            <a:ext cx="7406640" cy="256032"/>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UCF-Crime surveillance footage with temporal annotation timestamps</a:t>
            </a:r>
            <a:endParaRPr lang="en-US" sz="1100" dirty="0"/>
          </a:p>
        </p:txBody>
      </p:sp>
      <p:sp>
        <p:nvSpPr>
          <p:cNvPr id="10" name="Text 8"/>
          <p:cNvSpPr/>
          <p:nvPr/>
        </p:nvSpPr>
        <p:spPr>
          <a:xfrm>
            <a:off x="4114800" y="1764792"/>
            <a:ext cx="914400" cy="228600"/>
          </a:xfrm>
          <a:prstGeom prst="rect">
            <a:avLst/>
          </a:prstGeom>
          <a:noFill/>
          <a:ln/>
        </p:spPr>
        <p:txBody>
          <a:bodyPr wrap="square" lIns="0" tIns="0" rIns="0" bIns="0" rtlCol="0" anchor="ctr"/>
          <a:lstStyle/>
          <a:p>
            <a:pPr algn="ctr" indent="0" marL="0">
              <a:buNone/>
            </a:pPr>
            <a:r>
              <a:rPr lang="en-US" sz="1400" dirty="0">
                <a:solidFill>
                  <a:srgbClr val="00D4FF"/>
                </a:solidFill>
                <a:latin typeface="Calibri" pitchFamily="34" charset="0"/>
                <a:ea typeface="Calibri" pitchFamily="34" charset="-122"/>
                <a:cs typeface="Calibri" pitchFamily="34" charset="-120"/>
              </a:rPr>
              <a:t>↓</a:t>
            </a:r>
            <a:endParaRPr lang="en-US" sz="1400" dirty="0"/>
          </a:p>
        </p:txBody>
      </p:sp>
      <p:sp>
        <p:nvSpPr>
          <p:cNvPr id="11" name="Shape 9"/>
          <p:cNvSpPr/>
          <p:nvPr/>
        </p:nvSpPr>
        <p:spPr>
          <a:xfrm>
            <a:off x="457200" y="1828800"/>
            <a:ext cx="8229600" cy="685800"/>
          </a:xfrm>
          <a:prstGeom prst="roundRect">
            <a:avLst>
              <a:gd name="adj" fmla="val 9333"/>
            </a:avLst>
          </a:prstGeom>
          <a:solidFill>
            <a:srgbClr val="111D2E"/>
          </a:solidFill>
          <a:ln/>
        </p:spPr>
      </p:sp>
      <p:sp>
        <p:nvSpPr>
          <p:cNvPr id="12" name="Text 10"/>
          <p:cNvSpPr/>
          <p:nvPr/>
        </p:nvSpPr>
        <p:spPr>
          <a:xfrm>
            <a:off x="566928" y="1901952"/>
            <a:ext cx="384048" cy="457200"/>
          </a:xfrm>
          <a:prstGeom prst="rect">
            <a:avLst/>
          </a:prstGeom>
          <a:noFill/>
          <a:ln/>
        </p:spPr>
        <p:txBody>
          <a:bodyPr wrap="square" lIns="0" tIns="0" rIns="0" bIns="0" rtlCol="0" anchor="ctr"/>
          <a:lstStyle/>
          <a:p>
            <a:pPr algn="ctr" indent="0" marL="0">
              <a:buNone/>
            </a:pPr>
            <a:r>
              <a:rPr lang="en-US" sz="1800" b="1" dirty="0">
                <a:solidFill>
                  <a:srgbClr val="00D4FF"/>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1078992" y="1901952"/>
            <a:ext cx="219456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Frame Cleaning</a:t>
            </a:r>
            <a:endParaRPr lang="en-US" sz="1300" dirty="0"/>
          </a:p>
        </p:txBody>
      </p:sp>
      <p:sp>
        <p:nvSpPr>
          <p:cNvPr id="14" name="Text 12"/>
          <p:cNvSpPr/>
          <p:nvPr/>
        </p:nvSpPr>
        <p:spPr>
          <a:xfrm>
            <a:off x="1078992" y="2194560"/>
            <a:ext cx="7406640" cy="256032"/>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Remove corrupted frames, normalize aspect ratios, handle variable FRs</a:t>
            </a:r>
            <a:endParaRPr lang="en-US" sz="1100" dirty="0"/>
          </a:p>
        </p:txBody>
      </p:sp>
      <p:sp>
        <p:nvSpPr>
          <p:cNvPr id="15" name="Text 13"/>
          <p:cNvSpPr/>
          <p:nvPr/>
        </p:nvSpPr>
        <p:spPr>
          <a:xfrm>
            <a:off x="4114800" y="2542032"/>
            <a:ext cx="914400" cy="228600"/>
          </a:xfrm>
          <a:prstGeom prst="rect">
            <a:avLst/>
          </a:prstGeom>
          <a:noFill/>
          <a:ln/>
        </p:spPr>
        <p:txBody>
          <a:bodyPr wrap="square" lIns="0" tIns="0" rIns="0" bIns="0" rtlCol="0" anchor="ctr"/>
          <a:lstStyle/>
          <a:p>
            <a:pPr algn="ctr" indent="0" marL="0">
              <a:buNone/>
            </a:pPr>
            <a:r>
              <a:rPr lang="en-US" sz="1400" dirty="0">
                <a:solidFill>
                  <a:srgbClr val="00D4FF"/>
                </a:solidFill>
                <a:latin typeface="Calibri" pitchFamily="34" charset="0"/>
                <a:ea typeface="Calibri" pitchFamily="34" charset="-122"/>
                <a:cs typeface="Calibri" pitchFamily="34" charset="-120"/>
              </a:rPr>
              <a:t>↓</a:t>
            </a:r>
            <a:endParaRPr lang="en-US" sz="1400" dirty="0"/>
          </a:p>
        </p:txBody>
      </p:sp>
      <p:sp>
        <p:nvSpPr>
          <p:cNvPr id="16" name="Shape 14"/>
          <p:cNvSpPr/>
          <p:nvPr/>
        </p:nvSpPr>
        <p:spPr>
          <a:xfrm>
            <a:off x="457200" y="2606040"/>
            <a:ext cx="8229600" cy="685800"/>
          </a:xfrm>
          <a:prstGeom prst="roundRect">
            <a:avLst>
              <a:gd name="adj" fmla="val 9333"/>
            </a:avLst>
          </a:prstGeom>
          <a:solidFill>
            <a:srgbClr val="111D2E"/>
          </a:solidFill>
          <a:ln/>
        </p:spPr>
      </p:sp>
      <p:sp>
        <p:nvSpPr>
          <p:cNvPr id="17" name="Text 15"/>
          <p:cNvSpPr/>
          <p:nvPr/>
        </p:nvSpPr>
        <p:spPr>
          <a:xfrm>
            <a:off x="566928" y="2679192"/>
            <a:ext cx="384048" cy="457200"/>
          </a:xfrm>
          <a:prstGeom prst="rect">
            <a:avLst/>
          </a:prstGeom>
          <a:noFill/>
          <a:ln/>
        </p:spPr>
        <p:txBody>
          <a:bodyPr wrap="square" lIns="0" tIns="0" rIns="0" bIns="0" rtlCol="0" anchor="ctr"/>
          <a:lstStyle/>
          <a:p>
            <a:pPr algn="ctr" indent="0" marL="0">
              <a:buNone/>
            </a:pPr>
            <a:r>
              <a:rPr lang="en-US" sz="1800" b="1" dirty="0">
                <a:solidFill>
                  <a:srgbClr val="00D4FF"/>
                </a:solidFill>
                <a:latin typeface="Calibri" pitchFamily="34" charset="0"/>
                <a:ea typeface="Calibri" pitchFamily="34" charset="-122"/>
                <a:cs typeface="Calibri" pitchFamily="34" charset="-120"/>
              </a:rPr>
              <a:t>3</a:t>
            </a:r>
            <a:endParaRPr lang="en-US" sz="1800" dirty="0"/>
          </a:p>
        </p:txBody>
      </p:sp>
      <p:sp>
        <p:nvSpPr>
          <p:cNvPr id="18" name="Text 16"/>
          <p:cNvSpPr/>
          <p:nvPr/>
        </p:nvSpPr>
        <p:spPr>
          <a:xfrm>
            <a:off x="1078992" y="2679192"/>
            <a:ext cx="219456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Enhancement</a:t>
            </a:r>
            <a:endParaRPr lang="en-US" sz="1300" dirty="0"/>
          </a:p>
        </p:txBody>
      </p:sp>
      <p:sp>
        <p:nvSpPr>
          <p:cNvPr id="19" name="Text 17"/>
          <p:cNvSpPr/>
          <p:nvPr/>
        </p:nvSpPr>
        <p:spPr>
          <a:xfrm>
            <a:off x="1078992" y="2971800"/>
            <a:ext cx="7406640" cy="256032"/>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Resize to 224×224 (spatial) &amp; 112×112 (temporal), ImageNet normalization</a:t>
            </a:r>
            <a:endParaRPr lang="en-US" sz="1100" dirty="0"/>
          </a:p>
        </p:txBody>
      </p:sp>
      <p:sp>
        <p:nvSpPr>
          <p:cNvPr id="20" name="Text 18"/>
          <p:cNvSpPr/>
          <p:nvPr/>
        </p:nvSpPr>
        <p:spPr>
          <a:xfrm>
            <a:off x="4114800" y="3319272"/>
            <a:ext cx="914400" cy="228600"/>
          </a:xfrm>
          <a:prstGeom prst="rect">
            <a:avLst/>
          </a:prstGeom>
          <a:noFill/>
          <a:ln/>
        </p:spPr>
        <p:txBody>
          <a:bodyPr wrap="square" lIns="0" tIns="0" rIns="0" bIns="0" rtlCol="0" anchor="ctr"/>
          <a:lstStyle/>
          <a:p>
            <a:pPr algn="ctr" indent="0" marL="0">
              <a:buNone/>
            </a:pPr>
            <a:r>
              <a:rPr lang="en-US" sz="1400" dirty="0">
                <a:solidFill>
                  <a:srgbClr val="00D4FF"/>
                </a:solidFill>
                <a:latin typeface="Calibri" pitchFamily="34" charset="0"/>
                <a:ea typeface="Calibri" pitchFamily="34" charset="-122"/>
                <a:cs typeface="Calibri" pitchFamily="34" charset="-120"/>
              </a:rPr>
              <a:t>↓</a:t>
            </a:r>
            <a:endParaRPr lang="en-US" sz="1400" dirty="0"/>
          </a:p>
        </p:txBody>
      </p:sp>
      <p:sp>
        <p:nvSpPr>
          <p:cNvPr id="21" name="Shape 19"/>
          <p:cNvSpPr/>
          <p:nvPr/>
        </p:nvSpPr>
        <p:spPr>
          <a:xfrm>
            <a:off x="457200" y="3383280"/>
            <a:ext cx="8229600" cy="685800"/>
          </a:xfrm>
          <a:prstGeom prst="roundRect">
            <a:avLst>
              <a:gd name="adj" fmla="val 9333"/>
            </a:avLst>
          </a:prstGeom>
          <a:solidFill>
            <a:srgbClr val="111D2E"/>
          </a:solidFill>
          <a:ln/>
        </p:spPr>
      </p:sp>
      <p:sp>
        <p:nvSpPr>
          <p:cNvPr id="22" name="Text 20"/>
          <p:cNvSpPr/>
          <p:nvPr/>
        </p:nvSpPr>
        <p:spPr>
          <a:xfrm>
            <a:off x="566928" y="3456432"/>
            <a:ext cx="384048" cy="457200"/>
          </a:xfrm>
          <a:prstGeom prst="rect">
            <a:avLst/>
          </a:prstGeom>
          <a:noFill/>
          <a:ln/>
        </p:spPr>
        <p:txBody>
          <a:bodyPr wrap="square" lIns="0" tIns="0" rIns="0" bIns="0" rtlCol="0" anchor="ctr"/>
          <a:lstStyle/>
          <a:p>
            <a:pPr algn="ctr" indent="0" marL="0">
              <a:buNone/>
            </a:pPr>
            <a:r>
              <a:rPr lang="en-US" sz="1800" b="1" dirty="0">
                <a:solidFill>
                  <a:srgbClr val="00D4FF"/>
                </a:solidFill>
                <a:latin typeface="Calibri" pitchFamily="34" charset="0"/>
                <a:ea typeface="Calibri" pitchFamily="34" charset="-122"/>
                <a:cs typeface="Calibri" pitchFamily="34" charset="-120"/>
              </a:rPr>
              <a:t>4</a:t>
            </a:r>
            <a:endParaRPr lang="en-US" sz="1800" dirty="0"/>
          </a:p>
        </p:txBody>
      </p:sp>
      <p:sp>
        <p:nvSpPr>
          <p:cNvPr id="23" name="Text 21"/>
          <p:cNvSpPr/>
          <p:nvPr/>
        </p:nvSpPr>
        <p:spPr>
          <a:xfrm>
            <a:off x="1078992" y="3456432"/>
            <a:ext cx="219456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Augmentation</a:t>
            </a:r>
            <a:endParaRPr lang="en-US" sz="1300" dirty="0"/>
          </a:p>
        </p:txBody>
      </p:sp>
      <p:sp>
        <p:nvSpPr>
          <p:cNvPr id="24" name="Text 22"/>
          <p:cNvSpPr/>
          <p:nvPr/>
        </p:nvSpPr>
        <p:spPr>
          <a:xfrm>
            <a:off x="1078992" y="3749040"/>
            <a:ext cx="7406640" cy="256032"/>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Temporal jitter, horizontal flip, random crop, brightness variation</a:t>
            </a:r>
            <a:endParaRPr lang="en-US" sz="1100" dirty="0"/>
          </a:p>
        </p:txBody>
      </p:sp>
      <p:sp>
        <p:nvSpPr>
          <p:cNvPr id="25" name="Text 23"/>
          <p:cNvSpPr/>
          <p:nvPr/>
        </p:nvSpPr>
        <p:spPr>
          <a:xfrm>
            <a:off x="4114800" y="4096512"/>
            <a:ext cx="914400" cy="228600"/>
          </a:xfrm>
          <a:prstGeom prst="rect">
            <a:avLst/>
          </a:prstGeom>
          <a:noFill/>
          <a:ln/>
        </p:spPr>
        <p:txBody>
          <a:bodyPr wrap="square" lIns="0" tIns="0" rIns="0" bIns="0" rtlCol="0" anchor="ctr"/>
          <a:lstStyle/>
          <a:p>
            <a:pPr algn="ctr" indent="0" marL="0">
              <a:buNone/>
            </a:pPr>
            <a:r>
              <a:rPr lang="en-US" sz="1400" dirty="0">
                <a:solidFill>
                  <a:srgbClr val="00D4FF"/>
                </a:solidFill>
                <a:latin typeface="Calibri" pitchFamily="34" charset="0"/>
                <a:ea typeface="Calibri" pitchFamily="34" charset="-122"/>
                <a:cs typeface="Calibri" pitchFamily="34" charset="-120"/>
              </a:rPr>
              <a:t>↓</a:t>
            </a:r>
            <a:endParaRPr lang="en-US" sz="1400" dirty="0"/>
          </a:p>
        </p:txBody>
      </p:sp>
      <p:sp>
        <p:nvSpPr>
          <p:cNvPr id="26" name="Shape 24"/>
          <p:cNvSpPr/>
          <p:nvPr/>
        </p:nvSpPr>
        <p:spPr>
          <a:xfrm>
            <a:off x="457200" y="4160520"/>
            <a:ext cx="8229600" cy="685800"/>
          </a:xfrm>
          <a:prstGeom prst="roundRect">
            <a:avLst>
              <a:gd name="adj" fmla="val 9333"/>
            </a:avLst>
          </a:prstGeom>
          <a:solidFill>
            <a:srgbClr val="111D2E"/>
          </a:solidFill>
          <a:ln/>
        </p:spPr>
      </p:sp>
      <p:sp>
        <p:nvSpPr>
          <p:cNvPr id="27" name="Text 25"/>
          <p:cNvSpPr/>
          <p:nvPr/>
        </p:nvSpPr>
        <p:spPr>
          <a:xfrm>
            <a:off x="566928" y="4233672"/>
            <a:ext cx="384048" cy="457200"/>
          </a:xfrm>
          <a:prstGeom prst="rect">
            <a:avLst/>
          </a:prstGeom>
          <a:noFill/>
          <a:ln/>
        </p:spPr>
        <p:txBody>
          <a:bodyPr wrap="square" lIns="0" tIns="0" rIns="0" bIns="0" rtlCol="0" anchor="ctr"/>
          <a:lstStyle/>
          <a:p>
            <a:pPr algn="ctr" indent="0" marL="0">
              <a:buNone/>
            </a:pPr>
            <a:r>
              <a:rPr lang="en-US" sz="1800" b="1" dirty="0">
                <a:solidFill>
                  <a:srgbClr val="00D4FF"/>
                </a:solidFill>
                <a:latin typeface="Calibri" pitchFamily="34" charset="0"/>
                <a:ea typeface="Calibri" pitchFamily="34" charset="-122"/>
                <a:cs typeface="Calibri" pitchFamily="34" charset="-120"/>
              </a:rPr>
              <a:t>5</a:t>
            </a:r>
            <a:endParaRPr lang="en-US" sz="1800" dirty="0"/>
          </a:p>
        </p:txBody>
      </p:sp>
      <p:sp>
        <p:nvSpPr>
          <p:cNvPr id="28" name="Text 26"/>
          <p:cNvSpPr/>
          <p:nvPr/>
        </p:nvSpPr>
        <p:spPr>
          <a:xfrm>
            <a:off x="1078992" y="4233672"/>
            <a:ext cx="219456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Final Split</a:t>
            </a:r>
            <a:endParaRPr lang="en-US" sz="1300" dirty="0"/>
          </a:p>
        </p:txBody>
      </p:sp>
      <p:sp>
        <p:nvSpPr>
          <p:cNvPr id="29" name="Text 27"/>
          <p:cNvSpPr/>
          <p:nvPr/>
        </p:nvSpPr>
        <p:spPr>
          <a:xfrm>
            <a:off x="1078992" y="4526280"/>
            <a:ext cx="7406640" cy="256032"/>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Stratified 70/15/15 train/val/test with class balance verification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2 · DATASET</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Dataset Statistics — Training Distribution</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graphicFrame>
        <p:nvGraphicFramePr>
          <p:cNvPr id="6" name="Chart 0" descr=""/>
          <p:cNvGraphicFramePr/>
          <p:nvPr/>
        </p:nvGraphicFramePr>
        <p:xfrm>
          <a:off x="457200" y="960120"/>
          <a:ext cx="8229600" cy="370332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457200" y="4681728"/>
            <a:ext cx="8229600" cy="228600"/>
          </a:xfrm>
          <a:prstGeom prst="rect">
            <a:avLst/>
          </a:prstGeom>
          <a:noFill/>
          <a:ln/>
        </p:spPr>
        <p:txBody>
          <a:bodyPr wrap="square" lIns="0" tIns="0" rIns="0" bIns="0" rtlCol="0" anchor="ctr"/>
          <a:lstStyle/>
          <a:p>
            <a:pPr indent="0" marL="0">
              <a:buNone/>
            </a:pPr>
            <a:r>
              <a:rPr lang="en-US" sz="1050" dirty="0">
                <a:solidFill>
                  <a:srgbClr val="F59E0B"/>
                </a:solidFill>
                <a:latin typeface="Calibri" pitchFamily="34" charset="0"/>
                <a:ea typeface="Calibri" pitchFamily="34" charset="-122"/>
                <a:cs typeface="Calibri" pitchFamily="34" charset="-120"/>
              </a:rPr>
              <a:t>⬆ Normal class (65k frames highlighted in red) dominates — 133× more frames than Shooting class</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2 · DATASET</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Before vs. After Dataset Merging &amp; Optimization</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60120"/>
            <a:ext cx="3931920" cy="3977640"/>
          </a:xfrm>
          <a:prstGeom prst="roundRect">
            <a:avLst>
              <a:gd name="adj" fmla="val 1860"/>
            </a:avLst>
          </a:prstGeom>
          <a:solidFill>
            <a:srgbClr val="1A0A0A"/>
          </a:solidFill>
          <a:ln/>
        </p:spPr>
      </p:sp>
      <p:sp>
        <p:nvSpPr>
          <p:cNvPr id="7" name="Text 5"/>
          <p:cNvSpPr/>
          <p:nvPr/>
        </p:nvSpPr>
        <p:spPr>
          <a:xfrm>
            <a:off x="457200" y="1005840"/>
            <a:ext cx="3931920" cy="320040"/>
          </a:xfrm>
          <a:prstGeom prst="rect">
            <a:avLst/>
          </a:prstGeom>
          <a:noFill/>
          <a:ln/>
        </p:spPr>
        <p:txBody>
          <a:bodyPr wrap="square" lIns="0" tIns="0" rIns="0" bIns="0" rtlCol="0" anchor="ctr"/>
          <a:lstStyle/>
          <a:p>
            <a:pPr algn="ctr" indent="0" marL="0">
              <a:buNone/>
            </a:pPr>
            <a:r>
              <a:rPr lang="en-US" sz="1400" b="1" dirty="0">
                <a:solidFill>
                  <a:srgbClr val="EF4444"/>
                </a:solidFill>
                <a:latin typeface="Calibri" pitchFamily="34" charset="0"/>
                <a:ea typeface="Calibri" pitchFamily="34" charset="-122"/>
                <a:cs typeface="Calibri" pitchFamily="34" charset="-120"/>
              </a:rPr>
              <a:t>BEFORE</a:t>
            </a:r>
            <a:endParaRPr lang="en-US" sz="1400" dirty="0"/>
          </a:p>
        </p:txBody>
      </p:sp>
      <p:sp>
        <p:nvSpPr>
          <p:cNvPr id="8" name="Text 6"/>
          <p:cNvSpPr/>
          <p:nvPr/>
        </p:nvSpPr>
        <p:spPr>
          <a:xfrm>
            <a:off x="566928" y="1417320"/>
            <a:ext cx="1554480" cy="256032"/>
          </a:xfrm>
          <a:prstGeom prst="rect">
            <a:avLst/>
          </a:prstGeom>
          <a:noFill/>
          <a:ln/>
        </p:spPr>
        <p:txBody>
          <a:bodyPr wrap="square" lIns="0" tIns="0" rIns="0" bIns="0" rtlCol="0" anchor="ctr"/>
          <a:lstStyle/>
          <a:p>
            <a:pPr indent="0" marL="0">
              <a:buNone/>
            </a:pPr>
            <a:r>
              <a:rPr lang="en-US" sz="1050" b="1" dirty="0">
                <a:solidFill>
                  <a:srgbClr val="CBD5E1"/>
                </a:solidFill>
                <a:latin typeface="Calibri" pitchFamily="34" charset="0"/>
                <a:ea typeface="Calibri" pitchFamily="34" charset="-122"/>
                <a:cs typeface="Calibri" pitchFamily="34" charset="-120"/>
              </a:rPr>
              <a:t>Classes:</a:t>
            </a:r>
            <a:endParaRPr lang="en-US" sz="1050" dirty="0"/>
          </a:p>
        </p:txBody>
      </p:sp>
      <p:sp>
        <p:nvSpPr>
          <p:cNvPr id="9" name="Text 7"/>
          <p:cNvSpPr/>
          <p:nvPr/>
        </p:nvSpPr>
        <p:spPr>
          <a:xfrm>
            <a:off x="2148840" y="1417320"/>
            <a:ext cx="2148840" cy="256032"/>
          </a:xfrm>
          <a:prstGeom prst="rect">
            <a:avLst/>
          </a:prstGeom>
          <a:noFill/>
          <a:ln/>
        </p:spPr>
        <p:txBody>
          <a:bodyPr wrap="square" lIns="0" tIns="0" rIns="0" bIns="0" rtlCol="0" anchor="ctr"/>
          <a:lstStyle/>
          <a:p>
            <a:pPr indent="0" marL="0">
              <a:buNone/>
            </a:pPr>
            <a:r>
              <a:rPr lang="en-US" sz="1050" dirty="0">
                <a:solidFill>
                  <a:srgbClr val="EF4444"/>
                </a:solidFill>
                <a:latin typeface="Calibri" pitchFamily="34" charset="0"/>
                <a:ea typeface="Calibri" pitchFamily="34" charset="-122"/>
                <a:cs typeface="Calibri" pitchFamily="34" charset="-120"/>
              </a:rPr>
              <a:t>14 sparse categories</a:t>
            </a:r>
            <a:endParaRPr lang="en-US" sz="1050" dirty="0"/>
          </a:p>
        </p:txBody>
      </p:sp>
      <p:sp>
        <p:nvSpPr>
          <p:cNvPr id="10" name="Text 8"/>
          <p:cNvSpPr/>
          <p:nvPr/>
        </p:nvSpPr>
        <p:spPr>
          <a:xfrm>
            <a:off x="566928" y="1892808"/>
            <a:ext cx="1554480" cy="256032"/>
          </a:xfrm>
          <a:prstGeom prst="rect">
            <a:avLst/>
          </a:prstGeom>
          <a:noFill/>
          <a:ln/>
        </p:spPr>
        <p:txBody>
          <a:bodyPr wrap="square" lIns="0" tIns="0" rIns="0" bIns="0" rtlCol="0" anchor="ctr"/>
          <a:lstStyle/>
          <a:p>
            <a:pPr indent="0" marL="0">
              <a:buNone/>
            </a:pPr>
            <a:r>
              <a:rPr lang="en-US" sz="1050" b="1" dirty="0">
                <a:solidFill>
                  <a:srgbClr val="CBD5E1"/>
                </a:solidFill>
                <a:latin typeface="Calibri" pitchFamily="34" charset="0"/>
                <a:ea typeface="Calibri" pitchFamily="34" charset="-122"/>
                <a:cs typeface="Calibri" pitchFamily="34" charset="-120"/>
              </a:rPr>
              <a:t>Normal Frames:</a:t>
            </a:r>
            <a:endParaRPr lang="en-US" sz="1050" dirty="0"/>
          </a:p>
        </p:txBody>
      </p:sp>
      <p:sp>
        <p:nvSpPr>
          <p:cNvPr id="11" name="Text 9"/>
          <p:cNvSpPr/>
          <p:nvPr/>
        </p:nvSpPr>
        <p:spPr>
          <a:xfrm>
            <a:off x="2148840" y="1892808"/>
            <a:ext cx="2148840" cy="256032"/>
          </a:xfrm>
          <a:prstGeom prst="rect">
            <a:avLst/>
          </a:prstGeom>
          <a:noFill/>
          <a:ln/>
        </p:spPr>
        <p:txBody>
          <a:bodyPr wrap="square" lIns="0" tIns="0" rIns="0" bIns="0" rtlCol="0" anchor="ctr"/>
          <a:lstStyle/>
          <a:p>
            <a:pPr indent="0" marL="0">
              <a:buNone/>
            </a:pPr>
            <a:r>
              <a:rPr lang="en-US" sz="1050" dirty="0">
                <a:solidFill>
                  <a:srgbClr val="EF4444"/>
                </a:solidFill>
                <a:latin typeface="Calibri" pitchFamily="34" charset="0"/>
                <a:ea typeface="Calibri" pitchFamily="34" charset="-122"/>
                <a:cs typeface="Calibri" pitchFamily="34" charset="-120"/>
              </a:rPr>
              <a:t>948,000 (training)</a:t>
            </a:r>
            <a:endParaRPr lang="en-US" sz="1050" dirty="0"/>
          </a:p>
        </p:txBody>
      </p:sp>
      <p:sp>
        <p:nvSpPr>
          <p:cNvPr id="12" name="Text 10"/>
          <p:cNvSpPr/>
          <p:nvPr/>
        </p:nvSpPr>
        <p:spPr>
          <a:xfrm>
            <a:off x="566928" y="2368296"/>
            <a:ext cx="1554480" cy="256032"/>
          </a:xfrm>
          <a:prstGeom prst="rect">
            <a:avLst/>
          </a:prstGeom>
          <a:noFill/>
          <a:ln/>
        </p:spPr>
        <p:txBody>
          <a:bodyPr wrap="square" lIns="0" tIns="0" rIns="0" bIns="0" rtlCol="0" anchor="ctr"/>
          <a:lstStyle/>
          <a:p>
            <a:pPr indent="0" marL="0">
              <a:buNone/>
            </a:pPr>
            <a:r>
              <a:rPr lang="en-US" sz="1050" b="1" dirty="0">
                <a:solidFill>
                  <a:srgbClr val="CBD5E1"/>
                </a:solidFill>
                <a:latin typeface="Calibri" pitchFamily="34" charset="0"/>
                <a:ea typeface="Calibri" pitchFamily="34" charset="-122"/>
                <a:cs typeface="Calibri" pitchFamily="34" charset="-120"/>
              </a:rPr>
              <a:t>Shooting Frames:</a:t>
            </a:r>
            <a:endParaRPr lang="en-US" sz="1050" dirty="0"/>
          </a:p>
        </p:txBody>
      </p:sp>
      <p:sp>
        <p:nvSpPr>
          <p:cNvPr id="13" name="Text 11"/>
          <p:cNvSpPr/>
          <p:nvPr/>
        </p:nvSpPr>
        <p:spPr>
          <a:xfrm>
            <a:off x="2148840" y="2368296"/>
            <a:ext cx="2148840" cy="256032"/>
          </a:xfrm>
          <a:prstGeom prst="rect">
            <a:avLst/>
          </a:prstGeom>
          <a:noFill/>
          <a:ln/>
        </p:spPr>
        <p:txBody>
          <a:bodyPr wrap="square" lIns="0" tIns="0" rIns="0" bIns="0" rtlCol="0" anchor="ctr"/>
          <a:lstStyle/>
          <a:p>
            <a:pPr indent="0" marL="0">
              <a:buNone/>
            </a:pPr>
            <a:r>
              <a:rPr lang="en-US" sz="1050" dirty="0">
                <a:solidFill>
                  <a:srgbClr val="EF4444"/>
                </a:solidFill>
                <a:latin typeface="Calibri" pitchFamily="34" charset="0"/>
                <a:ea typeface="Calibri" pitchFamily="34" charset="-122"/>
                <a:cs typeface="Calibri" pitchFamily="34" charset="-120"/>
              </a:rPr>
              <a:t>7,100 (training)</a:t>
            </a:r>
            <a:endParaRPr lang="en-US" sz="1050" dirty="0"/>
          </a:p>
        </p:txBody>
      </p:sp>
      <p:sp>
        <p:nvSpPr>
          <p:cNvPr id="14" name="Text 12"/>
          <p:cNvSpPr/>
          <p:nvPr/>
        </p:nvSpPr>
        <p:spPr>
          <a:xfrm>
            <a:off x="566928" y="2843784"/>
            <a:ext cx="1554480" cy="256032"/>
          </a:xfrm>
          <a:prstGeom prst="rect">
            <a:avLst/>
          </a:prstGeom>
          <a:noFill/>
          <a:ln/>
        </p:spPr>
        <p:txBody>
          <a:bodyPr wrap="square" lIns="0" tIns="0" rIns="0" bIns="0" rtlCol="0" anchor="ctr"/>
          <a:lstStyle/>
          <a:p>
            <a:pPr indent="0" marL="0">
              <a:buNone/>
            </a:pPr>
            <a:r>
              <a:rPr lang="en-US" sz="1050" b="1" dirty="0">
                <a:solidFill>
                  <a:srgbClr val="CBD5E1"/>
                </a:solidFill>
                <a:latin typeface="Calibri" pitchFamily="34" charset="0"/>
                <a:ea typeface="Calibri" pitchFamily="34" charset="-122"/>
                <a:cs typeface="Calibri" pitchFamily="34" charset="-120"/>
              </a:rPr>
              <a:t>Label Quality:</a:t>
            </a:r>
            <a:endParaRPr lang="en-US" sz="1050" dirty="0"/>
          </a:p>
        </p:txBody>
      </p:sp>
      <p:sp>
        <p:nvSpPr>
          <p:cNvPr id="15" name="Text 13"/>
          <p:cNvSpPr/>
          <p:nvPr/>
        </p:nvSpPr>
        <p:spPr>
          <a:xfrm>
            <a:off x="2148840" y="2843784"/>
            <a:ext cx="2148840" cy="256032"/>
          </a:xfrm>
          <a:prstGeom prst="rect">
            <a:avLst/>
          </a:prstGeom>
          <a:noFill/>
          <a:ln/>
        </p:spPr>
        <p:txBody>
          <a:bodyPr wrap="square" lIns="0" tIns="0" rIns="0" bIns="0" rtlCol="0" anchor="ctr"/>
          <a:lstStyle/>
          <a:p>
            <a:pPr indent="0" marL="0">
              <a:buNone/>
            </a:pPr>
            <a:r>
              <a:rPr lang="en-US" sz="1050" dirty="0">
                <a:solidFill>
                  <a:srgbClr val="EF4444"/>
                </a:solidFill>
                <a:latin typeface="Calibri" pitchFamily="34" charset="0"/>
                <a:ea typeface="Calibri" pitchFamily="34" charset="-122"/>
                <a:cs typeface="Calibri" pitchFamily="34" charset="-120"/>
              </a:rPr>
              <a:t>Video-level weak (MIL)</a:t>
            </a:r>
            <a:endParaRPr lang="en-US" sz="1050" dirty="0"/>
          </a:p>
        </p:txBody>
      </p:sp>
      <p:sp>
        <p:nvSpPr>
          <p:cNvPr id="16" name="Text 14"/>
          <p:cNvSpPr/>
          <p:nvPr/>
        </p:nvSpPr>
        <p:spPr>
          <a:xfrm>
            <a:off x="566928" y="3319272"/>
            <a:ext cx="1554480" cy="256032"/>
          </a:xfrm>
          <a:prstGeom prst="rect">
            <a:avLst/>
          </a:prstGeom>
          <a:noFill/>
          <a:ln/>
        </p:spPr>
        <p:txBody>
          <a:bodyPr wrap="square" lIns="0" tIns="0" rIns="0" bIns="0" rtlCol="0" anchor="ctr"/>
          <a:lstStyle/>
          <a:p>
            <a:pPr indent="0" marL="0">
              <a:buNone/>
            </a:pPr>
            <a:r>
              <a:rPr lang="en-US" sz="1050" b="1" dirty="0">
                <a:solidFill>
                  <a:srgbClr val="CBD5E1"/>
                </a:solidFill>
                <a:latin typeface="Calibri" pitchFamily="34" charset="0"/>
                <a:ea typeface="Calibri" pitchFamily="34" charset="-122"/>
                <a:cs typeface="Calibri" pitchFamily="34" charset="-120"/>
              </a:rPr>
              <a:t>Class Balance:</a:t>
            </a:r>
            <a:endParaRPr lang="en-US" sz="1050" dirty="0"/>
          </a:p>
        </p:txBody>
      </p:sp>
      <p:sp>
        <p:nvSpPr>
          <p:cNvPr id="17" name="Text 15"/>
          <p:cNvSpPr/>
          <p:nvPr/>
        </p:nvSpPr>
        <p:spPr>
          <a:xfrm>
            <a:off x="2148840" y="3319272"/>
            <a:ext cx="2148840" cy="256032"/>
          </a:xfrm>
          <a:prstGeom prst="rect">
            <a:avLst/>
          </a:prstGeom>
          <a:noFill/>
          <a:ln/>
        </p:spPr>
        <p:txBody>
          <a:bodyPr wrap="square" lIns="0" tIns="0" rIns="0" bIns="0" rtlCol="0" anchor="ctr"/>
          <a:lstStyle/>
          <a:p>
            <a:pPr indent="0" marL="0">
              <a:buNone/>
            </a:pPr>
            <a:r>
              <a:rPr lang="en-US" sz="1050" dirty="0">
                <a:solidFill>
                  <a:srgbClr val="EF4444"/>
                </a:solidFill>
                <a:latin typeface="Calibri" pitchFamily="34" charset="0"/>
                <a:ea typeface="Calibri" pitchFamily="34" charset="-122"/>
                <a:cs typeface="Calibri" pitchFamily="34" charset="-120"/>
              </a:rPr>
              <a:t>Severe 133:1 imbalance</a:t>
            </a:r>
            <a:endParaRPr lang="en-US" sz="1050" dirty="0"/>
          </a:p>
        </p:txBody>
      </p:sp>
      <p:sp>
        <p:nvSpPr>
          <p:cNvPr id="18" name="Text 16"/>
          <p:cNvSpPr/>
          <p:nvPr/>
        </p:nvSpPr>
        <p:spPr>
          <a:xfrm>
            <a:off x="566928" y="3794760"/>
            <a:ext cx="1554480" cy="256032"/>
          </a:xfrm>
          <a:prstGeom prst="rect">
            <a:avLst/>
          </a:prstGeom>
          <a:noFill/>
          <a:ln/>
        </p:spPr>
        <p:txBody>
          <a:bodyPr wrap="square" lIns="0" tIns="0" rIns="0" bIns="0" rtlCol="0" anchor="ctr"/>
          <a:lstStyle/>
          <a:p>
            <a:pPr indent="0" marL="0">
              <a:buNone/>
            </a:pPr>
            <a:r>
              <a:rPr lang="en-US" sz="1050" b="1" dirty="0">
                <a:solidFill>
                  <a:srgbClr val="CBD5E1"/>
                </a:solidFill>
                <a:latin typeface="Calibri" pitchFamily="34" charset="0"/>
                <a:ea typeface="Calibri" pitchFamily="34" charset="-122"/>
                <a:cs typeface="Calibri" pitchFamily="34" charset="-120"/>
              </a:rPr>
              <a:t>Accuracy Baseline:</a:t>
            </a:r>
            <a:endParaRPr lang="en-US" sz="1050" dirty="0"/>
          </a:p>
        </p:txBody>
      </p:sp>
      <p:sp>
        <p:nvSpPr>
          <p:cNvPr id="19" name="Text 17"/>
          <p:cNvSpPr/>
          <p:nvPr/>
        </p:nvSpPr>
        <p:spPr>
          <a:xfrm>
            <a:off x="2148840" y="3794760"/>
            <a:ext cx="2148840" cy="256032"/>
          </a:xfrm>
          <a:prstGeom prst="rect">
            <a:avLst/>
          </a:prstGeom>
          <a:noFill/>
          <a:ln/>
        </p:spPr>
        <p:txBody>
          <a:bodyPr wrap="square" lIns="0" tIns="0" rIns="0" bIns="0" rtlCol="0" anchor="ctr"/>
          <a:lstStyle/>
          <a:p>
            <a:pPr indent="0" marL="0">
              <a:buNone/>
            </a:pPr>
            <a:r>
              <a:rPr lang="en-US" sz="1050" dirty="0">
                <a:solidFill>
                  <a:srgbClr val="EF4444"/>
                </a:solidFill>
                <a:latin typeface="Calibri" pitchFamily="34" charset="0"/>
                <a:ea typeface="Calibri" pitchFamily="34" charset="-122"/>
                <a:cs typeface="Calibri" pitchFamily="34" charset="-120"/>
              </a:rPr>
              <a:t>50–60% (weak sup.)</a:t>
            </a:r>
            <a:endParaRPr lang="en-US" sz="1050" dirty="0"/>
          </a:p>
        </p:txBody>
      </p:sp>
      <p:sp>
        <p:nvSpPr>
          <p:cNvPr id="20" name="Text 18"/>
          <p:cNvSpPr/>
          <p:nvPr/>
        </p:nvSpPr>
        <p:spPr>
          <a:xfrm>
            <a:off x="566928" y="4270248"/>
            <a:ext cx="1554480" cy="256032"/>
          </a:xfrm>
          <a:prstGeom prst="rect">
            <a:avLst/>
          </a:prstGeom>
          <a:noFill/>
          <a:ln/>
        </p:spPr>
        <p:txBody>
          <a:bodyPr wrap="square" lIns="0" tIns="0" rIns="0" bIns="0" rtlCol="0" anchor="ctr"/>
          <a:lstStyle/>
          <a:p>
            <a:pPr indent="0" marL="0">
              <a:buNone/>
            </a:pPr>
            <a:r>
              <a:rPr lang="en-US" sz="1050" b="1" dirty="0">
                <a:solidFill>
                  <a:srgbClr val="CBD5E1"/>
                </a:solidFill>
                <a:latin typeface="Calibri" pitchFamily="34" charset="0"/>
                <a:ea typeface="Calibri" pitchFamily="34" charset="-122"/>
                <a:cs typeface="Calibri" pitchFamily="34" charset="-120"/>
              </a:rPr>
              <a:t>Split Method:</a:t>
            </a:r>
            <a:endParaRPr lang="en-US" sz="1050" dirty="0"/>
          </a:p>
        </p:txBody>
      </p:sp>
      <p:sp>
        <p:nvSpPr>
          <p:cNvPr id="21" name="Text 19"/>
          <p:cNvSpPr/>
          <p:nvPr/>
        </p:nvSpPr>
        <p:spPr>
          <a:xfrm>
            <a:off x="2148840" y="4270248"/>
            <a:ext cx="2148840" cy="256032"/>
          </a:xfrm>
          <a:prstGeom prst="rect">
            <a:avLst/>
          </a:prstGeom>
          <a:noFill/>
          <a:ln/>
        </p:spPr>
        <p:txBody>
          <a:bodyPr wrap="square" lIns="0" tIns="0" rIns="0" bIns="0" rtlCol="0" anchor="ctr"/>
          <a:lstStyle/>
          <a:p>
            <a:pPr indent="0" marL="0">
              <a:buNone/>
            </a:pPr>
            <a:r>
              <a:rPr lang="en-US" sz="1050" dirty="0">
                <a:solidFill>
                  <a:srgbClr val="EF4444"/>
                </a:solidFill>
                <a:latin typeface="Calibri" pitchFamily="34" charset="0"/>
                <a:ea typeface="Calibri" pitchFamily="34" charset="-122"/>
                <a:cs typeface="Calibri" pitchFamily="34" charset="-120"/>
              </a:rPr>
              <a:t>Ad-hoc partitioning</a:t>
            </a:r>
            <a:endParaRPr lang="en-US" sz="1050" dirty="0"/>
          </a:p>
        </p:txBody>
      </p:sp>
      <p:sp>
        <p:nvSpPr>
          <p:cNvPr id="22" name="Shape 20"/>
          <p:cNvSpPr/>
          <p:nvPr/>
        </p:nvSpPr>
        <p:spPr>
          <a:xfrm>
            <a:off x="4754880" y="960120"/>
            <a:ext cx="3931920" cy="3977640"/>
          </a:xfrm>
          <a:prstGeom prst="roundRect">
            <a:avLst>
              <a:gd name="adj" fmla="val 1860"/>
            </a:avLst>
          </a:prstGeom>
          <a:solidFill>
            <a:srgbClr val="0A1A0E"/>
          </a:solidFill>
          <a:ln/>
        </p:spPr>
      </p:sp>
      <p:sp>
        <p:nvSpPr>
          <p:cNvPr id="23" name="Text 21"/>
          <p:cNvSpPr/>
          <p:nvPr/>
        </p:nvSpPr>
        <p:spPr>
          <a:xfrm>
            <a:off x="4754880" y="1005840"/>
            <a:ext cx="3931920" cy="320040"/>
          </a:xfrm>
          <a:prstGeom prst="rect">
            <a:avLst/>
          </a:prstGeom>
          <a:noFill/>
          <a:ln/>
        </p:spPr>
        <p:txBody>
          <a:bodyPr wrap="square" lIns="0" tIns="0" rIns="0" bIns="0" rtlCol="0" anchor="ctr"/>
          <a:lstStyle/>
          <a:p>
            <a:pPr algn="ctr" indent="0" marL="0">
              <a:buNone/>
            </a:pPr>
            <a:r>
              <a:rPr lang="en-US" sz="1400" b="1" dirty="0">
                <a:solidFill>
                  <a:srgbClr val="10B981"/>
                </a:solidFill>
                <a:latin typeface="Calibri" pitchFamily="34" charset="0"/>
                <a:ea typeface="Calibri" pitchFamily="34" charset="-122"/>
                <a:cs typeface="Calibri" pitchFamily="34" charset="-120"/>
              </a:rPr>
              <a:t>AFTER</a:t>
            </a:r>
            <a:endParaRPr lang="en-US" sz="1400" dirty="0"/>
          </a:p>
        </p:txBody>
      </p:sp>
      <p:sp>
        <p:nvSpPr>
          <p:cNvPr id="24" name="Text 22"/>
          <p:cNvSpPr/>
          <p:nvPr/>
        </p:nvSpPr>
        <p:spPr>
          <a:xfrm>
            <a:off x="4864608" y="1417320"/>
            <a:ext cx="1554480" cy="256032"/>
          </a:xfrm>
          <a:prstGeom prst="rect">
            <a:avLst/>
          </a:prstGeom>
          <a:noFill/>
          <a:ln/>
        </p:spPr>
        <p:txBody>
          <a:bodyPr wrap="square" lIns="0" tIns="0" rIns="0" bIns="0" rtlCol="0" anchor="ctr"/>
          <a:lstStyle/>
          <a:p>
            <a:pPr indent="0" marL="0">
              <a:buNone/>
            </a:pPr>
            <a:r>
              <a:rPr lang="en-US" sz="1050" b="1" dirty="0">
                <a:solidFill>
                  <a:srgbClr val="CBD5E1"/>
                </a:solidFill>
                <a:latin typeface="Calibri" pitchFamily="34" charset="0"/>
                <a:ea typeface="Calibri" pitchFamily="34" charset="-122"/>
                <a:cs typeface="Calibri" pitchFamily="34" charset="-120"/>
              </a:rPr>
              <a:t>Classes:</a:t>
            </a:r>
            <a:endParaRPr lang="en-US" sz="1050" dirty="0"/>
          </a:p>
        </p:txBody>
      </p:sp>
      <p:sp>
        <p:nvSpPr>
          <p:cNvPr id="25" name="Text 23"/>
          <p:cNvSpPr/>
          <p:nvPr/>
        </p:nvSpPr>
        <p:spPr>
          <a:xfrm>
            <a:off x="6446520" y="1417320"/>
            <a:ext cx="2148840" cy="256032"/>
          </a:xfrm>
          <a:prstGeom prst="rect">
            <a:avLst/>
          </a:prstGeom>
          <a:noFill/>
          <a:ln/>
        </p:spPr>
        <p:txBody>
          <a:bodyPr wrap="square" lIns="0" tIns="0" rIns="0" bIns="0" rtlCol="0" anchor="ctr"/>
          <a:lstStyle/>
          <a:p>
            <a:pPr indent="0" marL="0">
              <a:buNone/>
            </a:pPr>
            <a:r>
              <a:rPr lang="en-US" sz="1050" dirty="0">
                <a:solidFill>
                  <a:srgbClr val="10B981"/>
                </a:solidFill>
                <a:latin typeface="Calibri" pitchFamily="34" charset="0"/>
                <a:ea typeface="Calibri" pitchFamily="34" charset="-122"/>
                <a:cs typeface="Calibri" pitchFamily="34" charset="-120"/>
              </a:rPr>
              <a:t>9 merged taxonomy</a:t>
            </a:r>
            <a:endParaRPr lang="en-US" sz="1050" dirty="0"/>
          </a:p>
        </p:txBody>
      </p:sp>
      <p:sp>
        <p:nvSpPr>
          <p:cNvPr id="26" name="Text 24"/>
          <p:cNvSpPr/>
          <p:nvPr/>
        </p:nvSpPr>
        <p:spPr>
          <a:xfrm>
            <a:off x="4864608" y="1892808"/>
            <a:ext cx="1554480" cy="256032"/>
          </a:xfrm>
          <a:prstGeom prst="rect">
            <a:avLst/>
          </a:prstGeom>
          <a:noFill/>
          <a:ln/>
        </p:spPr>
        <p:txBody>
          <a:bodyPr wrap="square" lIns="0" tIns="0" rIns="0" bIns="0" rtlCol="0" anchor="ctr"/>
          <a:lstStyle/>
          <a:p>
            <a:pPr indent="0" marL="0">
              <a:buNone/>
            </a:pPr>
            <a:r>
              <a:rPr lang="en-US" sz="1050" b="1" dirty="0">
                <a:solidFill>
                  <a:srgbClr val="CBD5E1"/>
                </a:solidFill>
                <a:latin typeface="Calibri" pitchFamily="34" charset="0"/>
                <a:ea typeface="Calibri" pitchFamily="34" charset="-122"/>
                <a:cs typeface="Calibri" pitchFamily="34" charset="-120"/>
              </a:rPr>
              <a:t>Normal Frames:</a:t>
            </a:r>
            <a:endParaRPr lang="en-US" sz="1050" dirty="0"/>
          </a:p>
        </p:txBody>
      </p:sp>
      <p:sp>
        <p:nvSpPr>
          <p:cNvPr id="27" name="Text 25"/>
          <p:cNvSpPr/>
          <p:nvPr/>
        </p:nvSpPr>
        <p:spPr>
          <a:xfrm>
            <a:off x="6446520" y="1892808"/>
            <a:ext cx="2148840" cy="256032"/>
          </a:xfrm>
          <a:prstGeom prst="rect">
            <a:avLst/>
          </a:prstGeom>
          <a:noFill/>
          <a:ln/>
        </p:spPr>
        <p:txBody>
          <a:bodyPr wrap="square" lIns="0" tIns="0" rIns="0" bIns="0" rtlCol="0" anchor="ctr"/>
          <a:lstStyle/>
          <a:p>
            <a:pPr indent="0" marL="0">
              <a:buNone/>
            </a:pPr>
            <a:r>
              <a:rPr lang="en-US" sz="1050" dirty="0">
                <a:solidFill>
                  <a:srgbClr val="10B981"/>
                </a:solidFill>
                <a:latin typeface="Calibri" pitchFamily="34" charset="0"/>
                <a:ea typeface="Calibri" pitchFamily="34" charset="-122"/>
                <a:cs typeface="Calibri" pitchFamily="34" charset="-120"/>
              </a:rPr>
              <a:t>Downsampled (balanced)</a:t>
            </a:r>
            <a:endParaRPr lang="en-US" sz="1050" dirty="0"/>
          </a:p>
        </p:txBody>
      </p:sp>
      <p:sp>
        <p:nvSpPr>
          <p:cNvPr id="28" name="Text 26"/>
          <p:cNvSpPr/>
          <p:nvPr/>
        </p:nvSpPr>
        <p:spPr>
          <a:xfrm>
            <a:off x="4864608" y="2368296"/>
            <a:ext cx="1554480" cy="256032"/>
          </a:xfrm>
          <a:prstGeom prst="rect">
            <a:avLst/>
          </a:prstGeom>
          <a:noFill/>
          <a:ln/>
        </p:spPr>
        <p:txBody>
          <a:bodyPr wrap="square" lIns="0" tIns="0" rIns="0" bIns="0" rtlCol="0" anchor="ctr"/>
          <a:lstStyle/>
          <a:p>
            <a:pPr indent="0" marL="0">
              <a:buNone/>
            </a:pPr>
            <a:r>
              <a:rPr lang="en-US" sz="1050" b="1" dirty="0">
                <a:solidFill>
                  <a:srgbClr val="CBD5E1"/>
                </a:solidFill>
                <a:latin typeface="Calibri" pitchFamily="34" charset="0"/>
                <a:ea typeface="Calibri" pitchFamily="34" charset="-122"/>
                <a:cs typeface="Calibri" pitchFamily="34" charset="-120"/>
              </a:rPr>
              <a:t>Shooting Frames:</a:t>
            </a:r>
            <a:endParaRPr lang="en-US" sz="1050" dirty="0"/>
          </a:p>
        </p:txBody>
      </p:sp>
      <p:sp>
        <p:nvSpPr>
          <p:cNvPr id="29" name="Text 27"/>
          <p:cNvSpPr/>
          <p:nvPr/>
        </p:nvSpPr>
        <p:spPr>
          <a:xfrm>
            <a:off x="6446520" y="2368296"/>
            <a:ext cx="2148840" cy="256032"/>
          </a:xfrm>
          <a:prstGeom prst="rect">
            <a:avLst/>
          </a:prstGeom>
          <a:noFill/>
          <a:ln/>
        </p:spPr>
        <p:txBody>
          <a:bodyPr wrap="square" lIns="0" tIns="0" rIns="0" bIns="0" rtlCol="0" anchor="ctr"/>
          <a:lstStyle/>
          <a:p>
            <a:pPr indent="0" marL="0">
              <a:buNone/>
            </a:pPr>
            <a:r>
              <a:rPr lang="en-US" sz="1050" dirty="0">
                <a:solidFill>
                  <a:srgbClr val="10B981"/>
                </a:solidFill>
                <a:latin typeface="Calibri" pitchFamily="34" charset="0"/>
                <a:ea typeface="Calibri" pitchFamily="34" charset="-122"/>
                <a:cs typeface="Calibri" pitchFamily="34" charset="-120"/>
              </a:rPr>
              <a:t>7,100 (preserved)</a:t>
            </a:r>
            <a:endParaRPr lang="en-US" sz="1050" dirty="0"/>
          </a:p>
        </p:txBody>
      </p:sp>
      <p:sp>
        <p:nvSpPr>
          <p:cNvPr id="30" name="Text 28"/>
          <p:cNvSpPr/>
          <p:nvPr/>
        </p:nvSpPr>
        <p:spPr>
          <a:xfrm>
            <a:off x="4864608" y="2843784"/>
            <a:ext cx="1554480" cy="256032"/>
          </a:xfrm>
          <a:prstGeom prst="rect">
            <a:avLst/>
          </a:prstGeom>
          <a:noFill/>
          <a:ln/>
        </p:spPr>
        <p:txBody>
          <a:bodyPr wrap="square" lIns="0" tIns="0" rIns="0" bIns="0" rtlCol="0" anchor="ctr"/>
          <a:lstStyle/>
          <a:p>
            <a:pPr indent="0" marL="0">
              <a:buNone/>
            </a:pPr>
            <a:r>
              <a:rPr lang="en-US" sz="1050" b="1" dirty="0">
                <a:solidFill>
                  <a:srgbClr val="CBD5E1"/>
                </a:solidFill>
                <a:latin typeface="Calibri" pitchFamily="34" charset="0"/>
                <a:ea typeface="Calibri" pitchFamily="34" charset="-122"/>
                <a:cs typeface="Calibri" pitchFamily="34" charset="-120"/>
              </a:rPr>
              <a:t>Label Quality:</a:t>
            </a:r>
            <a:endParaRPr lang="en-US" sz="1050" dirty="0"/>
          </a:p>
        </p:txBody>
      </p:sp>
      <p:sp>
        <p:nvSpPr>
          <p:cNvPr id="31" name="Text 29"/>
          <p:cNvSpPr/>
          <p:nvPr/>
        </p:nvSpPr>
        <p:spPr>
          <a:xfrm>
            <a:off x="6446520" y="2843784"/>
            <a:ext cx="2148840" cy="256032"/>
          </a:xfrm>
          <a:prstGeom prst="rect">
            <a:avLst/>
          </a:prstGeom>
          <a:noFill/>
          <a:ln/>
        </p:spPr>
        <p:txBody>
          <a:bodyPr wrap="square" lIns="0" tIns="0" rIns="0" bIns="0" rtlCol="0" anchor="ctr"/>
          <a:lstStyle/>
          <a:p>
            <a:pPr indent="0" marL="0">
              <a:buNone/>
            </a:pPr>
            <a:r>
              <a:rPr lang="en-US" sz="1050" dirty="0">
                <a:solidFill>
                  <a:srgbClr val="10B981"/>
                </a:solidFill>
                <a:latin typeface="Calibri" pitchFamily="34" charset="0"/>
                <a:ea typeface="Calibri" pitchFamily="34" charset="-122"/>
                <a:cs typeface="Calibri" pitchFamily="34" charset="-120"/>
              </a:rPr>
              <a:t>Clip-level temporal annot.</a:t>
            </a:r>
            <a:endParaRPr lang="en-US" sz="1050" dirty="0"/>
          </a:p>
        </p:txBody>
      </p:sp>
      <p:sp>
        <p:nvSpPr>
          <p:cNvPr id="32" name="Text 30"/>
          <p:cNvSpPr/>
          <p:nvPr/>
        </p:nvSpPr>
        <p:spPr>
          <a:xfrm>
            <a:off x="4864608" y="3319272"/>
            <a:ext cx="1554480" cy="256032"/>
          </a:xfrm>
          <a:prstGeom prst="rect">
            <a:avLst/>
          </a:prstGeom>
          <a:noFill/>
          <a:ln/>
        </p:spPr>
        <p:txBody>
          <a:bodyPr wrap="square" lIns="0" tIns="0" rIns="0" bIns="0" rtlCol="0" anchor="ctr"/>
          <a:lstStyle/>
          <a:p>
            <a:pPr indent="0" marL="0">
              <a:buNone/>
            </a:pPr>
            <a:r>
              <a:rPr lang="en-US" sz="1050" b="1" dirty="0">
                <a:solidFill>
                  <a:srgbClr val="CBD5E1"/>
                </a:solidFill>
                <a:latin typeface="Calibri" pitchFamily="34" charset="0"/>
                <a:ea typeface="Calibri" pitchFamily="34" charset="-122"/>
                <a:cs typeface="Calibri" pitchFamily="34" charset="-120"/>
              </a:rPr>
              <a:t>Class Balance:</a:t>
            </a:r>
            <a:endParaRPr lang="en-US" sz="1050" dirty="0"/>
          </a:p>
        </p:txBody>
      </p:sp>
      <p:sp>
        <p:nvSpPr>
          <p:cNvPr id="33" name="Text 31"/>
          <p:cNvSpPr/>
          <p:nvPr/>
        </p:nvSpPr>
        <p:spPr>
          <a:xfrm>
            <a:off x="6446520" y="3319272"/>
            <a:ext cx="2148840" cy="256032"/>
          </a:xfrm>
          <a:prstGeom prst="rect">
            <a:avLst/>
          </a:prstGeom>
          <a:noFill/>
          <a:ln/>
        </p:spPr>
        <p:txBody>
          <a:bodyPr wrap="square" lIns="0" tIns="0" rIns="0" bIns="0" rtlCol="0" anchor="ctr"/>
          <a:lstStyle/>
          <a:p>
            <a:pPr indent="0" marL="0">
              <a:buNone/>
            </a:pPr>
            <a:r>
              <a:rPr lang="en-US" sz="1050" dirty="0">
                <a:solidFill>
                  <a:srgbClr val="10B981"/>
                </a:solidFill>
                <a:latin typeface="Calibri" pitchFamily="34" charset="0"/>
                <a:ea typeface="Calibri" pitchFamily="34" charset="-122"/>
                <a:cs typeface="Calibri" pitchFamily="34" charset="-120"/>
              </a:rPr>
              <a:t>Inverse-weight sampling</a:t>
            </a:r>
            <a:endParaRPr lang="en-US" sz="1050" dirty="0"/>
          </a:p>
        </p:txBody>
      </p:sp>
      <p:sp>
        <p:nvSpPr>
          <p:cNvPr id="34" name="Text 32"/>
          <p:cNvSpPr/>
          <p:nvPr/>
        </p:nvSpPr>
        <p:spPr>
          <a:xfrm>
            <a:off x="4864608" y="3794760"/>
            <a:ext cx="1554480" cy="256032"/>
          </a:xfrm>
          <a:prstGeom prst="rect">
            <a:avLst/>
          </a:prstGeom>
          <a:noFill/>
          <a:ln/>
        </p:spPr>
        <p:txBody>
          <a:bodyPr wrap="square" lIns="0" tIns="0" rIns="0" bIns="0" rtlCol="0" anchor="ctr"/>
          <a:lstStyle/>
          <a:p>
            <a:pPr indent="0" marL="0">
              <a:buNone/>
            </a:pPr>
            <a:r>
              <a:rPr lang="en-US" sz="1050" b="1" dirty="0">
                <a:solidFill>
                  <a:srgbClr val="CBD5E1"/>
                </a:solidFill>
                <a:latin typeface="Calibri" pitchFamily="34" charset="0"/>
                <a:ea typeface="Calibri" pitchFamily="34" charset="-122"/>
                <a:cs typeface="Calibri" pitchFamily="34" charset="-120"/>
              </a:rPr>
              <a:t>Accuracy Achieved:</a:t>
            </a:r>
            <a:endParaRPr lang="en-US" sz="1050" dirty="0"/>
          </a:p>
        </p:txBody>
      </p:sp>
      <p:sp>
        <p:nvSpPr>
          <p:cNvPr id="35" name="Text 33"/>
          <p:cNvSpPr/>
          <p:nvPr/>
        </p:nvSpPr>
        <p:spPr>
          <a:xfrm>
            <a:off x="6446520" y="3794760"/>
            <a:ext cx="2148840" cy="256032"/>
          </a:xfrm>
          <a:prstGeom prst="rect">
            <a:avLst/>
          </a:prstGeom>
          <a:noFill/>
          <a:ln/>
        </p:spPr>
        <p:txBody>
          <a:bodyPr wrap="square" lIns="0" tIns="0" rIns="0" bIns="0" rtlCol="0" anchor="ctr"/>
          <a:lstStyle/>
          <a:p>
            <a:pPr indent="0" marL="0">
              <a:buNone/>
            </a:pPr>
            <a:r>
              <a:rPr lang="en-US" sz="1050" dirty="0">
                <a:solidFill>
                  <a:srgbClr val="10B981"/>
                </a:solidFill>
                <a:latin typeface="Calibri" pitchFamily="34" charset="0"/>
                <a:ea typeface="Calibri" pitchFamily="34" charset="-122"/>
                <a:cs typeface="Calibri" pitchFamily="34" charset="-120"/>
              </a:rPr>
              <a:t>74.3% → 91.6% (best run)</a:t>
            </a:r>
            <a:endParaRPr lang="en-US" sz="1050" dirty="0"/>
          </a:p>
        </p:txBody>
      </p:sp>
      <p:sp>
        <p:nvSpPr>
          <p:cNvPr id="36" name="Text 34"/>
          <p:cNvSpPr/>
          <p:nvPr/>
        </p:nvSpPr>
        <p:spPr>
          <a:xfrm>
            <a:off x="4864608" y="4270248"/>
            <a:ext cx="1554480" cy="256032"/>
          </a:xfrm>
          <a:prstGeom prst="rect">
            <a:avLst/>
          </a:prstGeom>
          <a:noFill/>
          <a:ln/>
        </p:spPr>
        <p:txBody>
          <a:bodyPr wrap="square" lIns="0" tIns="0" rIns="0" bIns="0" rtlCol="0" anchor="ctr"/>
          <a:lstStyle/>
          <a:p>
            <a:pPr indent="0" marL="0">
              <a:buNone/>
            </a:pPr>
            <a:r>
              <a:rPr lang="en-US" sz="1050" b="1" dirty="0">
                <a:solidFill>
                  <a:srgbClr val="CBD5E1"/>
                </a:solidFill>
                <a:latin typeface="Calibri" pitchFamily="34" charset="0"/>
                <a:ea typeface="Calibri" pitchFamily="34" charset="-122"/>
                <a:cs typeface="Calibri" pitchFamily="34" charset="-120"/>
              </a:rPr>
              <a:t>Split Method:</a:t>
            </a:r>
            <a:endParaRPr lang="en-US" sz="1050" dirty="0"/>
          </a:p>
        </p:txBody>
      </p:sp>
      <p:sp>
        <p:nvSpPr>
          <p:cNvPr id="37" name="Text 35"/>
          <p:cNvSpPr/>
          <p:nvPr/>
        </p:nvSpPr>
        <p:spPr>
          <a:xfrm>
            <a:off x="6446520" y="4270248"/>
            <a:ext cx="2148840" cy="256032"/>
          </a:xfrm>
          <a:prstGeom prst="rect">
            <a:avLst/>
          </a:prstGeom>
          <a:noFill/>
          <a:ln/>
        </p:spPr>
        <p:txBody>
          <a:bodyPr wrap="square" lIns="0" tIns="0" rIns="0" bIns="0" rtlCol="0" anchor="ctr"/>
          <a:lstStyle/>
          <a:p>
            <a:pPr indent="0" marL="0">
              <a:buNone/>
            </a:pPr>
            <a:r>
              <a:rPr lang="en-US" sz="1050" dirty="0">
                <a:solidFill>
                  <a:srgbClr val="10B981"/>
                </a:solidFill>
                <a:latin typeface="Calibri" pitchFamily="34" charset="0"/>
                <a:ea typeface="Calibri" pitchFamily="34" charset="-122"/>
                <a:cs typeface="Calibri" pitchFamily="34" charset="-120"/>
              </a:rPr>
              <a:t>Stratified 70/15/15</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2 · DATASET</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Impact of Dataset Merging on Model Performance</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graphicFrame>
        <p:nvGraphicFramePr>
          <p:cNvPr id="6" name="Chart 0" descr=""/>
          <p:cNvGraphicFramePr/>
          <p:nvPr/>
        </p:nvGraphicFramePr>
        <p:xfrm>
          <a:off x="457200" y="914400"/>
          <a:ext cx="5029200" cy="347472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669280" y="914400"/>
            <a:ext cx="3017520" cy="1097280"/>
          </a:xfrm>
          <a:prstGeom prst="roundRect">
            <a:avLst>
              <a:gd name="adj" fmla="val 6667"/>
            </a:avLst>
          </a:prstGeom>
          <a:solidFill>
            <a:srgbClr val="111D2E"/>
          </a:solidFill>
          <a:ln/>
          <a:effectLst>
            <a:outerShdw sx="100000" sy="100000" kx="0" ky="0" algn="bl" rotWithShape="0" blurRad="101600" dist="25400" dir="2700000">
              <a:srgbClr val="000000">
                <a:alpha val="25000"/>
              </a:srgbClr>
            </a:outerShdw>
          </a:effectLst>
        </p:spPr>
      </p:sp>
      <p:sp>
        <p:nvSpPr>
          <p:cNvPr id="8" name="Text 5"/>
          <p:cNvSpPr/>
          <p:nvPr/>
        </p:nvSpPr>
        <p:spPr>
          <a:xfrm>
            <a:off x="5779008" y="987552"/>
            <a:ext cx="2798064"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Gradient Balance</a:t>
            </a:r>
            <a:endParaRPr lang="en-US" sz="1200" dirty="0"/>
          </a:p>
        </p:txBody>
      </p:sp>
      <p:sp>
        <p:nvSpPr>
          <p:cNvPr id="9" name="Text 6"/>
          <p:cNvSpPr/>
          <p:nvPr/>
        </p:nvSpPr>
        <p:spPr>
          <a:xfrm>
            <a:off x="5779008" y="1298448"/>
            <a:ext cx="2798064" cy="594360"/>
          </a:xfrm>
          <a:prstGeom prst="rect">
            <a:avLst/>
          </a:prstGeom>
          <a:noFill/>
          <a:ln/>
        </p:spPr>
        <p:txBody>
          <a:bodyPr wrap="square" lIns="0" tIns="0" rIns="0" bIns="0" rtlCol="0" anchor="t"/>
          <a:lstStyle/>
          <a:p>
            <a:pPr indent="0" marL="0">
              <a:buNone/>
            </a:pPr>
            <a:r>
              <a:rPr lang="en-US" sz="1000" dirty="0">
                <a:solidFill>
                  <a:srgbClr val="CBD5E1"/>
                </a:solidFill>
                <a:latin typeface="Calibri" pitchFamily="34" charset="0"/>
                <a:ea typeface="Calibri" pitchFamily="34" charset="-122"/>
                <a:cs typeface="Calibri" pitchFamily="34" charset="-120"/>
              </a:rPr>
              <a:t>Inverse-weight sampling ensures backprop penalizes errors on rare crime classes 5–133× more than Normal, eliminating normality bias.</a:t>
            </a:r>
            <a:endParaRPr lang="en-US" sz="1000" dirty="0"/>
          </a:p>
        </p:txBody>
      </p:sp>
      <p:sp>
        <p:nvSpPr>
          <p:cNvPr id="10" name="Shape 7"/>
          <p:cNvSpPr/>
          <p:nvPr/>
        </p:nvSpPr>
        <p:spPr>
          <a:xfrm>
            <a:off x="5669280" y="2148840"/>
            <a:ext cx="3017520" cy="1097280"/>
          </a:xfrm>
          <a:prstGeom prst="roundRect">
            <a:avLst>
              <a:gd name="adj" fmla="val 6667"/>
            </a:avLst>
          </a:prstGeom>
          <a:solidFill>
            <a:srgbClr val="111D2E"/>
          </a:solidFill>
          <a:ln/>
          <a:effectLst>
            <a:outerShdw sx="100000" sy="100000" kx="0" ky="0" algn="bl" rotWithShape="0" blurRad="101600" dist="25400" dir="2700000">
              <a:srgbClr val="000000">
                <a:alpha val="25000"/>
              </a:srgbClr>
            </a:outerShdw>
          </a:effectLst>
        </p:spPr>
      </p:sp>
      <p:sp>
        <p:nvSpPr>
          <p:cNvPr id="11" name="Text 8"/>
          <p:cNvSpPr/>
          <p:nvPr/>
        </p:nvSpPr>
        <p:spPr>
          <a:xfrm>
            <a:off x="5779008" y="2221992"/>
            <a:ext cx="2798064"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Semantic Clarity</a:t>
            </a:r>
            <a:endParaRPr lang="en-US" sz="1200" dirty="0"/>
          </a:p>
        </p:txBody>
      </p:sp>
      <p:sp>
        <p:nvSpPr>
          <p:cNvPr id="12" name="Text 9"/>
          <p:cNvSpPr/>
          <p:nvPr/>
        </p:nvSpPr>
        <p:spPr>
          <a:xfrm>
            <a:off x="5779008" y="2532888"/>
            <a:ext cx="2798064" cy="594360"/>
          </a:xfrm>
          <a:prstGeom prst="rect">
            <a:avLst/>
          </a:prstGeom>
          <a:noFill/>
          <a:ln/>
        </p:spPr>
        <p:txBody>
          <a:bodyPr wrap="square" lIns="0" tIns="0" rIns="0" bIns="0" rtlCol="0" anchor="t"/>
          <a:lstStyle/>
          <a:p>
            <a:pPr indent="0" marL="0">
              <a:buNone/>
            </a:pPr>
            <a:r>
              <a:rPr lang="en-US" sz="1000" dirty="0">
                <a:solidFill>
                  <a:srgbClr val="CBD5E1"/>
                </a:solidFill>
                <a:latin typeface="Calibri" pitchFamily="34" charset="0"/>
                <a:ea typeface="Calibri" pitchFamily="34" charset="-122"/>
                <a:cs typeface="Calibri" pitchFamily="34" charset="-120"/>
              </a:rPr>
              <a:t>Merging 14 → 9 classes removed intra-class ambiguity (Robbery vs Stealing) enabling the model to learn sharper decision boundaries.</a:t>
            </a:r>
            <a:endParaRPr lang="en-US" sz="1000" dirty="0"/>
          </a:p>
        </p:txBody>
      </p:sp>
      <p:sp>
        <p:nvSpPr>
          <p:cNvPr id="13" name="Shape 10"/>
          <p:cNvSpPr/>
          <p:nvPr/>
        </p:nvSpPr>
        <p:spPr>
          <a:xfrm>
            <a:off x="5669280" y="3383280"/>
            <a:ext cx="3017520" cy="1097280"/>
          </a:xfrm>
          <a:prstGeom prst="roundRect">
            <a:avLst>
              <a:gd name="adj" fmla="val 6667"/>
            </a:avLst>
          </a:prstGeom>
          <a:solidFill>
            <a:srgbClr val="111D2E"/>
          </a:solidFill>
          <a:ln/>
          <a:effectLst>
            <a:outerShdw sx="100000" sy="100000" kx="0" ky="0" algn="bl" rotWithShape="0" blurRad="101600" dist="25400" dir="2700000">
              <a:srgbClr val="000000">
                <a:alpha val="25000"/>
              </a:srgbClr>
            </a:outerShdw>
          </a:effectLst>
        </p:spPr>
      </p:sp>
      <p:sp>
        <p:nvSpPr>
          <p:cNvPr id="14" name="Text 11"/>
          <p:cNvSpPr/>
          <p:nvPr/>
        </p:nvSpPr>
        <p:spPr>
          <a:xfrm>
            <a:off x="5779008" y="3456432"/>
            <a:ext cx="2798064"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Convergence Speed</a:t>
            </a:r>
            <a:endParaRPr lang="en-US" sz="1200" dirty="0"/>
          </a:p>
        </p:txBody>
      </p:sp>
      <p:sp>
        <p:nvSpPr>
          <p:cNvPr id="15" name="Text 12"/>
          <p:cNvSpPr/>
          <p:nvPr/>
        </p:nvSpPr>
        <p:spPr>
          <a:xfrm>
            <a:off x="5779008" y="3767328"/>
            <a:ext cx="2798064" cy="594360"/>
          </a:xfrm>
          <a:prstGeom prst="rect">
            <a:avLst/>
          </a:prstGeom>
          <a:noFill/>
          <a:ln/>
        </p:spPr>
        <p:txBody>
          <a:bodyPr wrap="square" lIns="0" tIns="0" rIns="0" bIns="0" rtlCol="0" anchor="t"/>
          <a:lstStyle/>
          <a:p>
            <a:pPr indent="0" marL="0">
              <a:buNone/>
            </a:pPr>
            <a:r>
              <a:rPr lang="en-US" sz="1000" dirty="0">
                <a:solidFill>
                  <a:srgbClr val="CBD5E1"/>
                </a:solidFill>
                <a:latin typeface="Calibri" pitchFamily="34" charset="0"/>
                <a:ea typeface="Calibri" pitchFamily="34" charset="-122"/>
                <a:cs typeface="Calibri" pitchFamily="34" charset="-120"/>
              </a:rPr>
              <a:t>Cleaner label structure combined with clip-level supervision accelerated convergence from 60 epoch budgets to stable performance by epoch 30–35.</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3 · SYSTEM WORKFLOW</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Complete System Workflow</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1051560"/>
            <a:ext cx="1078992" cy="1691640"/>
          </a:xfrm>
          <a:prstGeom prst="roundRect">
            <a:avLst>
              <a:gd name="adj" fmla="val 5932"/>
            </a:avLst>
          </a:prstGeom>
          <a:solidFill>
            <a:srgbClr val="111D2E"/>
          </a:solidFill>
          <a:ln/>
        </p:spPr>
      </p:sp>
      <p:sp>
        <p:nvSpPr>
          <p:cNvPr id="7" name="Text 5"/>
          <p:cNvSpPr/>
          <p:nvPr/>
        </p:nvSpPr>
        <p:spPr>
          <a:xfrm>
            <a:off x="457200" y="1115568"/>
            <a:ext cx="1078992" cy="320040"/>
          </a:xfrm>
          <a:prstGeom prst="rect">
            <a:avLst/>
          </a:prstGeom>
          <a:noFill/>
          <a:ln/>
        </p:spPr>
        <p:txBody>
          <a:bodyPr wrap="square" lIns="0" tIns="0" rIns="0" bIns="0" rtlCol="0" anchor="ctr"/>
          <a:lstStyle/>
          <a:p>
            <a:pPr algn="ctr" indent="0" marL="0">
              <a:buNone/>
            </a:pPr>
            <a:r>
              <a:rPr lang="en-US" sz="1600" b="1" dirty="0">
                <a:solidFill>
                  <a:srgbClr val="00D4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457200" y="1463040"/>
            <a:ext cx="1078992" cy="11887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Input</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CCTV</a:t>
            </a:r>
            <a:endParaRPr lang="en-US" sz="1000" dirty="0"/>
          </a:p>
        </p:txBody>
      </p:sp>
      <p:sp>
        <p:nvSpPr>
          <p:cNvPr id="9" name="Shape 7"/>
          <p:cNvSpPr/>
          <p:nvPr/>
        </p:nvSpPr>
        <p:spPr>
          <a:xfrm>
            <a:off x="1554480" y="1892808"/>
            <a:ext cx="109728" cy="0"/>
          </a:xfrm>
          <a:prstGeom prst="line">
            <a:avLst/>
          </a:prstGeom>
          <a:noFill/>
          <a:ln w="19050">
            <a:solidFill>
              <a:srgbClr val="00D4FF"/>
            </a:solidFill>
            <a:prstDash val="solid"/>
          </a:ln>
        </p:spPr>
      </p:sp>
      <p:sp>
        <p:nvSpPr>
          <p:cNvPr id="10" name="Shape 8"/>
          <p:cNvSpPr/>
          <p:nvPr/>
        </p:nvSpPr>
        <p:spPr>
          <a:xfrm>
            <a:off x="1682496" y="1051560"/>
            <a:ext cx="1078992" cy="1691640"/>
          </a:xfrm>
          <a:prstGeom prst="roundRect">
            <a:avLst>
              <a:gd name="adj" fmla="val 5932"/>
            </a:avLst>
          </a:prstGeom>
          <a:solidFill>
            <a:srgbClr val="111D2E"/>
          </a:solidFill>
          <a:ln/>
        </p:spPr>
      </p:sp>
      <p:sp>
        <p:nvSpPr>
          <p:cNvPr id="11" name="Text 9"/>
          <p:cNvSpPr/>
          <p:nvPr/>
        </p:nvSpPr>
        <p:spPr>
          <a:xfrm>
            <a:off x="1682496" y="1115568"/>
            <a:ext cx="1078992" cy="320040"/>
          </a:xfrm>
          <a:prstGeom prst="rect">
            <a:avLst/>
          </a:prstGeom>
          <a:noFill/>
          <a:ln/>
        </p:spPr>
        <p:txBody>
          <a:bodyPr wrap="square" lIns="0" tIns="0" rIns="0" bIns="0" rtlCol="0" anchor="ctr"/>
          <a:lstStyle/>
          <a:p>
            <a:pPr algn="ctr" indent="0" marL="0">
              <a:buNone/>
            </a:pPr>
            <a:r>
              <a:rPr lang="en-US" sz="1600" b="1" dirty="0">
                <a:solidFill>
                  <a:srgbClr val="0EA5E9"/>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1682496" y="1463040"/>
            <a:ext cx="1078992" cy="11887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Frame</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Extraction</a:t>
            </a:r>
            <a:endParaRPr lang="en-US" sz="1000" dirty="0"/>
          </a:p>
        </p:txBody>
      </p:sp>
      <p:sp>
        <p:nvSpPr>
          <p:cNvPr id="13" name="Shape 11"/>
          <p:cNvSpPr/>
          <p:nvPr/>
        </p:nvSpPr>
        <p:spPr>
          <a:xfrm>
            <a:off x="2779776" y="1892808"/>
            <a:ext cx="109728" cy="0"/>
          </a:xfrm>
          <a:prstGeom prst="line">
            <a:avLst/>
          </a:prstGeom>
          <a:noFill/>
          <a:ln w="19050">
            <a:solidFill>
              <a:srgbClr val="00D4FF"/>
            </a:solidFill>
            <a:prstDash val="solid"/>
          </a:ln>
        </p:spPr>
      </p:sp>
      <p:sp>
        <p:nvSpPr>
          <p:cNvPr id="14" name="Shape 12"/>
          <p:cNvSpPr/>
          <p:nvPr/>
        </p:nvSpPr>
        <p:spPr>
          <a:xfrm>
            <a:off x="2907792" y="1051560"/>
            <a:ext cx="1078992" cy="1691640"/>
          </a:xfrm>
          <a:prstGeom prst="roundRect">
            <a:avLst>
              <a:gd name="adj" fmla="val 5932"/>
            </a:avLst>
          </a:prstGeom>
          <a:solidFill>
            <a:srgbClr val="111D2E"/>
          </a:solidFill>
          <a:ln/>
        </p:spPr>
      </p:sp>
      <p:sp>
        <p:nvSpPr>
          <p:cNvPr id="15" name="Text 13"/>
          <p:cNvSpPr/>
          <p:nvPr/>
        </p:nvSpPr>
        <p:spPr>
          <a:xfrm>
            <a:off x="2907792" y="1115568"/>
            <a:ext cx="1078992" cy="320040"/>
          </a:xfrm>
          <a:prstGeom prst="rect">
            <a:avLst/>
          </a:prstGeom>
          <a:noFill/>
          <a:ln/>
        </p:spPr>
        <p:txBody>
          <a:bodyPr wrap="square" lIns="0" tIns="0" rIns="0" bIns="0" rtlCol="0" anchor="ctr"/>
          <a:lstStyle/>
          <a:p>
            <a:pPr algn="ctr" indent="0" marL="0">
              <a:buNone/>
            </a:pPr>
            <a:r>
              <a:rPr lang="en-US" sz="1600" b="1" dirty="0">
                <a:solidFill>
                  <a:srgbClr val="0EA5E9"/>
                </a:solidFill>
                <a:latin typeface="Calibri" pitchFamily="34" charset="0"/>
                <a:ea typeface="Calibri" pitchFamily="34" charset="-122"/>
                <a:cs typeface="Calibri" pitchFamily="34" charset="-120"/>
              </a:rPr>
              <a:t>3</a:t>
            </a:r>
            <a:endParaRPr lang="en-US" sz="1600" dirty="0"/>
          </a:p>
        </p:txBody>
      </p:sp>
      <p:sp>
        <p:nvSpPr>
          <p:cNvPr id="16" name="Text 14"/>
          <p:cNvSpPr/>
          <p:nvPr/>
        </p:nvSpPr>
        <p:spPr>
          <a:xfrm>
            <a:off x="2907792" y="1463040"/>
            <a:ext cx="1078992" cy="11887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Dual-Branch</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Feature Extract</a:t>
            </a:r>
            <a:endParaRPr lang="en-US" sz="1000" dirty="0"/>
          </a:p>
        </p:txBody>
      </p:sp>
      <p:sp>
        <p:nvSpPr>
          <p:cNvPr id="17" name="Shape 15"/>
          <p:cNvSpPr/>
          <p:nvPr/>
        </p:nvSpPr>
        <p:spPr>
          <a:xfrm>
            <a:off x="4005072" y="1892808"/>
            <a:ext cx="109728" cy="0"/>
          </a:xfrm>
          <a:prstGeom prst="line">
            <a:avLst/>
          </a:prstGeom>
          <a:noFill/>
          <a:ln w="19050">
            <a:solidFill>
              <a:srgbClr val="00D4FF"/>
            </a:solidFill>
            <a:prstDash val="solid"/>
          </a:ln>
        </p:spPr>
      </p:sp>
      <p:sp>
        <p:nvSpPr>
          <p:cNvPr id="18" name="Shape 16"/>
          <p:cNvSpPr/>
          <p:nvPr/>
        </p:nvSpPr>
        <p:spPr>
          <a:xfrm>
            <a:off x="4133088" y="1051560"/>
            <a:ext cx="1078992" cy="1691640"/>
          </a:xfrm>
          <a:prstGeom prst="roundRect">
            <a:avLst>
              <a:gd name="adj" fmla="val 5932"/>
            </a:avLst>
          </a:prstGeom>
          <a:solidFill>
            <a:srgbClr val="111D2E"/>
          </a:solidFill>
          <a:ln/>
        </p:spPr>
      </p:sp>
      <p:sp>
        <p:nvSpPr>
          <p:cNvPr id="19" name="Text 17"/>
          <p:cNvSpPr/>
          <p:nvPr/>
        </p:nvSpPr>
        <p:spPr>
          <a:xfrm>
            <a:off x="4133088" y="1115568"/>
            <a:ext cx="1078992" cy="320040"/>
          </a:xfrm>
          <a:prstGeom prst="rect">
            <a:avLst/>
          </a:prstGeom>
          <a:noFill/>
          <a:ln/>
        </p:spPr>
        <p:txBody>
          <a:bodyPr wrap="square" lIns="0" tIns="0" rIns="0" bIns="0" rtlCol="0" anchor="ctr"/>
          <a:lstStyle/>
          <a:p>
            <a:pPr algn="ctr" indent="0" marL="0">
              <a:buNone/>
            </a:pPr>
            <a:r>
              <a:rPr lang="en-US" sz="1600" b="1" dirty="0">
                <a:solidFill>
                  <a:srgbClr val="10B981"/>
                </a:solidFill>
                <a:latin typeface="Calibri" pitchFamily="34" charset="0"/>
                <a:ea typeface="Calibri" pitchFamily="34" charset="-122"/>
                <a:cs typeface="Calibri" pitchFamily="34" charset="-120"/>
              </a:rPr>
              <a:t>4</a:t>
            </a:r>
            <a:endParaRPr lang="en-US" sz="1600" dirty="0"/>
          </a:p>
        </p:txBody>
      </p:sp>
      <p:sp>
        <p:nvSpPr>
          <p:cNvPr id="20" name="Text 18"/>
          <p:cNvSpPr/>
          <p:nvPr/>
        </p:nvSpPr>
        <p:spPr>
          <a:xfrm>
            <a:off x="4133088" y="1463040"/>
            <a:ext cx="1078992" cy="11887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ViT Sequence</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Modeling</a:t>
            </a:r>
            <a:endParaRPr lang="en-US" sz="1000" dirty="0"/>
          </a:p>
        </p:txBody>
      </p:sp>
      <p:sp>
        <p:nvSpPr>
          <p:cNvPr id="21" name="Shape 19"/>
          <p:cNvSpPr/>
          <p:nvPr/>
        </p:nvSpPr>
        <p:spPr>
          <a:xfrm>
            <a:off x="5230368" y="1892808"/>
            <a:ext cx="109728" cy="0"/>
          </a:xfrm>
          <a:prstGeom prst="line">
            <a:avLst/>
          </a:prstGeom>
          <a:noFill/>
          <a:ln w="19050">
            <a:solidFill>
              <a:srgbClr val="00D4FF"/>
            </a:solidFill>
            <a:prstDash val="solid"/>
          </a:ln>
        </p:spPr>
      </p:sp>
      <p:sp>
        <p:nvSpPr>
          <p:cNvPr id="22" name="Shape 20"/>
          <p:cNvSpPr/>
          <p:nvPr/>
        </p:nvSpPr>
        <p:spPr>
          <a:xfrm>
            <a:off x="5358384" y="1051560"/>
            <a:ext cx="1078992" cy="1691640"/>
          </a:xfrm>
          <a:prstGeom prst="roundRect">
            <a:avLst>
              <a:gd name="adj" fmla="val 5932"/>
            </a:avLst>
          </a:prstGeom>
          <a:solidFill>
            <a:srgbClr val="111D2E"/>
          </a:solidFill>
          <a:ln/>
        </p:spPr>
      </p:sp>
      <p:sp>
        <p:nvSpPr>
          <p:cNvPr id="23" name="Text 21"/>
          <p:cNvSpPr/>
          <p:nvPr/>
        </p:nvSpPr>
        <p:spPr>
          <a:xfrm>
            <a:off x="5358384" y="1115568"/>
            <a:ext cx="1078992" cy="320040"/>
          </a:xfrm>
          <a:prstGeom prst="rect">
            <a:avLst/>
          </a:prstGeom>
          <a:noFill/>
          <a:ln/>
        </p:spPr>
        <p:txBody>
          <a:bodyPr wrap="square" lIns="0" tIns="0" rIns="0" bIns="0" rtlCol="0" anchor="ctr"/>
          <a:lstStyle/>
          <a:p>
            <a:pPr algn="ctr" indent="0" marL="0">
              <a:buNone/>
            </a:pPr>
            <a:r>
              <a:rPr lang="en-US" sz="1600" b="1" dirty="0">
                <a:solidFill>
                  <a:srgbClr val="F59E0B"/>
                </a:solidFill>
                <a:latin typeface="Calibri" pitchFamily="34" charset="0"/>
                <a:ea typeface="Calibri" pitchFamily="34" charset="-122"/>
                <a:cs typeface="Calibri" pitchFamily="34" charset="-120"/>
              </a:rPr>
              <a:t>5</a:t>
            </a:r>
            <a:endParaRPr lang="en-US" sz="1600" dirty="0"/>
          </a:p>
        </p:txBody>
      </p:sp>
      <p:sp>
        <p:nvSpPr>
          <p:cNvPr id="24" name="Text 22"/>
          <p:cNvSpPr/>
          <p:nvPr/>
        </p:nvSpPr>
        <p:spPr>
          <a:xfrm>
            <a:off x="5358384" y="1463040"/>
            <a:ext cx="1078992" cy="11887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Threat</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Analysis</a:t>
            </a:r>
            <a:endParaRPr lang="en-US" sz="1000" dirty="0"/>
          </a:p>
        </p:txBody>
      </p:sp>
      <p:sp>
        <p:nvSpPr>
          <p:cNvPr id="25" name="Shape 23"/>
          <p:cNvSpPr/>
          <p:nvPr/>
        </p:nvSpPr>
        <p:spPr>
          <a:xfrm>
            <a:off x="6455664" y="1892808"/>
            <a:ext cx="109728" cy="0"/>
          </a:xfrm>
          <a:prstGeom prst="line">
            <a:avLst/>
          </a:prstGeom>
          <a:noFill/>
          <a:ln w="19050">
            <a:solidFill>
              <a:srgbClr val="00D4FF"/>
            </a:solidFill>
            <a:prstDash val="solid"/>
          </a:ln>
        </p:spPr>
      </p:sp>
      <p:sp>
        <p:nvSpPr>
          <p:cNvPr id="26" name="Shape 24"/>
          <p:cNvSpPr/>
          <p:nvPr/>
        </p:nvSpPr>
        <p:spPr>
          <a:xfrm>
            <a:off x="6583680" y="1051560"/>
            <a:ext cx="1078992" cy="1691640"/>
          </a:xfrm>
          <a:prstGeom prst="roundRect">
            <a:avLst>
              <a:gd name="adj" fmla="val 5932"/>
            </a:avLst>
          </a:prstGeom>
          <a:solidFill>
            <a:srgbClr val="111D2E"/>
          </a:solidFill>
          <a:ln/>
        </p:spPr>
      </p:sp>
      <p:sp>
        <p:nvSpPr>
          <p:cNvPr id="27" name="Text 25"/>
          <p:cNvSpPr/>
          <p:nvPr/>
        </p:nvSpPr>
        <p:spPr>
          <a:xfrm>
            <a:off x="6583680" y="1115568"/>
            <a:ext cx="1078992" cy="320040"/>
          </a:xfrm>
          <a:prstGeom prst="rect">
            <a:avLst/>
          </a:prstGeom>
          <a:noFill/>
          <a:ln/>
        </p:spPr>
        <p:txBody>
          <a:bodyPr wrap="square" lIns="0" tIns="0" rIns="0" bIns="0" rtlCol="0" anchor="ctr"/>
          <a:lstStyle/>
          <a:p>
            <a:pPr algn="ctr" indent="0" marL="0">
              <a:buNone/>
            </a:pPr>
            <a:r>
              <a:rPr lang="en-US" sz="1600" b="1" dirty="0">
                <a:solidFill>
                  <a:srgbClr val="EF4444"/>
                </a:solidFill>
                <a:latin typeface="Calibri" pitchFamily="34" charset="0"/>
                <a:ea typeface="Calibri" pitchFamily="34" charset="-122"/>
                <a:cs typeface="Calibri" pitchFamily="34" charset="-120"/>
              </a:rPr>
              <a:t>6</a:t>
            </a:r>
            <a:endParaRPr lang="en-US" sz="1600" dirty="0"/>
          </a:p>
        </p:txBody>
      </p:sp>
      <p:sp>
        <p:nvSpPr>
          <p:cNvPr id="28" name="Text 26"/>
          <p:cNvSpPr/>
          <p:nvPr/>
        </p:nvSpPr>
        <p:spPr>
          <a:xfrm>
            <a:off x="6583680" y="1463040"/>
            <a:ext cx="1078992" cy="11887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Alert</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Routing</a:t>
            </a:r>
            <a:endParaRPr lang="en-US" sz="1000" dirty="0"/>
          </a:p>
        </p:txBody>
      </p:sp>
      <p:sp>
        <p:nvSpPr>
          <p:cNvPr id="29" name="Shape 27"/>
          <p:cNvSpPr/>
          <p:nvPr/>
        </p:nvSpPr>
        <p:spPr>
          <a:xfrm>
            <a:off x="7680960" y="1892808"/>
            <a:ext cx="109728" cy="0"/>
          </a:xfrm>
          <a:prstGeom prst="line">
            <a:avLst/>
          </a:prstGeom>
          <a:noFill/>
          <a:ln w="19050">
            <a:solidFill>
              <a:srgbClr val="00D4FF"/>
            </a:solidFill>
            <a:prstDash val="solid"/>
          </a:ln>
        </p:spPr>
      </p:sp>
      <p:sp>
        <p:nvSpPr>
          <p:cNvPr id="30" name="Shape 28"/>
          <p:cNvSpPr/>
          <p:nvPr/>
        </p:nvSpPr>
        <p:spPr>
          <a:xfrm>
            <a:off x="7808976" y="1051560"/>
            <a:ext cx="1078992" cy="1691640"/>
          </a:xfrm>
          <a:prstGeom prst="roundRect">
            <a:avLst>
              <a:gd name="adj" fmla="val 5932"/>
            </a:avLst>
          </a:prstGeom>
          <a:solidFill>
            <a:srgbClr val="111D2E"/>
          </a:solidFill>
          <a:ln/>
        </p:spPr>
      </p:sp>
      <p:sp>
        <p:nvSpPr>
          <p:cNvPr id="31" name="Text 29"/>
          <p:cNvSpPr/>
          <p:nvPr/>
        </p:nvSpPr>
        <p:spPr>
          <a:xfrm>
            <a:off x="7808976" y="1115568"/>
            <a:ext cx="1078992" cy="320040"/>
          </a:xfrm>
          <a:prstGeom prst="rect">
            <a:avLst/>
          </a:prstGeom>
          <a:noFill/>
          <a:ln/>
        </p:spPr>
        <p:txBody>
          <a:bodyPr wrap="square" lIns="0" tIns="0" rIns="0" bIns="0" rtlCol="0" anchor="ctr"/>
          <a:lstStyle/>
          <a:p>
            <a:pPr algn="ctr" indent="0" marL="0">
              <a:buNone/>
            </a:pPr>
            <a:r>
              <a:rPr lang="en-US" sz="1600" b="1" dirty="0">
                <a:solidFill>
                  <a:srgbClr val="10B981"/>
                </a:solidFill>
                <a:latin typeface="Calibri" pitchFamily="34" charset="0"/>
                <a:ea typeface="Calibri" pitchFamily="34" charset="-122"/>
                <a:cs typeface="Calibri" pitchFamily="34" charset="-120"/>
              </a:rPr>
              <a:t>7</a:t>
            </a:r>
            <a:endParaRPr lang="en-US" sz="1600" dirty="0"/>
          </a:p>
        </p:txBody>
      </p:sp>
      <p:sp>
        <p:nvSpPr>
          <p:cNvPr id="32" name="Text 30"/>
          <p:cNvSpPr/>
          <p:nvPr/>
        </p:nvSpPr>
        <p:spPr>
          <a:xfrm>
            <a:off x="7808976" y="1463040"/>
            <a:ext cx="1078992" cy="11887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Dashboard</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Output</a:t>
            </a:r>
            <a:endParaRPr lang="en-US" sz="1000" dirty="0"/>
          </a:p>
        </p:txBody>
      </p:sp>
      <p:sp>
        <p:nvSpPr>
          <p:cNvPr id="33" name="Shape 31"/>
          <p:cNvSpPr/>
          <p:nvPr/>
        </p:nvSpPr>
        <p:spPr>
          <a:xfrm>
            <a:off x="457200" y="2944368"/>
            <a:ext cx="8229600" cy="731520"/>
          </a:xfrm>
          <a:prstGeom prst="roundRect">
            <a:avLst>
              <a:gd name="adj" fmla="val 8750"/>
            </a:avLst>
          </a:prstGeom>
          <a:solidFill>
            <a:srgbClr val="1E3A5F"/>
          </a:solidFill>
          <a:ln/>
        </p:spPr>
      </p:sp>
      <p:sp>
        <p:nvSpPr>
          <p:cNvPr id="34" name="Text 32"/>
          <p:cNvSpPr/>
          <p:nvPr/>
        </p:nvSpPr>
        <p:spPr>
          <a:xfrm>
            <a:off x="566928" y="3017520"/>
            <a:ext cx="7955280" cy="54864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Safety Gate 1: </a:t>
            </a:r>
            <a:pPr indent="0" marL="0">
              <a:buNone/>
            </a:pPr>
            <a:r>
              <a:rPr lang="en-US" sz="1200" dirty="0">
                <a:solidFill>
                  <a:srgbClr val="CBD5E1"/>
                </a:solidFill>
                <a:latin typeface="Calibri" pitchFamily="34" charset="0"/>
                <a:ea typeface="Calibri" pitchFamily="34" charset="-122"/>
                <a:cs typeface="Calibri" pitchFamily="34" charset="-120"/>
              </a:rPr>
              <a:t>60% Confidence Threshold   </a:t>
            </a:r>
            <a:pPr indent="0" marL="0">
              <a:buNone/>
            </a:pPr>
            <a:r>
              <a:rPr lang="en-US" sz="1200" b="1" dirty="0">
                <a:solidFill>
                  <a:srgbClr val="F59E0B"/>
                </a:solidFill>
                <a:latin typeface="Calibri" pitchFamily="34" charset="0"/>
                <a:ea typeface="Calibri" pitchFamily="34" charset="-122"/>
                <a:cs typeface="Calibri" pitchFamily="34" charset="-120"/>
              </a:rPr>
              <a:t>Safety Gate 2: </a:t>
            </a:r>
            <a:pPr indent="0" marL="0">
              <a:buNone/>
            </a:pPr>
            <a:r>
              <a:rPr lang="en-US" sz="1200" dirty="0">
                <a:solidFill>
                  <a:srgbClr val="CBD5E1"/>
                </a:solidFill>
                <a:latin typeface="Calibri" pitchFamily="34" charset="0"/>
                <a:ea typeface="Calibri" pitchFamily="34" charset="-122"/>
                <a:cs typeface="Calibri" pitchFamily="34" charset="-120"/>
              </a:rPr>
              <a:t>5-Second Temporal Stability Filter</a:t>
            </a:r>
            <a:endParaRPr lang="en-US" sz="1200" dirty="0"/>
          </a:p>
        </p:txBody>
      </p:sp>
      <p:sp>
        <p:nvSpPr>
          <p:cNvPr id="35" name="Shape 33"/>
          <p:cNvSpPr/>
          <p:nvPr/>
        </p:nvSpPr>
        <p:spPr>
          <a:xfrm>
            <a:off x="457200" y="3858768"/>
            <a:ext cx="2606040" cy="1078992"/>
          </a:xfrm>
          <a:prstGeom prst="roundRect">
            <a:avLst>
              <a:gd name="adj" fmla="val 6780"/>
            </a:avLst>
          </a:prstGeom>
          <a:solidFill>
            <a:srgbClr val="111D2E"/>
          </a:solidFill>
          <a:ln/>
          <a:effectLst>
            <a:outerShdw sx="100000" sy="100000" kx="0" ky="0" algn="bl" rotWithShape="0" blurRad="101600" dist="25400" dir="2700000">
              <a:srgbClr val="000000">
                <a:alpha val="25000"/>
              </a:srgbClr>
            </a:outerShdw>
          </a:effectLst>
        </p:spPr>
      </p:sp>
      <p:sp>
        <p:nvSpPr>
          <p:cNvPr id="36" name="Text 34"/>
          <p:cNvSpPr/>
          <p:nvPr/>
        </p:nvSpPr>
        <p:spPr>
          <a:xfrm>
            <a:off x="566928" y="3931920"/>
            <a:ext cx="2386584"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 Police</a:t>
            </a:r>
            <a:endParaRPr lang="en-US" sz="1200" dirty="0"/>
          </a:p>
        </p:txBody>
      </p:sp>
      <p:sp>
        <p:nvSpPr>
          <p:cNvPr id="37" name="Text 35"/>
          <p:cNvSpPr/>
          <p:nvPr/>
        </p:nvSpPr>
        <p:spPr>
          <a:xfrm>
            <a:off x="566928" y="4242816"/>
            <a:ext cx="2386584" cy="576072"/>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Violence, Shooting,</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Burglary, Robbery, Assault</a:t>
            </a:r>
            <a:endParaRPr lang="en-US" sz="1100" dirty="0"/>
          </a:p>
        </p:txBody>
      </p:sp>
      <p:sp>
        <p:nvSpPr>
          <p:cNvPr id="38" name="Shape 36"/>
          <p:cNvSpPr/>
          <p:nvPr/>
        </p:nvSpPr>
        <p:spPr>
          <a:xfrm>
            <a:off x="3273552" y="3858768"/>
            <a:ext cx="2606040" cy="1078992"/>
          </a:xfrm>
          <a:prstGeom prst="roundRect">
            <a:avLst>
              <a:gd name="adj" fmla="val 6780"/>
            </a:avLst>
          </a:prstGeom>
          <a:solidFill>
            <a:srgbClr val="111D2E"/>
          </a:solidFill>
          <a:ln/>
          <a:effectLst>
            <a:outerShdw sx="100000" sy="100000" kx="0" ky="0" algn="bl" rotWithShape="0" blurRad="101600" dist="25400" dir="2700000">
              <a:srgbClr val="000000">
                <a:alpha val="25000"/>
              </a:srgbClr>
            </a:outerShdw>
          </a:effectLst>
        </p:spPr>
      </p:sp>
      <p:sp>
        <p:nvSpPr>
          <p:cNvPr id="39" name="Text 37"/>
          <p:cNvSpPr/>
          <p:nvPr/>
        </p:nvSpPr>
        <p:spPr>
          <a:xfrm>
            <a:off x="3383280" y="3931920"/>
            <a:ext cx="2386584"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 EMS/Hospital</a:t>
            </a:r>
            <a:endParaRPr lang="en-US" sz="1200" dirty="0"/>
          </a:p>
        </p:txBody>
      </p:sp>
      <p:sp>
        <p:nvSpPr>
          <p:cNvPr id="40" name="Text 38"/>
          <p:cNvSpPr/>
          <p:nvPr/>
        </p:nvSpPr>
        <p:spPr>
          <a:xfrm>
            <a:off x="3383280" y="4242816"/>
            <a:ext cx="2386584" cy="576072"/>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Road Accidents,</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Abuse, Explosion</a:t>
            </a:r>
            <a:endParaRPr lang="en-US" sz="1100" dirty="0"/>
          </a:p>
        </p:txBody>
      </p:sp>
      <p:sp>
        <p:nvSpPr>
          <p:cNvPr id="41" name="Shape 39"/>
          <p:cNvSpPr/>
          <p:nvPr/>
        </p:nvSpPr>
        <p:spPr>
          <a:xfrm>
            <a:off x="6089904" y="3858768"/>
            <a:ext cx="2606040" cy="1078992"/>
          </a:xfrm>
          <a:prstGeom prst="roundRect">
            <a:avLst>
              <a:gd name="adj" fmla="val 6780"/>
            </a:avLst>
          </a:prstGeom>
          <a:solidFill>
            <a:srgbClr val="111D2E"/>
          </a:solidFill>
          <a:ln/>
          <a:effectLst>
            <a:outerShdw sx="100000" sy="100000" kx="0" ky="0" algn="bl" rotWithShape="0" blurRad="101600" dist="25400" dir="2700000">
              <a:srgbClr val="000000">
                <a:alpha val="25000"/>
              </a:srgbClr>
            </a:outerShdw>
          </a:effectLst>
        </p:spPr>
      </p:sp>
      <p:sp>
        <p:nvSpPr>
          <p:cNvPr id="42" name="Text 40"/>
          <p:cNvSpPr/>
          <p:nvPr/>
        </p:nvSpPr>
        <p:spPr>
          <a:xfrm>
            <a:off x="6199632" y="3931920"/>
            <a:ext cx="2386584"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 Fire Dept.</a:t>
            </a:r>
            <a:endParaRPr lang="en-US" sz="1200" dirty="0"/>
          </a:p>
        </p:txBody>
      </p:sp>
      <p:sp>
        <p:nvSpPr>
          <p:cNvPr id="43" name="Text 41"/>
          <p:cNvSpPr/>
          <p:nvPr/>
        </p:nvSpPr>
        <p:spPr>
          <a:xfrm>
            <a:off x="6199632" y="4242816"/>
            <a:ext cx="2386584" cy="576072"/>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Arson, Explosion,</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Hazardous Events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3 · SYSTEM WORKFLOW</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Detailed Workflow Breakdown</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1005840"/>
            <a:ext cx="4023360" cy="1188720"/>
          </a:xfrm>
          <a:prstGeom prst="roundRect">
            <a:avLst>
              <a:gd name="adj" fmla="val 5385"/>
            </a:avLst>
          </a:prstGeom>
          <a:solidFill>
            <a:srgbClr val="111D2E"/>
          </a:solidFill>
          <a:ln/>
        </p:spPr>
      </p:sp>
      <p:sp>
        <p:nvSpPr>
          <p:cNvPr id="7" name="Text 5"/>
          <p:cNvSpPr/>
          <p:nvPr/>
        </p:nvSpPr>
        <p:spPr>
          <a:xfrm>
            <a:off x="566928" y="1078992"/>
            <a:ext cx="3794760" cy="274320"/>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1. Ingestion</a:t>
            </a:r>
            <a:endParaRPr lang="en-US" sz="1200" dirty="0"/>
          </a:p>
        </p:txBody>
      </p:sp>
      <p:sp>
        <p:nvSpPr>
          <p:cNvPr id="8" name="Text 6"/>
          <p:cNvSpPr/>
          <p:nvPr/>
        </p:nvSpPr>
        <p:spPr>
          <a:xfrm>
            <a:off x="566928" y="1389888"/>
            <a:ext cx="3794760" cy="74980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RTSP stream via multi-threaded Python pipeline. Frames downsampled to model processing frequency. GPU VRAM loaded for zero-overhead inference.</a:t>
            </a:r>
            <a:endParaRPr lang="en-US" sz="1050" dirty="0"/>
          </a:p>
        </p:txBody>
      </p:sp>
      <p:sp>
        <p:nvSpPr>
          <p:cNvPr id="9" name="Shape 7"/>
          <p:cNvSpPr/>
          <p:nvPr/>
        </p:nvSpPr>
        <p:spPr>
          <a:xfrm>
            <a:off x="4800600" y="1005840"/>
            <a:ext cx="4023360" cy="1188720"/>
          </a:xfrm>
          <a:prstGeom prst="roundRect">
            <a:avLst>
              <a:gd name="adj" fmla="val 5385"/>
            </a:avLst>
          </a:prstGeom>
          <a:solidFill>
            <a:srgbClr val="111D2E"/>
          </a:solidFill>
          <a:ln/>
        </p:spPr>
      </p:sp>
      <p:sp>
        <p:nvSpPr>
          <p:cNvPr id="10" name="Text 8"/>
          <p:cNvSpPr/>
          <p:nvPr/>
        </p:nvSpPr>
        <p:spPr>
          <a:xfrm>
            <a:off x="4910328" y="1078992"/>
            <a:ext cx="3794760" cy="274320"/>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2. Preprocessing</a:t>
            </a:r>
            <a:endParaRPr lang="en-US" sz="1200" dirty="0"/>
          </a:p>
        </p:txBody>
      </p:sp>
      <p:sp>
        <p:nvSpPr>
          <p:cNvPr id="11" name="Text 9"/>
          <p:cNvSpPr/>
          <p:nvPr/>
        </p:nvSpPr>
        <p:spPr>
          <a:xfrm>
            <a:off x="4910328" y="1389888"/>
            <a:ext cx="3794760" cy="74980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Spatial: 224×224×3 (ImageNet norm). Temporal: 112×112×3×16 frames at 5 FPS. CPU handles resize/normalize while GPU processes previous batch.</a:t>
            </a:r>
            <a:endParaRPr lang="en-US" sz="1050" dirty="0"/>
          </a:p>
        </p:txBody>
      </p:sp>
      <p:sp>
        <p:nvSpPr>
          <p:cNvPr id="12" name="Shape 10"/>
          <p:cNvSpPr/>
          <p:nvPr/>
        </p:nvSpPr>
        <p:spPr>
          <a:xfrm>
            <a:off x="457200" y="2377440"/>
            <a:ext cx="4023360" cy="1188720"/>
          </a:xfrm>
          <a:prstGeom prst="roundRect">
            <a:avLst>
              <a:gd name="adj" fmla="val 5385"/>
            </a:avLst>
          </a:prstGeom>
          <a:solidFill>
            <a:srgbClr val="111D2E"/>
          </a:solidFill>
          <a:ln/>
        </p:spPr>
      </p:sp>
      <p:sp>
        <p:nvSpPr>
          <p:cNvPr id="13" name="Text 11"/>
          <p:cNvSpPr/>
          <p:nvPr/>
        </p:nvSpPr>
        <p:spPr>
          <a:xfrm>
            <a:off x="566928" y="2450592"/>
            <a:ext cx="3794760" cy="274320"/>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3. Dual Extraction</a:t>
            </a:r>
            <a:endParaRPr lang="en-US" sz="1200" dirty="0"/>
          </a:p>
        </p:txBody>
      </p:sp>
      <p:sp>
        <p:nvSpPr>
          <p:cNvPr id="14" name="Text 12"/>
          <p:cNvSpPr/>
          <p:nvPr/>
        </p:nvSpPr>
        <p:spPr>
          <a:xfrm>
            <a:off x="566928" y="2761488"/>
            <a:ext cx="3794760" cy="74980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ResNet-50 → 2048-D spatial vector. R(2+1)D factorized → 512-D temporal vector. Concatenated → 2560-D joint embedding → Projected to 512-D via Wp.</a:t>
            </a:r>
            <a:endParaRPr lang="en-US" sz="1050" dirty="0"/>
          </a:p>
        </p:txBody>
      </p:sp>
      <p:sp>
        <p:nvSpPr>
          <p:cNvPr id="15" name="Shape 13"/>
          <p:cNvSpPr/>
          <p:nvPr/>
        </p:nvSpPr>
        <p:spPr>
          <a:xfrm>
            <a:off x="4800600" y="2377440"/>
            <a:ext cx="4023360" cy="1188720"/>
          </a:xfrm>
          <a:prstGeom prst="roundRect">
            <a:avLst>
              <a:gd name="adj" fmla="val 5385"/>
            </a:avLst>
          </a:prstGeom>
          <a:solidFill>
            <a:srgbClr val="111D2E"/>
          </a:solidFill>
          <a:ln/>
        </p:spPr>
      </p:sp>
      <p:sp>
        <p:nvSpPr>
          <p:cNvPr id="16" name="Text 14"/>
          <p:cNvSpPr/>
          <p:nvPr/>
        </p:nvSpPr>
        <p:spPr>
          <a:xfrm>
            <a:off x="4910328" y="2450592"/>
            <a:ext cx="3794760" cy="274320"/>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4. ViT Encoding</a:t>
            </a:r>
            <a:endParaRPr lang="en-US" sz="1200" dirty="0"/>
          </a:p>
        </p:txBody>
      </p:sp>
      <p:sp>
        <p:nvSpPr>
          <p:cNvPr id="17" name="Text 15"/>
          <p:cNvSpPr/>
          <p:nvPr/>
        </p:nvSpPr>
        <p:spPr>
          <a:xfrm>
            <a:off x="4910328" y="2761488"/>
            <a:ext cx="3794760" cy="74980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8 consecutive clip embeddings form 8×512 sliding matrix. [CLS] token prepended. 4 transformer blocks with MHSA + FFN. Final z₄⁰ → classification head.</a:t>
            </a:r>
            <a:endParaRPr lang="en-US" sz="1050" dirty="0"/>
          </a:p>
        </p:txBody>
      </p:sp>
      <p:sp>
        <p:nvSpPr>
          <p:cNvPr id="18" name="Shape 16"/>
          <p:cNvSpPr/>
          <p:nvPr/>
        </p:nvSpPr>
        <p:spPr>
          <a:xfrm>
            <a:off x="457200" y="3749040"/>
            <a:ext cx="4023360" cy="1188720"/>
          </a:xfrm>
          <a:prstGeom prst="roundRect">
            <a:avLst>
              <a:gd name="adj" fmla="val 5385"/>
            </a:avLst>
          </a:prstGeom>
          <a:solidFill>
            <a:srgbClr val="111D2E"/>
          </a:solidFill>
          <a:ln/>
        </p:spPr>
      </p:sp>
      <p:sp>
        <p:nvSpPr>
          <p:cNvPr id="19" name="Text 17"/>
          <p:cNvSpPr/>
          <p:nvPr/>
        </p:nvSpPr>
        <p:spPr>
          <a:xfrm>
            <a:off x="566928" y="3822192"/>
            <a:ext cx="3794760" cy="274320"/>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5. Decision Engine</a:t>
            </a:r>
            <a:endParaRPr lang="en-US" sz="1200" dirty="0"/>
          </a:p>
        </p:txBody>
      </p:sp>
      <p:sp>
        <p:nvSpPr>
          <p:cNvPr id="20" name="Text 18"/>
          <p:cNvSpPr/>
          <p:nvPr/>
        </p:nvSpPr>
        <p:spPr>
          <a:xfrm>
            <a:off x="566928" y="4133088"/>
            <a:ext cx="3794760" cy="74980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Confidence ≥60% required. If met, 5-sec temporal stability tracker activated. Only sustained anomalies trigger alert — transient noise filtered out.</a:t>
            </a:r>
            <a:endParaRPr lang="en-US" sz="1050" dirty="0"/>
          </a:p>
        </p:txBody>
      </p:sp>
      <p:sp>
        <p:nvSpPr>
          <p:cNvPr id="21" name="Shape 19"/>
          <p:cNvSpPr/>
          <p:nvPr/>
        </p:nvSpPr>
        <p:spPr>
          <a:xfrm>
            <a:off x="4800600" y="3749040"/>
            <a:ext cx="4023360" cy="1188720"/>
          </a:xfrm>
          <a:prstGeom prst="roundRect">
            <a:avLst>
              <a:gd name="adj" fmla="val 5385"/>
            </a:avLst>
          </a:prstGeom>
          <a:solidFill>
            <a:srgbClr val="111D2E"/>
          </a:solidFill>
          <a:ln/>
        </p:spPr>
      </p:sp>
      <p:sp>
        <p:nvSpPr>
          <p:cNvPr id="22" name="Text 20"/>
          <p:cNvSpPr/>
          <p:nvPr/>
        </p:nvSpPr>
        <p:spPr>
          <a:xfrm>
            <a:off x="4910328" y="3822192"/>
            <a:ext cx="3794760" cy="274320"/>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6. Alert Hub</a:t>
            </a:r>
            <a:endParaRPr lang="en-US" sz="1200" dirty="0"/>
          </a:p>
        </p:txBody>
      </p:sp>
      <p:sp>
        <p:nvSpPr>
          <p:cNvPr id="23" name="Text 21"/>
          <p:cNvSpPr/>
          <p:nvPr/>
        </p:nvSpPr>
        <p:spPr>
          <a:xfrm>
            <a:off x="4910328" y="4133088"/>
            <a:ext cx="3794760" cy="74980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MQTT protocol routes JSON payloads to role-specific channels. Database writes on confirmed event. Frontend React dashboard updated via long-polling.</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3 · SYSTEM WORKFLOW</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System Architecture Overview</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1005840"/>
            <a:ext cx="1920240" cy="3822192"/>
          </a:xfrm>
          <a:prstGeom prst="roundRect">
            <a:avLst>
              <a:gd name="adj" fmla="val 3810"/>
            </a:avLst>
          </a:prstGeom>
          <a:solidFill>
            <a:srgbClr val="111D2E"/>
          </a:solidFill>
          <a:ln/>
        </p:spPr>
      </p:sp>
      <p:sp>
        <p:nvSpPr>
          <p:cNvPr id="7" name="Text 5"/>
          <p:cNvSpPr/>
          <p:nvPr/>
        </p:nvSpPr>
        <p:spPr>
          <a:xfrm>
            <a:off x="548640" y="1078992"/>
            <a:ext cx="1737360" cy="685800"/>
          </a:xfrm>
          <a:prstGeom prst="rect">
            <a:avLst/>
          </a:prstGeom>
          <a:noFill/>
          <a:ln/>
        </p:spPr>
        <p:txBody>
          <a:bodyPr wrap="square" lIns="0" tIns="0" rIns="0" bIns="0" rtlCol="0" anchor="ctr"/>
          <a:lstStyle/>
          <a:p>
            <a:pPr algn="ctr" indent="0" marL="0">
              <a:buNone/>
            </a:pPr>
            <a:r>
              <a:rPr lang="en-US" sz="1100" b="1" dirty="0">
                <a:solidFill>
                  <a:srgbClr val="00D4FF"/>
                </a:solidFill>
                <a:latin typeface="Calibri" pitchFamily="34" charset="0"/>
                <a:ea typeface="Calibri" pitchFamily="34" charset="-122"/>
                <a:cs typeface="Calibri" pitchFamily="34" charset="-120"/>
              </a:rPr>
              <a:t>Layer 1 · Data Capture</a:t>
            </a:r>
            <a:endParaRPr lang="en-US" sz="1100" dirty="0"/>
          </a:p>
        </p:txBody>
      </p:sp>
      <p:sp>
        <p:nvSpPr>
          <p:cNvPr id="8" name="Text 6"/>
          <p:cNvSpPr/>
          <p:nvPr/>
        </p:nvSpPr>
        <p:spPr>
          <a:xfrm>
            <a:off x="548640" y="1901952"/>
            <a:ext cx="1719072" cy="502920"/>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 Multi-threaded RTSP ingestion</a:t>
            </a:r>
            <a:endParaRPr lang="en-US" sz="1050" dirty="0"/>
          </a:p>
        </p:txBody>
      </p:sp>
      <p:sp>
        <p:nvSpPr>
          <p:cNvPr id="9" name="Text 7"/>
          <p:cNvSpPr/>
          <p:nvPr/>
        </p:nvSpPr>
        <p:spPr>
          <a:xfrm>
            <a:off x="548640" y="2542032"/>
            <a:ext cx="1719072" cy="502920"/>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 Local IP camera network</a:t>
            </a:r>
            <a:endParaRPr lang="en-US" sz="1050" dirty="0"/>
          </a:p>
        </p:txBody>
      </p:sp>
      <p:sp>
        <p:nvSpPr>
          <p:cNvPr id="10" name="Text 8"/>
          <p:cNvSpPr/>
          <p:nvPr/>
        </p:nvSpPr>
        <p:spPr>
          <a:xfrm>
            <a:off x="548640" y="3182112"/>
            <a:ext cx="1719072" cy="502920"/>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 Edge frame buffer</a:t>
            </a:r>
            <a:endParaRPr lang="en-US" sz="1050" dirty="0"/>
          </a:p>
        </p:txBody>
      </p:sp>
      <p:sp>
        <p:nvSpPr>
          <p:cNvPr id="11" name="Shape 9"/>
          <p:cNvSpPr/>
          <p:nvPr/>
        </p:nvSpPr>
        <p:spPr>
          <a:xfrm>
            <a:off x="2542032" y="1005840"/>
            <a:ext cx="1920240" cy="3822192"/>
          </a:xfrm>
          <a:prstGeom prst="roundRect">
            <a:avLst>
              <a:gd name="adj" fmla="val 3810"/>
            </a:avLst>
          </a:prstGeom>
          <a:solidFill>
            <a:srgbClr val="111D2E"/>
          </a:solidFill>
          <a:ln/>
        </p:spPr>
      </p:sp>
      <p:sp>
        <p:nvSpPr>
          <p:cNvPr id="12" name="Text 10"/>
          <p:cNvSpPr/>
          <p:nvPr/>
        </p:nvSpPr>
        <p:spPr>
          <a:xfrm>
            <a:off x="2633472" y="1078992"/>
            <a:ext cx="1737360" cy="685800"/>
          </a:xfrm>
          <a:prstGeom prst="rect">
            <a:avLst/>
          </a:prstGeom>
          <a:noFill/>
          <a:ln/>
        </p:spPr>
        <p:txBody>
          <a:bodyPr wrap="square" lIns="0" tIns="0" rIns="0" bIns="0" rtlCol="0" anchor="ctr"/>
          <a:lstStyle/>
          <a:p>
            <a:pPr algn="ctr" indent="0" marL="0">
              <a:buNone/>
            </a:pPr>
            <a:r>
              <a:rPr lang="en-US" sz="1100" b="1" dirty="0">
                <a:solidFill>
                  <a:srgbClr val="0EA5E9"/>
                </a:solidFill>
                <a:latin typeface="Calibri" pitchFamily="34" charset="0"/>
                <a:ea typeface="Calibri" pitchFamily="34" charset="-122"/>
                <a:cs typeface="Calibri" pitchFamily="34" charset="-120"/>
              </a:rPr>
              <a:t>Layer 2 · Deep Learning Engine</a:t>
            </a:r>
            <a:endParaRPr lang="en-US" sz="1100" dirty="0"/>
          </a:p>
        </p:txBody>
      </p:sp>
      <p:sp>
        <p:nvSpPr>
          <p:cNvPr id="13" name="Text 11"/>
          <p:cNvSpPr/>
          <p:nvPr/>
        </p:nvSpPr>
        <p:spPr>
          <a:xfrm>
            <a:off x="2633472" y="1901952"/>
            <a:ext cx="1719072" cy="502920"/>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 Flask + PyTorch inference server</a:t>
            </a:r>
            <a:endParaRPr lang="en-US" sz="1050" dirty="0"/>
          </a:p>
        </p:txBody>
      </p:sp>
      <p:sp>
        <p:nvSpPr>
          <p:cNvPr id="14" name="Text 12"/>
          <p:cNvSpPr/>
          <p:nvPr/>
        </p:nvSpPr>
        <p:spPr>
          <a:xfrm>
            <a:off x="2633472" y="2542032"/>
            <a:ext cx="1719072" cy="502920"/>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 ResNet-50 + R(2+1)D dual-branch</a:t>
            </a:r>
            <a:endParaRPr lang="en-US" sz="1050" dirty="0"/>
          </a:p>
        </p:txBody>
      </p:sp>
      <p:sp>
        <p:nvSpPr>
          <p:cNvPr id="15" name="Text 13"/>
          <p:cNvSpPr/>
          <p:nvPr/>
        </p:nvSpPr>
        <p:spPr>
          <a:xfrm>
            <a:off x="2633472" y="3182112"/>
            <a:ext cx="1719072" cy="502920"/>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 4-block ViT encoder</a:t>
            </a:r>
            <a:endParaRPr lang="en-US" sz="1050" dirty="0"/>
          </a:p>
        </p:txBody>
      </p:sp>
      <p:sp>
        <p:nvSpPr>
          <p:cNvPr id="16" name="Shape 14"/>
          <p:cNvSpPr/>
          <p:nvPr/>
        </p:nvSpPr>
        <p:spPr>
          <a:xfrm>
            <a:off x="4626864" y="1005840"/>
            <a:ext cx="1920240" cy="3822192"/>
          </a:xfrm>
          <a:prstGeom prst="roundRect">
            <a:avLst>
              <a:gd name="adj" fmla="val 3810"/>
            </a:avLst>
          </a:prstGeom>
          <a:solidFill>
            <a:srgbClr val="111D2E"/>
          </a:solidFill>
          <a:ln/>
        </p:spPr>
      </p:sp>
      <p:sp>
        <p:nvSpPr>
          <p:cNvPr id="17" name="Text 15"/>
          <p:cNvSpPr/>
          <p:nvPr/>
        </p:nvSpPr>
        <p:spPr>
          <a:xfrm>
            <a:off x="4718304" y="1078992"/>
            <a:ext cx="1737360" cy="685800"/>
          </a:xfrm>
          <a:prstGeom prst="rect">
            <a:avLst/>
          </a:prstGeom>
          <a:noFill/>
          <a:ln/>
        </p:spPr>
        <p:txBody>
          <a:bodyPr wrap="square" lIns="0" tIns="0" rIns="0" bIns="0" rtlCol="0" anchor="ctr"/>
          <a:lstStyle/>
          <a:p>
            <a:pPr algn="ctr" indent="0" marL="0">
              <a:buNone/>
            </a:pPr>
            <a:r>
              <a:rPr lang="en-US" sz="1100" b="1" dirty="0">
                <a:solidFill>
                  <a:srgbClr val="10B981"/>
                </a:solidFill>
                <a:latin typeface="Calibri" pitchFamily="34" charset="0"/>
                <a:ea typeface="Calibri" pitchFamily="34" charset="-122"/>
                <a:cs typeface="Calibri" pitchFamily="34" charset="-120"/>
              </a:rPr>
              <a:t>Layer 3 · Backend Gateway</a:t>
            </a:r>
            <a:endParaRPr lang="en-US" sz="1100" dirty="0"/>
          </a:p>
        </p:txBody>
      </p:sp>
      <p:sp>
        <p:nvSpPr>
          <p:cNvPr id="18" name="Text 16"/>
          <p:cNvSpPr/>
          <p:nvPr/>
        </p:nvSpPr>
        <p:spPr>
          <a:xfrm>
            <a:off x="4718304" y="1901952"/>
            <a:ext cx="1719072" cy="502920"/>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 Express / Node.js API</a:t>
            </a:r>
            <a:endParaRPr lang="en-US" sz="1050" dirty="0"/>
          </a:p>
        </p:txBody>
      </p:sp>
      <p:sp>
        <p:nvSpPr>
          <p:cNvPr id="19" name="Text 17"/>
          <p:cNvSpPr/>
          <p:nvPr/>
        </p:nvSpPr>
        <p:spPr>
          <a:xfrm>
            <a:off x="4718304" y="2542032"/>
            <a:ext cx="1719072" cy="502920"/>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 MySQL relational storage</a:t>
            </a:r>
            <a:endParaRPr lang="en-US" sz="1050" dirty="0"/>
          </a:p>
        </p:txBody>
      </p:sp>
      <p:sp>
        <p:nvSpPr>
          <p:cNvPr id="20" name="Text 18"/>
          <p:cNvSpPr/>
          <p:nvPr/>
        </p:nvSpPr>
        <p:spPr>
          <a:xfrm>
            <a:off x="4718304" y="3182112"/>
            <a:ext cx="1719072" cy="502920"/>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 1s TTL memory cache</a:t>
            </a:r>
            <a:endParaRPr lang="en-US" sz="1050" dirty="0"/>
          </a:p>
        </p:txBody>
      </p:sp>
      <p:sp>
        <p:nvSpPr>
          <p:cNvPr id="21" name="Shape 19"/>
          <p:cNvSpPr/>
          <p:nvPr/>
        </p:nvSpPr>
        <p:spPr>
          <a:xfrm>
            <a:off x="6711696" y="1005840"/>
            <a:ext cx="1920240" cy="3822192"/>
          </a:xfrm>
          <a:prstGeom prst="roundRect">
            <a:avLst>
              <a:gd name="adj" fmla="val 3810"/>
            </a:avLst>
          </a:prstGeom>
          <a:solidFill>
            <a:srgbClr val="111D2E"/>
          </a:solidFill>
          <a:ln/>
        </p:spPr>
      </p:sp>
      <p:sp>
        <p:nvSpPr>
          <p:cNvPr id="22" name="Text 20"/>
          <p:cNvSpPr/>
          <p:nvPr/>
        </p:nvSpPr>
        <p:spPr>
          <a:xfrm>
            <a:off x="6803136" y="1078992"/>
            <a:ext cx="1737360" cy="685800"/>
          </a:xfrm>
          <a:prstGeom prst="rect">
            <a:avLst/>
          </a:prstGeom>
          <a:noFill/>
          <a:ln/>
        </p:spPr>
        <p:txBody>
          <a:bodyPr wrap="square" lIns="0" tIns="0" rIns="0" bIns="0" rtlCol="0" anchor="ctr"/>
          <a:lstStyle/>
          <a:p>
            <a:pPr algn="ctr" indent="0" marL="0">
              <a:buNone/>
            </a:pPr>
            <a:r>
              <a:rPr lang="en-US" sz="1100" b="1" dirty="0">
                <a:solidFill>
                  <a:srgbClr val="F59E0B"/>
                </a:solidFill>
                <a:latin typeface="Calibri" pitchFamily="34" charset="0"/>
                <a:ea typeface="Calibri" pitchFamily="34" charset="-122"/>
                <a:cs typeface="Calibri" pitchFamily="34" charset="-120"/>
              </a:rPr>
              <a:t>Layer 4 · Client Interface</a:t>
            </a:r>
            <a:endParaRPr lang="en-US" sz="1100" dirty="0"/>
          </a:p>
        </p:txBody>
      </p:sp>
      <p:sp>
        <p:nvSpPr>
          <p:cNvPr id="23" name="Text 21"/>
          <p:cNvSpPr/>
          <p:nvPr/>
        </p:nvSpPr>
        <p:spPr>
          <a:xfrm>
            <a:off x="6803136" y="1901952"/>
            <a:ext cx="1719072" cy="502920"/>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 React + Vite frontend</a:t>
            </a:r>
            <a:endParaRPr lang="en-US" sz="1050" dirty="0"/>
          </a:p>
        </p:txBody>
      </p:sp>
      <p:sp>
        <p:nvSpPr>
          <p:cNvPr id="24" name="Text 22"/>
          <p:cNvSpPr/>
          <p:nvPr/>
        </p:nvSpPr>
        <p:spPr>
          <a:xfrm>
            <a:off x="6803136" y="2542032"/>
            <a:ext cx="1719072" cy="502920"/>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 Real-time long-polling loop</a:t>
            </a:r>
            <a:endParaRPr lang="en-US" sz="1050" dirty="0"/>
          </a:p>
        </p:txBody>
      </p:sp>
      <p:sp>
        <p:nvSpPr>
          <p:cNvPr id="25" name="Text 23"/>
          <p:cNvSpPr/>
          <p:nvPr/>
        </p:nvSpPr>
        <p:spPr>
          <a:xfrm>
            <a:off x="6803136" y="3182112"/>
            <a:ext cx="1719072" cy="502920"/>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 Color-coded alert dashboard</a:t>
            </a:r>
            <a:endParaRPr lang="en-US" sz="1050" dirty="0"/>
          </a:p>
        </p:txBody>
      </p:sp>
      <p:sp>
        <p:nvSpPr>
          <p:cNvPr id="26" name="Text 24"/>
          <p:cNvSpPr/>
          <p:nvPr/>
        </p:nvSpPr>
        <p:spPr>
          <a:xfrm>
            <a:off x="457200" y="4919472"/>
            <a:ext cx="8229600" cy="201168"/>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Languages: Python · JavaScript (Node.js / React)   |   AI: PyTorch · torchvision   |   DB: MySQL   |   Hardware: NVIDIA RTX 4070</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3 · SYSTEM WORKFLOW</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End-to-End Processing Pipeline</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Text 4"/>
          <p:cNvSpPr/>
          <p:nvPr/>
        </p:nvSpPr>
        <p:spPr>
          <a:xfrm>
            <a:off x="457200" y="987552"/>
            <a:ext cx="8229600" cy="274320"/>
          </a:xfrm>
          <a:prstGeom prst="rect">
            <a:avLst/>
          </a:prstGeom>
          <a:noFill/>
          <a:ln/>
        </p:spPr>
        <p:txBody>
          <a:bodyPr wrap="square" lIns="0" tIns="0" rIns="0" bIns="0" rtlCol="0" anchor="ctr"/>
          <a:lstStyle/>
          <a:p>
            <a:pPr indent="0" marL="0">
              <a:buNone/>
            </a:pPr>
            <a:r>
              <a:rPr lang="en-US" sz="1300" b="1" dirty="0">
                <a:solidFill>
                  <a:srgbClr val="00D4FF"/>
                </a:solidFill>
                <a:latin typeface="Calibri" pitchFamily="34" charset="0"/>
                <a:ea typeface="Calibri" pitchFamily="34" charset="-122"/>
                <a:cs typeface="Calibri" pitchFamily="34" charset="-120"/>
              </a:rPr>
              <a:t>Total: 42.45ms per spatiotemporal window  ·  Throughput: 6.76 windows/sec</a:t>
            </a:r>
            <a:endParaRPr lang="en-US" sz="1300" dirty="0"/>
          </a:p>
        </p:txBody>
      </p:sp>
      <p:sp>
        <p:nvSpPr>
          <p:cNvPr id="7" name="Text 5"/>
          <p:cNvSpPr/>
          <p:nvPr/>
        </p:nvSpPr>
        <p:spPr>
          <a:xfrm>
            <a:off x="457200" y="1389888"/>
            <a:ext cx="2194560" cy="32004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Frame Capture &amp; Resize</a:t>
            </a:r>
            <a:endParaRPr lang="en-US" sz="1100" dirty="0"/>
          </a:p>
        </p:txBody>
      </p:sp>
      <p:sp>
        <p:nvSpPr>
          <p:cNvPr id="8" name="Shape 6"/>
          <p:cNvSpPr/>
          <p:nvPr/>
        </p:nvSpPr>
        <p:spPr>
          <a:xfrm>
            <a:off x="2743200" y="1426464"/>
            <a:ext cx="823929" cy="256032"/>
          </a:xfrm>
          <a:prstGeom prst="roundRect">
            <a:avLst>
              <a:gd name="adj" fmla="val 14286"/>
            </a:avLst>
          </a:prstGeom>
          <a:solidFill>
            <a:srgbClr val="00D4FF"/>
          </a:solidFill>
          <a:ln/>
        </p:spPr>
      </p:sp>
      <p:sp>
        <p:nvSpPr>
          <p:cNvPr id="9" name="Text 7"/>
          <p:cNvSpPr/>
          <p:nvPr/>
        </p:nvSpPr>
        <p:spPr>
          <a:xfrm>
            <a:off x="3612849" y="1389888"/>
            <a:ext cx="640080" cy="292608"/>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4.5ms</a:t>
            </a:r>
            <a:endParaRPr lang="en-US" sz="1000" dirty="0"/>
          </a:p>
        </p:txBody>
      </p:sp>
      <p:sp>
        <p:nvSpPr>
          <p:cNvPr id="10" name="Text 8"/>
          <p:cNvSpPr/>
          <p:nvPr/>
        </p:nvSpPr>
        <p:spPr>
          <a:xfrm>
            <a:off x="457200" y="1911096"/>
            <a:ext cx="2194560" cy="32004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ResNet-50 Spatial</a:t>
            </a:r>
            <a:endParaRPr lang="en-US" sz="1100" dirty="0"/>
          </a:p>
        </p:txBody>
      </p:sp>
      <p:sp>
        <p:nvSpPr>
          <p:cNvPr id="11" name="Shape 9"/>
          <p:cNvSpPr/>
          <p:nvPr/>
        </p:nvSpPr>
        <p:spPr>
          <a:xfrm>
            <a:off x="2743200" y="1947672"/>
            <a:ext cx="2197145" cy="256032"/>
          </a:xfrm>
          <a:prstGeom prst="roundRect">
            <a:avLst>
              <a:gd name="adj" fmla="val 14286"/>
            </a:avLst>
          </a:prstGeom>
          <a:solidFill>
            <a:srgbClr val="0EA5E9"/>
          </a:solidFill>
          <a:ln/>
        </p:spPr>
      </p:sp>
      <p:sp>
        <p:nvSpPr>
          <p:cNvPr id="12" name="Text 10"/>
          <p:cNvSpPr/>
          <p:nvPr/>
        </p:nvSpPr>
        <p:spPr>
          <a:xfrm>
            <a:off x="4986065" y="1911096"/>
            <a:ext cx="640080" cy="292608"/>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12.0ms</a:t>
            </a:r>
            <a:endParaRPr lang="en-US" sz="1000" dirty="0"/>
          </a:p>
        </p:txBody>
      </p:sp>
      <p:sp>
        <p:nvSpPr>
          <p:cNvPr id="13" name="Text 11"/>
          <p:cNvSpPr/>
          <p:nvPr/>
        </p:nvSpPr>
        <p:spPr>
          <a:xfrm>
            <a:off x="457200" y="2432304"/>
            <a:ext cx="2194560" cy="32004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R(2+1)D Temporal</a:t>
            </a:r>
            <a:endParaRPr lang="en-US" sz="1100" dirty="0"/>
          </a:p>
        </p:txBody>
      </p:sp>
      <p:sp>
        <p:nvSpPr>
          <p:cNvPr id="14" name="Shape 12"/>
          <p:cNvSpPr/>
          <p:nvPr/>
        </p:nvSpPr>
        <p:spPr>
          <a:xfrm>
            <a:off x="2743200" y="2468880"/>
            <a:ext cx="2837979" cy="256032"/>
          </a:xfrm>
          <a:prstGeom prst="roundRect">
            <a:avLst>
              <a:gd name="adj" fmla="val 14286"/>
            </a:avLst>
          </a:prstGeom>
          <a:solidFill>
            <a:srgbClr val="10B981"/>
          </a:solidFill>
          <a:ln/>
        </p:spPr>
      </p:sp>
      <p:sp>
        <p:nvSpPr>
          <p:cNvPr id="15" name="Text 13"/>
          <p:cNvSpPr/>
          <p:nvPr/>
        </p:nvSpPr>
        <p:spPr>
          <a:xfrm>
            <a:off x="5626899" y="2432304"/>
            <a:ext cx="640080" cy="292608"/>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15.5ms</a:t>
            </a:r>
            <a:endParaRPr lang="en-US" sz="1000" dirty="0"/>
          </a:p>
        </p:txBody>
      </p:sp>
      <p:sp>
        <p:nvSpPr>
          <p:cNvPr id="16" name="Text 14"/>
          <p:cNvSpPr/>
          <p:nvPr/>
        </p:nvSpPr>
        <p:spPr>
          <a:xfrm>
            <a:off x="457200" y="2953512"/>
            <a:ext cx="2194560" cy="32004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Tensor Fusion &amp; Projection</a:t>
            </a:r>
            <a:endParaRPr lang="en-US" sz="1100" dirty="0"/>
          </a:p>
        </p:txBody>
      </p:sp>
      <p:sp>
        <p:nvSpPr>
          <p:cNvPr id="17" name="Shape 15"/>
          <p:cNvSpPr/>
          <p:nvPr/>
        </p:nvSpPr>
        <p:spPr>
          <a:xfrm>
            <a:off x="2743200" y="2990088"/>
            <a:ext cx="366191" cy="256032"/>
          </a:xfrm>
          <a:prstGeom prst="roundRect">
            <a:avLst>
              <a:gd name="adj" fmla="val 14286"/>
            </a:avLst>
          </a:prstGeom>
          <a:solidFill>
            <a:srgbClr val="F59E0B"/>
          </a:solidFill>
          <a:ln/>
        </p:spPr>
      </p:sp>
      <p:sp>
        <p:nvSpPr>
          <p:cNvPr id="18" name="Text 16"/>
          <p:cNvSpPr/>
          <p:nvPr/>
        </p:nvSpPr>
        <p:spPr>
          <a:xfrm>
            <a:off x="3155111" y="2953512"/>
            <a:ext cx="640080" cy="292608"/>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2.0ms</a:t>
            </a:r>
            <a:endParaRPr lang="en-US" sz="1000" dirty="0"/>
          </a:p>
        </p:txBody>
      </p:sp>
      <p:sp>
        <p:nvSpPr>
          <p:cNvPr id="19" name="Text 17"/>
          <p:cNvSpPr/>
          <p:nvPr/>
        </p:nvSpPr>
        <p:spPr>
          <a:xfrm>
            <a:off x="457200" y="3474720"/>
            <a:ext cx="2194560" cy="32004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ViT Encoding</a:t>
            </a:r>
            <a:endParaRPr lang="en-US" sz="1100" dirty="0"/>
          </a:p>
        </p:txBody>
      </p:sp>
      <p:sp>
        <p:nvSpPr>
          <p:cNvPr id="20" name="Shape 18"/>
          <p:cNvSpPr/>
          <p:nvPr/>
        </p:nvSpPr>
        <p:spPr>
          <a:xfrm>
            <a:off x="2743200" y="3511296"/>
            <a:ext cx="1061953" cy="256032"/>
          </a:xfrm>
          <a:prstGeom prst="roundRect">
            <a:avLst>
              <a:gd name="adj" fmla="val 14286"/>
            </a:avLst>
          </a:prstGeom>
          <a:solidFill>
            <a:srgbClr val="00D4FF"/>
          </a:solidFill>
          <a:ln/>
        </p:spPr>
      </p:sp>
      <p:sp>
        <p:nvSpPr>
          <p:cNvPr id="21" name="Text 19"/>
          <p:cNvSpPr/>
          <p:nvPr/>
        </p:nvSpPr>
        <p:spPr>
          <a:xfrm>
            <a:off x="3850873" y="3474720"/>
            <a:ext cx="640080" cy="292608"/>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5.8ms</a:t>
            </a:r>
            <a:endParaRPr lang="en-US" sz="1000" dirty="0"/>
          </a:p>
        </p:txBody>
      </p:sp>
      <p:sp>
        <p:nvSpPr>
          <p:cNvPr id="22" name="Text 20"/>
          <p:cNvSpPr/>
          <p:nvPr/>
        </p:nvSpPr>
        <p:spPr>
          <a:xfrm>
            <a:off x="457200" y="3995928"/>
            <a:ext cx="2194560" cy="32004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Decision Engine</a:t>
            </a:r>
            <a:endParaRPr lang="en-US" sz="1100" dirty="0"/>
          </a:p>
        </p:txBody>
      </p:sp>
      <p:sp>
        <p:nvSpPr>
          <p:cNvPr id="23" name="Shape 21"/>
          <p:cNvSpPr/>
          <p:nvPr/>
        </p:nvSpPr>
        <p:spPr>
          <a:xfrm>
            <a:off x="2743200" y="4032504"/>
            <a:ext cx="91548" cy="256032"/>
          </a:xfrm>
          <a:prstGeom prst="roundRect">
            <a:avLst>
              <a:gd name="adj" fmla="val 39953"/>
            </a:avLst>
          </a:prstGeom>
          <a:solidFill>
            <a:srgbClr val="EF4444"/>
          </a:solidFill>
          <a:ln/>
        </p:spPr>
      </p:sp>
      <p:sp>
        <p:nvSpPr>
          <p:cNvPr id="24" name="Text 22"/>
          <p:cNvSpPr/>
          <p:nvPr/>
        </p:nvSpPr>
        <p:spPr>
          <a:xfrm>
            <a:off x="2880468" y="3995928"/>
            <a:ext cx="640080" cy="292608"/>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0.5ms</a:t>
            </a:r>
            <a:endParaRPr lang="en-US" sz="1000" dirty="0"/>
          </a:p>
        </p:txBody>
      </p:sp>
      <p:sp>
        <p:nvSpPr>
          <p:cNvPr id="25" name="Text 23"/>
          <p:cNvSpPr/>
          <p:nvPr/>
        </p:nvSpPr>
        <p:spPr>
          <a:xfrm>
            <a:off x="457200" y="4517136"/>
            <a:ext cx="2194560" cy="32004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Alert Routing</a:t>
            </a:r>
            <a:endParaRPr lang="en-US" sz="1100" dirty="0"/>
          </a:p>
        </p:txBody>
      </p:sp>
      <p:sp>
        <p:nvSpPr>
          <p:cNvPr id="26" name="Shape 24"/>
          <p:cNvSpPr/>
          <p:nvPr/>
        </p:nvSpPr>
        <p:spPr>
          <a:xfrm>
            <a:off x="2743200" y="4553712"/>
            <a:ext cx="393655" cy="256032"/>
          </a:xfrm>
          <a:prstGeom prst="roundRect">
            <a:avLst>
              <a:gd name="adj" fmla="val 14286"/>
            </a:avLst>
          </a:prstGeom>
          <a:solidFill>
            <a:srgbClr val="10B981"/>
          </a:solidFill>
          <a:ln/>
        </p:spPr>
      </p:sp>
      <p:sp>
        <p:nvSpPr>
          <p:cNvPr id="27" name="Text 25"/>
          <p:cNvSpPr/>
          <p:nvPr/>
        </p:nvSpPr>
        <p:spPr>
          <a:xfrm>
            <a:off x="3182575" y="4517136"/>
            <a:ext cx="640080" cy="292608"/>
          </a:xfrm>
          <a:prstGeom prst="rect">
            <a:avLst/>
          </a:prstGeom>
          <a:noFill/>
          <a:ln/>
        </p:spPr>
        <p:txBody>
          <a:bodyPr wrap="square" lIns="0" tIns="0" rIns="0" bIns="0" rtlCol="0" anchor="ctr"/>
          <a:lstStyle/>
          <a:p>
            <a:pPr indent="0" marL="0">
              <a:buNone/>
            </a:pPr>
            <a:r>
              <a:rPr lang="en-US" sz="1000" dirty="0">
                <a:solidFill>
                  <a:srgbClr val="CBD5E1"/>
                </a:solidFill>
                <a:latin typeface="Calibri" pitchFamily="34" charset="0"/>
                <a:ea typeface="Calibri" pitchFamily="34" charset="-122"/>
                <a:cs typeface="Calibri" pitchFamily="34" charset="-120"/>
              </a:rPr>
              <a:t>2.1ms</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4 · MODEL SELECTION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Candidate Models Evaluated</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3977640"/>
        </p:xfrm>
        <a:graphic>
          <a:graphicData uri="http://schemas.openxmlformats.org/drawingml/2006/table">
            <a:tbl>
              <a:tblPr/>
              <a:tblGrid>
                <a:gridCol w="2011680"/>
                <a:gridCol w="1371600"/>
                <a:gridCol w="2194560"/>
                <a:gridCol w="1828800"/>
                <a:gridCol w="822960"/>
              </a:tblGrid>
              <a:tr h="56692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Model</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Type</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Strengths</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Weaknesses</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Selected?</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r>
              <a:tr h="566928">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ResNet-50 + R(2+1)D + ViT</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Dual-stream Hybrid</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High accuracy, long-range temporal, modular</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Higher latency than EfficientNet</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b="1" dirty="0">
                          <a:solidFill>
                            <a:srgbClr val="10B981"/>
                          </a:solidFill>
                          <a:latin typeface="Calibri" pitchFamily="34" charset="0"/>
                          <a:ea typeface="Calibri" pitchFamily="34" charset="-122"/>
                          <a:cs typeface="Calibri" pitchFamily="34" charset="-120"/>
                        </a:rPr>
                        <a:t>✔ YES</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566928">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EfficientNet-B0</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Efficient CNN</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Fast, lightweight, good accuracy/param ratio</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Spatial only — no temporal modeling</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F59E0B"/>
                          </a:solidFill>
                          <a:latin typeface="Calibri" pitchFamily="34" charset="0"/>
                          <a:ea typeface="Calibri" pitchFamily="34" charset="-122"/>
                          <a:cs typeface="Calibri" pitchFamily="34" charset="-120"/>
                        </a:rPr>
                        <a:t>✘ Trial</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566928">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3D CNN (I3D)</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Spatiotemporal</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Joint space-time modeling</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Massive parameter count, slow inference</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EF4444"/>
                          </a:solidFill>
                          <a:latin typeface="Calibri" pitchFamily="34" charset="0"/>
                          <a:ea typeface="Calibri" pitchFamily="34" charset="-122"/>
                          <a:cs typeface="Calibri" pitchFamily="34" charset="-120"/>
                        </a:rPr>
                        <a:t>✘ No</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566928">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LSTM + CNN</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Recurrent</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Temporal memory, proven for sequences</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Sequential — no parallel attention, slow</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EF4444"/>
                          </a:solidFill>
                          <a:latin typeface="Calibri" pitchFamily="34" charset="0"/>
                          <a:ea typeface="Calibri" pitchFamily="34" charset="-122"/>
                          <a:cs typeface="Calibri" pitchFamily="34" charset="-120"/>
                        </a:rPr>
                        <a:t>✘ No</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566928">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MIL Baseline (Sultani)</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Weak supervised</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Standard benchmark, simple training</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Video-level labels, high false negatives</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64748B"/>
                          </a:solidFill>
                          <a:latin typeface="Calibri" pitchFamily="34" charset="0"/>
                          <a:ea typeface="Calibri" pitchFamily="34" charset="-122"/>
                          <a:cs typeface="Calibri" pitchFamily="34" charset="-120"/>
                        </a:rPr>
                        <a:t>✘ Baseline</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566928">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GWO / PSO Optimizers</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Evolutionary</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Global optimization, no gradient needed</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CBD5E1"/>
                          </a:solidFill>
                          <a:latin typeface="Calibri" pitchFamily="34" charset="0"/>
                          <a:ea typeface="Calibri" pitchFamily="34" charset="-122"/>
                          <a:cs typeface="Calibri" pitchFamily="34" charset="-120"/>
                        </a:rPr>
                        <a:t>Did not outperform ViT baseline</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50" dirty="0">
                          <a:solidFill>
                            <a:srgbClr val="EF4444"/>
                          </a:solidFill>
                          <a:latin typeface="Calibri" pitchFamily="34" charset="0"/>
                          <a:ea typeface="Calibri" pitchFamily="34" charset="-122"/>
                          <a:cs typeface="Calibri" pitchFamily="34" charset="-120"/>
                        </a:rPr>
                        <a:t>✘ No</a:t>
                      </a:r>
                      <a:endParaRPr lang="en-US" sz="10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4 · MODEL SELECTION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Model Selection Strategy</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1005840"/>
            <a:ext cx="8229600" cy="594360"/>
          </a:xfrm>
          <a:prstGeom prst="roundRect">
            <a:avLst>
              <a:gd name="adj" fmla="val 9231"/>
            </a:avLst>
          </a:prstGeom>
          <a:solidFill>
            <a:srgbClr val="111D2E"/>
          </a:solidFill>
          <a:ln/>
        </p:spPr>
      </p:sp>
      <p:sp>
        <p:nvSpPr>
          <p:cNvPr id="7" name="Text 5"/>
          <p:cNvSpPr/>
          <p:nvPr/>
        </p:nvSpPr>
        <p:spPr>
          <a:xfrm>
            <a:off x="566928" y="1060704"/>
            <a:ext cx="1645920" cy="256032"/>
          </a:xfrm>
          <a:prstGeom prst="rect">
            <a:avLst/>
          </a:prstGeom>
          <a:noFill/>
          <a:ln/>
        </p:spPr>
        <p:txBody>
          <a:bodyPr wrap="square" lIns="0" tIns="0" rIns="0" bIns="0" rtlCol="0" anchor="ctr"/>
          <a:lstStyle/>
          <a:p>
            <a:pPr indent="0" marL="0">
              <a:buNone/>
            </a:pPr>
            <a:r>
              <a:rPr lang="en-US" sz="1150" b="1" dirty="0">
                <a:solidFill>
                  <a:srgbClr val="00D4FF"/>
                </a:solidFill>
                <a:latin typeface="Calibri" pitchFamily="34" charset="0"/>
                <a:ea typeface="Calibri" pitchFamily="34" charset="-122"/>
                <a:cs typeface="Calibri" pitchFamily="34" charset="-120"/>
              </a:rPr>
              <a:t>Accuracy &gt; 85%</a:t>
            </a:r>
            <a:endParaRPr lang="en-US" sz="1150" dirty="0"/>
          </a:p>
        </p:txBody>
      </p:sp>
      <p:sp>
        <p:nvSpPr>
          <p:cNvPr id="8" name="Text 6"/>
          <p:cNvSpPr/>
          <p:nvPr/>
        </p:nvSpPr>
        <p:spPr>
          <a:xfrm>
            <a:off x="2286000" y="1060704"/>
            <a:ext cx="3200400" cy="457200"/>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Must significantly exceed 50–60% weak-supervision baselines</a:t>
            </a:r>
            <a:endParaRPr lang="en-US" sz="1050" dirty="0"/>
          </a:p>
        </p:txBody>
      </p:sp>
      <p:sp>
        <p:nvSpPr>
          <p:cNvPr id="9" name="Text 7"/>
          <p:cNvSpPr/>
          <p:nvPr/>
        </p:nvSpPr>
        <p:spPr>
          <a:xfrm>
            <a:off x="5577840" y="1060704"/>
            <a:ext cx="3017520" cy="457200"/>
          </a:xfrm>
          <a:prstGeom prst="rect">
            <a:avLst/>
          </a:prstGeom>
          <a:noFill/>
          <a:ln/>
        </p:spPr>
        <p:txBody>
          <a:bodyPr wrap="square" lIns="0" tIns="0" rIns="0" bIns="0" rtlCol="0" anchor="ctr"/>
          <a:lstStyle/>
          <a:p>
            <a:pPr indent="0" marL="0">
              <a:buNone/>
            </a:pPr>
            <a:r>
              <a:rPr lang="en-US" sz="1050" dirty="0">
                <a:solidFill>
                  <a:srgbClr val="10B981"/>
                </a:solidFill>
                <a:latin typeface="Calibri" pitchFamily="34" charset="0"/>
                <a:ea typeface="Calibri" pitchFamily="34" charset="-122"/>
                <a:cs typeface="Calibri" pitchFamily="34" charset="-120"/>
              </a:rPr>
              <a:t>→ 91.6% achieved (peak run)</a:t>
            </a:r>
            <a:endParaRPr lang="en-US" sz="1050" dirty="0"/>
          </a:p>
        </p:txBody>
      </p:sp>
      <p:sp>
        <p:nvSpPr>
          <p:cNvPr id="10" name="Shape 8"/>
          <p:cNvSpPr/>
          <p:nvPr/>
        </p:nvSpPr>
        <p:spPr>
          <a:xfrm>
            <a:off x="457200" y="1673352"/>
            <a:ext cx="8229600" cy="594360"/>
          </a:xfrm>
          <a:prstGeom prst="roundRect">
            <a:avLst>
              <a:gd name="adj" fmla="val 9231"/>
            </a:avLst>
          </a:prstGeom>
          <a:solidFill>
            <a:srgbClr val="111D2E"/>
          </a:solidFill>
          <a:ln/>
        </p:spPr>
      </p:sp>
      <p:sp>
        <p:nvSpPr>
          <p:cNvPr id="11" name="Text 9"/>
          <p:cNvSpPr/>
          <p:nvPr/>
        </p:nvSpPr>
        <p:spPr>
          <a:xfrm>
            <a:off x="566928" y="1728216"/>
            <a:ext cx="1645920" cy="256032"/>
          </a:xfrm>
          <a:prstGeom prst="rect">
            <a:avLst/>
          </a:prstGeom>
          <a:noFill/>
          <a:ln/>
        </p:spPr>
        <p:txBody>
          <a:bodyPr wrap="square" lIns="0" tIns="0" rIns="0" bIns="0" rtlCol="0" anchor="ctr"/>
          <a:lstStyle/>
          <a:p>
            <a:pPr indent="0" marL="0">
              <a:buNone/>
            </a:pPr>
            <a:r>
              <a:rPr lang="en-US" sz="1150" b="1" dirty="0">
                <a:solidFill>
                  <a:srgbClr val="00D4FF"/>
                </a:solidFill>
                <a:latin typeface="Calibri" pitchFamily="34" charset="0"/>
                <a:ea typeface="Calibri" pitchFamily="34" charset="-122"/>
                <a:cs typeface="Calibri" pitchFamily="34" charset="-120"/>
              </a:rPr>
              <a:t>Dual Modality</a:t>
            </a:r>
            <a:endParaRPr lang="en-US" sz="1150" dirty="0"/>
          </a:p>
        </p:txBody>
      </p:sp>
      <p:sp>
        <p:nvSpPr>
          <p:cNvPr id="12" name="Text 10"/>
          <p:cNvSpPr/>
          <p:nvPr/>
        </p:nvSpPr>
        <p:spPr>
          <a:xfrm>
            <a:off x="2286000" y="1728216"/>
            <a:ext cx="3200400" cy="457200"/>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Must jointly model spatial appearance AND temporal motion</a:t>
            </a:r>
            <a:endParaRPr lang="en-US" sz="1050" dirty="0"/>
          </a:p>
        </p:txBody>
      </p:sp>
      <p:sp>
        <p:nvSpPr>
          <p:cNvPr id="13" name="Text 11"/>
          <p:cNvSpPr/>
          <p:nvPr/>
        </p:nvSpPr>
        <p:spPr>
          <a:xfrm>
            <a:off x="5577840" y="1728216"/>
            <a:ext cx="3017520" cy="457200"/>
          </a:xfrm>
          <a:prstGeom prst="rect">
            <a:avLst/>
          </a:prstGeom>
          <a:noFill/>
          <a:ln/>
        </p:spPr>
        <p:txBody>
          <a:bodyPr wrap="square" lIns="0" tIns="0" rIns="0" bIns="0" rtlCol="0" anchor="ctr"/>
          <a:lstStyle/>
          <a:p>
            <a:pPr indent="0" marL="0">
              <a:buNone/>
            </a:pPr>
            <a:r>
              <a:rPr lang="en-US" sz="1050" dirty="0">
                <a:solidFill>
                  <a:srgbClr val="10B981"/>
                </a:solidFill>
                <a:latin typeface="Calibri" pitchFamily="34" charset="0"/>
                <a:ea typeface="Calibri" pitchFamily="34" charset="-122"/>
                <a:cs typeface="Calibri" pitchFamily="34" charset="-120"/>
              </a:rPr>
              <a:t>→ ResNet-50 + R(2+1)D dual-branch</a:t>
            </a:r>
            <a:endParaRPr lang="en-US" sz="1050" dirty="0"/>
          </a:p>
        </p:txBody>
      </p:sp>
      <p:sp>
        <p:nvSpPr>
          <p:cNvPr id="14" name="Shape 12"/>
          <p:cNvSpPr/>
          <p:nvPr/>
        </p:nvSpPr>
        <p:spPr>
          <a:xfrm>
            <a:off x="457200" y="2340864"/>
            <a:ext cx="8229600" cy="594360"/>
          </a:xfrm>
          <a:prstGeom prst="roundRect">
            <a:avLst>
              <a:gd name="adj" fmla="val 9231"/>
            </a:avLst>
          </a:prstGeom>
          <a:solidFill>
            <a:srgbClr val="111D2E"/>
          </a:solidFill>
          <a:ln/>
        </p:spPr>
      </p:sp>
      <p:sp>
        <p:nvSpPr>
          <p:cNvPr id="15" name="Text 13"/>
          <p:cNvSpPr/>
          <p:nvPr/>
        </p:nvSpPr>
        <p:spPr>
          <a:xfrm>
            <a:off x="566928" y="2395728"/>
            <a:ext cx="1645920" cy="256032"/>
          </a:xfrm>
          <a:prstGeom prst="rect">
            <a:avLst/>
          </a:prstGeom>
          <a:noFill/>
          <a:ln/>
        </p:spPr>
        <p:txBody>
          <a:bodyPr wrap="square" lIns="0" tIns="0" rIns="0" bIns="0" rtlCol="0" anchor="ctr"/>
          <a:lstStyle/>
          <a:p>
            <a:pPr indent="0" marL="0">
              <a:buNone/>
            </a:pPr>
            <a:r>
              <a:rPr lang="en-US" sz="1150" b="1" dirty="0">
                <a:solidFill>
                  <a:srgbClr val="00D4FF"/>
                </a:solidFill>
                <a:latin typeface="Calibri" pitchFamily="34" charset="0"/>
                <a:ea typeface="Calibri" pitchFamily="34" charset="-122"/>
                <a:cs typeface="Calibri" pitchFamily="34" charset="-120"/>
              </a:rPr>
              <a:t>Long-Range Context</a:t>
            </a:r>
            <a:endParaRPr lang="en-US" sz="1150" dirty="0"/>
          </a:p>
        </p:txBody>
      </p:sp>
      <p:sp>
        <p:nvSpPr>
          <p:cNvPr id="16" name="Text 14"/>
          <p:cNvSpPr/>
          <p:nvPr/>
        </p:nvSpPr>
        <p:spPr>
          <a:xfrm>
            <a:off x="2286000" y="2395728"/>
            <a:ext cx="3200400" cy="457200"/>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Must capture behavioral buildups beyond individual clip receptive fields</a:t>
            </a:r>
            <a:endParaRPr lang="en-US" sz="1050" dirty="0"/>
          </a:p>
        </p:txBody>
      </p:sp>
      <p:sp>
        <p:nvSpPr>
          <p:cNvPr id="17" name="Text 15"/>
          <p:cNvSpPr/>
          <p:nvPr/>
        </p:nvSpPr>
        <p:spPr>
          <a:xfrm>
            <a:off x="5577840" y="2395728"/>
            <a:ext cx="3017520" cy="457200"/>
          </a:xfrm>
          <a:prstGeom prst="rect">
            <a:avLst/>
          </a:prstGeom>
          <a:noFill/>
          <a:ln/>
        </p:spPr>
        <p:txBody>
          <a:bodyPr wrap="square" lIns="0" tIns="0" rIns="0" bIns="0" rtlCol="0" anchor="ctr"/>
          <a:lstStyle/>
          <a:p>
            <a:pPr indent="0" marL="0">
              <a:buNone/>
            </a:pPr>
            <a:r>
              <a:rPr lang="en-US" sz="1050" dirty="0">
                <a:solidFill>
                  <a:srgbClr val="10B981"/>
                </a:solidFill>
                <a:latin typeface="Calibri" pitchFamily="34" charset="0"/>
                <a:ea typeface="Calibri" pitchFamily="34" charset="-122"/>
                <a:cs typeface="Calibri" pitchFamily="34" charset="-120"/>
              </a:rPr>
              <a:t>→ ViT 8-clip sliding window</a:t>
            </a:r>
            <a:endParaRPr lang="en-US" sz="1050" dirty="0"/>
          </a:p>
        </p:txBody>
      </p:sp>
      <p:sp>
        <p:nvSpPr>
          <p:cNvPr id="18" name="Shape 16"/>
          <p:cNvSpPr/>
          <p:nvPr/>
        </p:nvSpPr>
        <p:spPr>
          <a:xfrm>
            <a:off x="457200" y="3008376"/>
            <a:ext cx="8229600" cy="594360"/>
          </a:xfrm>
          <a:prstGeom prst="roundRect">
            <a:avLst>
              <a:gd name="adj" fmla="val 9231"/>
            </a:avLst>
          </a:prstGeom>
          <a:solidFill>
            <a:srgbClr val="111D2E"/>
          </a:solidFill>
          <a:ln/>
        </p:spPr>
      </p:sp>
      <p:sp>
        <p:nvSpPr>
          <p:cNvPr id="19" name="Text 17"/>
          <p:cNvSpPr/>
          <p:nvPr/>
        </p:nvSpPr>
        <p:spPr>
          <a:xfrm>
            <a:off x="566928" y="3063240"/>
            <a:ext cx="1645920" cy="256032"/>
          </a:xfrm>
          <a:prstGeom prst="rect">
            <a:avLst/>
          </a:prstGeom>
          <a:noFill/>
          <a:ln/>
        </p:spPr>
        <p:txBody>
          <a:bodyPr wrap="square" lIns="0" tIns="0" rIns="0" bIns="0" rtlCol="0" anchor="ctr"/>
          <a:lstStyle/>
          <a:p>
            <a:pPr indent="0" marL="0">
              <a:buNone/>
            </a:pPr>
            <a:r>
              <a:rPr lang="en-US" sz="1150" b="1" dirty="0">
                <a:solidFill>
                  <a:srgbClr val="00D4FF"/>
                </a:solidFill>
                <a:latin typeface="Calibri" pitchFamily="34" charset="0"/>
                <a:ea typeface="Calibri" pitchFamily="34" charset="-122"/>
                <a:cs typeface="Calibri" pitchFamily="34" charset="-120"/>
              </a:rPr>
              <a:t>Latency ≤ 100ms</a:t>
            </a:r>
            <a:endParaRPr lang="en-US" sz="1150" dirty="0"/>
          </a:p>
        </p:txBody>
      </p:sp>
      <p:sp>
        <p:nvSpPr>
          <p:cNvPr id="20" name="Text 18"/>
          <p:cNvSpPr/>
          <p:nvPr/>
        </p:nvSpPr>
        <p:spPr>
          <a:xfrm>
            <a:off x="2286000" y="3063240"/>
            <a:ext cx="3200400" cy="457200"/>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Real-time processing for live surveillance — must sustain stream</a:t>
            </a:r>
            <a:endParaRPr lang="en-US" sz="1050" dirty="0"/>
          </a:p>
        </p:txBody>
      </p:sp>
      <p:sp>
        <p:nvSpPr>
          <p:cNvPr id="21" name="Text 19"/>
          <p:cNvSpPr/>
          <p:nvPr/>
        </p:nvSpPr>
        <p:spPr>
          <a:xfrm>
            <a:off x="5577840" y="3063240"/>
            <a:ext cx="3017520" cy="457200"/>
          </a:xfrm>
          <a:prstGeom prst="rect">
            <a:avLst/>
          </a:prstGeom>
          <a:noFill/>
          <a:ln/>
        </p:spPr>
        <p:txBody>
          <a:bodyPr wrap="square" lIns="0" tIns="0" rIns="0" bIns="0" rtlCol="0" anchor="ctr"/>
          <a:lstStyle/>
          <a:p>
            <a:pPr indent="0" marL="0">
              <a:buNone/>
            </a:pPr>
            <a:r>
              <a:rPr lang="en-US" sz="1050" dirty="0">
                <a:solidFill>
                  <a:srgbClr val="10B981"/>
                </a:solidFill>
                <a:latin typeface="Calibri" pitchFamily="34" charset="0"/>
                <a:ea typeface="Calibri" pitchFamily="34" charset="-122"/>
                <a:cs typeface="Calibri" pitchFamily="34" charset="-120"/>
              </a:rPr>
              <a:t>→ 42.45ms achieved</a:t>
            </a:r>
            <a:endParaRPr lang="en-US" sz="1050" dirty="0"/>
          </a:p>
        </p:txBody>
      </p:sp>
      <p:sp>
        <p:nvSpPr>
          <p:cNvPr id="22" name="Shape 20"/>
          <p:cNvSpPr/>
          <p:nvPr/>
        </p:nvSpPr>
        <p:spPr>
          <a:xfrm>
            <a:off x="457200" y="3675888"/>
            <a:ext cx="8229600" cy="594360"/>
          </a:xfrm>
          <a:prstGeom prst="roundRect">
            <a:avLst>
              <a:gd name="adj" fmla="val 9231"/>
            </a:avLst>
          </a:prstGeom>
          <a:solidFill>
            <a:srgbClr val="111D2E"/>
          </a:solidFill>
          <a:ln/>
        </p:spPr>
      </p:sp>
      <p:sp>
        <p:nvSpPr>
          <p:cNvPr id="23" name="Text 21"/>
          <p:cNvSpPr/>
          <p:nvPr/>
        </p:nvSpPr>
        <p:spPr>
          <a:xfrm>
            <a:off x="566928" y="3730752"/>
            <a:ext cx="1645920" cy="256032"/>
          </a:xfrm>
          <a:prstGeom prst="rect">
            <a:avLst/>
          </a:prstGeom>
          <a:noFill/>
          <a:ln/>
        </p:spPr>
        <p:txBody>
          <a:bodyPr wrap="square" lIns="0" tIns="0" rIns="0" bIns="0" rtlCol="0" anchor="ctr"/>
          <a:lstStyle/>
          <a:p>
            <a:pPr indent="0" marL="0">
              <a:buNone/>
            </a:pPr>
            <a:r>
              <a:rPr lang="en-US" sz="1150" b="1" dirty="0">
                <a:solidFill>
                  <a:srgbClr val="00D4FF"/>
                </a:solidFill>
                <a:latin typeface="Calibri" pitchFamily="34" charset="0"/>
                <a:ea typeface="Calibri" pitchFamily="34" charset="-122"/>
                <a:cs typeface="Calibri" pitchFamily="34" charset="-120"/>
              </a:rPr>
              <a:t>Deployment Ready</a:t>
            </a:r>
            <a:endParaRPr lang="en-US" sz="1150" dirty="0"/>
          </a:p>
        </p:txBody>
      </p:sp>
      <p:sp>
        <p:nvSpPr>
          <p:cNvPr id="24" name="Text 22"/>
          <p:cNvSpPr/>
          <p:nvPr/>
        </p:nvSpPr>
        <p:spPr>
          <a:xfrm>
            <a:off x="2286000" y="3730752"/>
            <a:ext cx="3200400" cy="457200"/>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Must embed into production web architecture with alert routing</a:t>
            </a:r>
            <a:endParaRPr lang="en-US" sz="1050" dirty="0"/>
          </a:p>
        </p:txBody>
      </p:sp>
      <p:sp>
        <p:nvSpPr>
          <p:cNvPr id="25" name="Text 23"/>
          <p:cNvSpPr/>
          <p:nvPr/>
        </p:nvSpPr>
        <p:spPr>
          <a:xfrm>
            <a:off x="5577840" y="3730752"/>
            <a:ext cx="3017520" cy="457200"/>
          </a:xfrm>
          <a:prstGeom prst="rect">
            <a:avLst/>
          </a:prstGeom>
          <a:noFill/>
          <a:ln/>
        </p:spPr>
        <p:txBody>
          <a:bodyPr wrap="square" lIns="0" tIns="0" rIns="0" bIns="0" rtlCol="0" anchor="ctr"/>
          <a:lstStyle/>
          <a:p>
            <a:pPr indent="0" marL="0">
              <a:buNone/>
            </a:pPr>
            <a:r>
              <a:rPr lang="en-US" sz="1050" dirty="0">
                <a:solidFill>
                  <a:srgbClr val="10B981"/>
                </a:solidFill>
                <a:latin typeface="Calibri" pitchFamily="34" charset="0"/>
                <a:ea typeface="Calibri" pitchFamily="34" charset="-122"/>
                <a:cs typeface="Calibri" pitchFamily="34" charset="-120"/>
              </a:rPr>
              <a:t>→ Flask + Express + MQTT stack</a:t>
            </a:r>
            <a:endParaRPr lang="en-US" sz="1050" dirty="0"/>
          </a:p>
        </p:txBody>
      </p:sp>
      <p:sp>
        <p:nvSpPr>
          <p:cNvPr id="26" name="Shape 24"/>
          <p:cNvSpPr/>
          <p:nvPr/>
        </p:nvSpPr>
        <p:spPr>
          <a:xfrm>
            <a:off x="457200" y="4343400"/>
            <a:ext cx="8229600" cy="594360"/>
          </a:xfrm>
          <a:prstGeom prst="roundRect">
            <a:avLst>
              <a:gd name="adj" fmla="val 9231"/>
            </a:avLst>
          </a:prstGeom>
          <a:solidFill>
            <a:srgbClr val="111D2E"/>
          </a:solidFill>
          <a:ln/>
        </p:spPr>
      </p:sp>
      <p:sp>
        <p:nvSpPr>
          <p:cNvPr id="27" name="Text 25"/>
          <p:cNvSpPr/>
          <p:nvPr/>
        </p:nvSpPr>
        <p:spPr>
          <a:xfrm>
            <a:off x="566928" y="4398264"/>
            <a:ext cx="1645920" cy="256032"/>
          </a:xfrm>
          <a:prstGeom prst="rect">
            <a:avLst/>
          </a:prstGeom>
          <a:noFill/>
          <a:ln/>
        </p:spPr>
        <p:txBody>
          <a:bodyPr wrap="square" lIns="0" tIns="0" rIns="0" bIns="0" rtlCol="0" anchor="ctr"/>
          <a:lstStyle/>
          <a:p>
            <a:pPr indent="0" marL="0">
              <a:buNone/>
            </a:pPr>
            <a:r>
              <a:rPr lang="en-US" sz="1150" b="1" dirty="0">
                <a:solidFill>
                  <a:srgbClr val="00D4FF"/>
                </a:solidFill>
                <a:latin typeface="Calibri" pitchFamily="34" charset="0"/>
                <a:ea typeface="Calibri" pitchFamily="34" charset="-122"/>
                <a:cs typeface="Calibri" pitchFamily="34" charset="-120"/>
              </a:rPr>
              <a:t>Privacy Compliant</a:t>
            </a:r>
            <a:endParaRPr lang="en-US" sz="1150" dirty="0"/>
          </a:p>
        </p:txBody>
      </p:sp>
      <p:sp>
        <p:nvSpPr>
          <p:cNvPr id="28" name="Text 26"/>
          <p:cNvSpPr/>
          <p:nvPr/>
        </p:nvSpPr>
        <p:spPr>
          <a:xfrm>
            <a:off x="2286000" y="4398264"/>
            <a:ext cx="3200400" cy="457200"/>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Ephemeral processing — no permanent storage of normal footage</a:t>
            </a:r>
            <a:endParaRPr lang="en-US" sz="1050" dirty="0"/>
          </a:p>
        </p:txBody>
      </p:sp>
      <p:sp>
        <p:nvSpPr>
          <p:cNvPr id="29" name="Text 27"/>
          <p:cNvSpPr/>
          <p:nvPr/>
        </p:nvSpPr>
        <p:spPr>
          <a:xfrm>
            <a:off x="5577840" y="4398264"/>
            <a:ext cx="3017520" cy="457200"/>
          </a:xfrm>
          <a:prstGeom prst="rect">
            <a:avLst/>
          </a:prstGeom>
          <a:noFill/>
          <a:ln/>
        </p:spPr>
        <p:txBody>
          <a:bodyPr wrap="square" lIns="0" tIns="0" rIns="0" bIns="0" rtlCol="0" anchor="ctr"/>
          <a:lstStyle/>
          <a:p>
            <a:pPr indent="0" marL="0">
              <a:buNone/>
            </a:pPr>
            <a:r>
              <a:rPr lang="en-US" sz="1050" dirty="0">
                <a:solidFill>
                  <a:srgbClr val="10B981"/>
                </a:solidFill>
                <a:latin typeface="Calibri" pitchFamily="34" charset="0"/>
                <a:ea typeface="Calibri" pitchFamily="34" charset="-122"/>
                <a:cs typeface="Calibri" pitchFamily="34" charset="-120"/>
              </a:rPr>
              <a:t>→ Volatile RAM processing + conditional logging</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4 · MODEL SELECTION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Comprehensive Model Performance Comparison</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graphicFrame>
        <p:nvGraphicFramePr>
          <p:cNvPr id="6" name="Chart 0" descr=""/>
          <p:cNvGraphicFramePr/>
          <p:nvPr/>
        </p:nvGraphicFramePr>
        <p:xfrm>
          <a:off x="457200" y="960120"/>
          <a:ext cx="8229600" cy="3822192"/>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457200" y="4828032"/>
            <a:ext cx="8229600" cy="256032"/>
          </a:xfrm>
          <a:prstGeom prst="rect">
            <a:avLst/>
          </a:prstGeom>
          <a:noFill/>
          <a:ln/>
        </p:spPr>
        <p:txBody>
          <a:bodyPr wrap="square" lIns="0" tIns="0" rIns="0" bIns="0" rtlCol="0" anchor="ctr"/>
          <a:lstStyle/>
          <a:p>
            <a:pPr indent="0" marL="0">
              <a:buNone/>
            </a:pPr>
            <a:r>
              <a:rPr lang="en-US" sz="1050" dirty="0">
                <a:solidFill>
                  <a:srgbClr val="F59E0B"/>
                </a:solidFill>
                <a:latin typeface="Calibri" pitchFamily="34" charset="0"/>
                <a:ea typeface="Calibri" pitchFamily="34" charset="-122"/>
                <a:cs typeface="Calibri" pitchFamily="34" charset="-120"/>
              </a:rPr>
              <a:t>★ Final deployed model: ResNet-50 + R(2+1)D + ViT hybrid achieves highest accuracy and F1 across all evaluation dimensions</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4 · MODEL SELECTION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Why ResNet-50 + R(2+1)D + ViT Was Selected</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1005840"/>
            <a:ext cx="4023360" cy="1389888"/>
          </a:xfrm>
          <a:prstGeom prst="roundRect">
            <a:avLst>
              <a:gd name="adj" fmla="val 5263"/>
            </a:avLst>
          </a:prstGeom>
          <a:solidFill>
            <a:srgbClr val="111D2E"/>
          </a:solidFill>
          <a:ln/>
        </p:spPr>
      </p:sp>
      <p:sp>
        <p:nvSpPr>
          <p:cNvPr id="7" name="Text 5"/>
          <p:cNvSpPr/>
          <p:nvPr/>
        </p:nvSpPr>
        <p:spPr>
          <a:xfrm>
            <a:off x="566928" y="1097280"/>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Complementary Modalities</a:t>
            </a:r>
            <a:endParaRPr lang="en-US" sz="1200" dirty="0"/>
          </a:p>
        </p:txBody>
      </p:sp>
      <p:sp>
        <p:nvSpPr>
          <p:cNvPr id="8" name="Text 6"/>
          <p:cNvSpPr/>
          <p:nvPr/>
        </p:nvSpPr>
        <p:spPr>
          <a:xfrm>
            <a:off x="566928" y="1426464"/>
            <a:ext cx="3794760" cy="896112"/>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ResNet-50 harvests 2048-D semantic appearance (objects, scenes). R(2+1)D captures 512-D motion dynamics (velocity, direction). Neither branch can replace the other.</a:t>
            </a:r>
            <a:endParaRPr lang="en-US" sz="1100" dirty="0"/>
          </a:p>
        </p:txBody>
      </p:sp>
      <p:sp>
        <p:nvSpPr>
          <p:cNvPr id="9" name="Shape 7"/>
          <p:cNvSpPr/>
          <p:nvPr/>
        </p:nvSpPr>
        <p:spPr>
          <a:xfrm>
            <a:off x="4800600" y="1005840"/>
            <a:ext cx="4023360" cy="1389888"/>
          </a:xfrm>
          <a:prstGeom prst="roundRect">
            <a:avLst>
              <a:gd name="adj" fmla="val 5263"/>
            </a:avLst>
          </a:prstGeom>
          <a:solidFill>
            <a:srgbClr val="111D2E"/>
          </a:solidFill>
          <a:ln/>
        </p:spPr>
      </p:sp>
      <p:sp>
        <p:nvSpPr>
          <p:cNvPr id="10" name="Text 8"/>
          <p:cNvSpPr/>
          <p:nvPr/>
        </p:nvSpPr>
        <p:spPr>
          <a:xfrm>
            <a:off x="4910328" y="1097280"/>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Long-Range Temporal Modeling</a:t>
            </a:r>
            <a:endParaRPr lang="en-US" sz="1200" dirty="0"/>
          </a:p>
        </p:txBody>
      </p:sp>
      <p:sp>
        <p:nvSpPr>
          <p:cNvPr id="11" name="Text 9"/>
          <p:cNvSpPr/>
          <p:nvPr/>
        </p:nvSpPr>
        <p:spPr>
          <a:xfrm>
            <a:off x="4910328" y="1426464"/>
            <a:ext cx="3794760" cy="896112"/>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ViT with 8-clip sliding window detects anomaly build-ups over ~25 seconds — impossible with per-clip classifiers or LSTM step-by-step processing.</a:t>
            </a:r>
            <a:endParaRPr lang="en-US" sz="1100" dirty="0"/>
          </a:p>
        </p:txBody>
      </p:sp>
      <p:sp>
        <p:nvSpPr>
          <p:cNvPr id="12" name="Shape 10"/>
          <p:cNvSpPr/>
          <p:nvPr/>
        </p:nvSpPr>
        <p:spPr>
          <a:xfrm>
            <a:off x="457200" y="2542032"/>
            <a:ext cx="4023360" cy="1389888"/>
          </a:xfrm>
          <a:prstGeom prst="roundRect">
            <a:avLst>
              <a:gd name="adj" fmla="val 5263"/>
            </a:avLst>
          </a:prstGeom>
          <a:solidFill>
            <a:srgbClr val="111D2E"/>
          </a:solidFill>
          <a:ln/>
        </p:spPr>
      </p:sp>
      <p:sp>
        <p:nvSpPr>
          <p:cNvPr id="13" name="Text 11"/>
          <p:cNvSpPr/>
          <p:nvPr/>
        </p:nvSpPr>
        <p:spPr>
          <a:xfrm>
            <a:off x="566928" y="2633472"/>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Factorized Efficiency</a:t>
            </a:r>
            <a:endParaRPr lang="en-US" sz="1200" dirty="0"/>
          </a:p>
        </p:txBody>
      </p:sp>
      <p:sp>
        <p:nvSpPr>
          <p:cNvPr id="14" name="Text 12"/>
          <p:cNvSpPr/>
          <p:nvPr/>
        </p:nvSpPr>
        <p:spPr>
          <a:xfrm>
            <a:off x="566928" y="2962656"/>
            <a:ext cx="3794760" cy="896112"/>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R(2+1)D replaces expensive 3D convolutions with 2D spatial + 1D temporal — reducing parameters while introducing an extra ReLU for richer motion representation.</a:t>
            </a:r>
            <a:endParaRPr lang="en-US" sz="1100" dirty="0"/>
          </a:p>
        </p:txBody>
      </p:sp>
      <p:sp>
        <p:nvSpPr>
          <p:cNvPr id="15" name="Shape 13"/>
          <p:cNvSpPr/>
          <p:nvPr/>
        </p:nvSpPr>
        <p:spPr>
          <a:xfrm>
            <a:off x="4800600" y="2542032"/>
            <a:ext cx="4023360" cy="1389888"/>
          </a:xfrm>
          <a:prstGeom prst="roundRect">
            <a:avLst>
              <a:gd name="adj" fmla="val 5263"/>
            </a:avLst>
          </a:prstGeom>
          <a:solidFill>
            <a:srgbClr val="111D2E"/>
          </a:solidFill>
          <a:ln/>
        </p:spPr>
      </p:sp>
      <p:sp>
        <p:nvSpPr>
          <p:cNvPr id="16" name="Text 14"/>
          <p:cNvSpPr/>
          <p:nvPr/>
        </p:nvSpPr>
        <p:spPr>
          <a:xfrm>
            <a:off x="4910328" y="2633472"/>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Balanced Complexity</a:t>
            </a:r>
            <a:endParaRPr lang="en-US" sz="1200" dirty="0"/>
          </a:p>
        </p:txBody>
      </p:sp>
      <p:sp>
        <p:nvSpPr>
          <p:cNvPr id="17" name="Text 15"/>
          <p:cNvSpPr/>
          <p:nvPr/>
        </p:nvSpPr>
        <p:spPr>
          <a:xfrm>
            <a:off x="4910328" y="2962656"/>
            <a:ext cx="3794760" cy="896112"/>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Total pipeline: 42.45ms. EfficientNet achieved comparable speed but 8.4% lower accuracy. I3D achieved similar accuracy at 3× the latency cost.</a:t>
            </a:r>
            <a:endParaRPr lang="en-US" sz="1100" dirty="0"/>
          </a:p>
        </p:txBody>
      </p:sp>
      <p:sp>
        <p:nvSpPr>
          <p:cNvPr id="18" name="Shape 16"/>
          <p:cNvSpPr/>
          <p:nvPr/>
        </p:nvSpPr>
        <p:spPr>
          <a:xfrm>
            <a:off x="2395728" y="4078224"/>
            <a:ext cx="4023360" cy="1389888"/>
          </a:xfrm>
          <a:prstGeom prst="roundRect">
            <a:avLst>
              <a:gd name="adj" fmla="val 5263"/>
            </a:avLst>
          </a:prstGeom>
          <a:solidFill>
            <a:srgbClr val="111D2E"/>
          </a:solidFill>
          <a:ln/>
        </p:spPr>
      </p:sp>
      <p:sp>
        <p:nvSpPr>
          <p:cNvPr id="19" name="Text 17"/>
          <p:cNvSpPr/>
          <p:nvPr/>
        </p:nvSpPr>
        <p:spPr>
          <a:xfrm>
            <a:off x="2505456" y="4169664"/>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Production Engineering Fit</a:t>
            </a:r>
            <a:endParaRPr lang="en-US" sz="1200" dirty="0"/>
          </a:p>
        </p:txBody>
      </p:sp>
      <p:sp>
        <p:nvSpPr>
          <p:cNvPr id="20" name="Text 18"/>
          <p:cNvSpPr/>
          <p:nvPr/>
        </p:nvSpPr>
        <p:spPr>
          <a:xfrm>
            <a:off x="2505456" y="4498848"/>
            <a:ext cx="3794760" cy="896112"/>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The modular architecture enables independent Flask serving of the PyTorch model, cleanly decoupled from the Node.js API gateway and React frontend.</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5 · MAIN MODEL ARCHITECTURE</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Main Model Overview</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1440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7" name="Text 5"/>
          <p:cNvSpPr/>
          <p:nvPr/>
        </p:nvSpPr>
        <p:spPr>
          <a:xfrm>
            <a:off x="457200" y="960120"/>
            <a:ext cx="1920240" cy="548640"/>
          </a:xfrm>
          <a:prstGeom prst="rect">
            <a:avLst/>
          </a:prstGeom>
          <a:noFill/>
          <a:ln/>
        </p:spPr>
        <p:txBody>
          <a:bodyPr wrap="square" lIns="0" tIns="0" rIns="0" bIns="0" rtlCol="0" anchor="ctr"/>
          <a:lstStyle/>
          <a:p>
            <a:pPr algn="ctr" indent="0" marL="0">
              <a:buNone/>
            </a:pPr>
            <a:r>
              <a:rPr lang="en-US" sz="2800" b="1" dirty="0">
                <a:solidFill>
                  <a:srgbClr val="00D4FF"/>
                </a:solidFill>
                <a:latin typeface="Calibri" pitchFamily="34" charset="0"/>
                <a:ea typeface="Calibri" pitchFamily="34" charset="-122"/>
                <a:cs typeface="Calibri" pitchFamily="34" charset="-120"/>
              </a:rPr>
              <a:t>91.58%</a:t>
            </a:r>
            <a:endParaRPr lang="en-US" sz="2800" dirty="0"/>
          </a:p>
        </p:txBody>
      </p:sp>
      <p:sp>
        <p:nvSpPr>
          <p:cNvPr id="8" name="Text 6"/>
          <p:cNvSpPr/>
          <p:nvPr/>
        </p:nvSpPr>
        <p:spPr>
          <a:xfrm>
            <a:off x="457200" y="150876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Peak Accuracy</a:t>
            </a:r>
            <a:endParaRPr lang="en-US" sz="1000" dirty="0"/>
          </a:p>
        </p:txBody>
      </p:sp>
      <p:sp>
        <p:nvSpPr>
          <p:cNvPr id="9" name="Shape 7"/>
          <p:cNvSpPr/>
          <p:nvPr/>
        </p:nvSpPr>
        <p:spPr>
          <a:xfrm>
            <a:off x="2542032" y="91440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10" name="Text 8"/>
          <p:cNvSpPr/>
          <p:nvPr/>
        </p:nvSpPr>
        <p:spPr>
          <a:xfrm>
            <a:off x="2542032" y="960120"/>
            <a:ext cx="1920240" cy="548640"/>
          </a:xfrm>
          <a:prstGeom prst="rect">
            <a:avLst/>
          </a:prstGeom>
          <a:noFill/>
          <a:ln/>
        </p:spPr>
        <p:txBody>
          <a:bodyPr wrap="square" lIns="0" tIns="0" rIns="0" bIns="0" rtlCol="0" anchor="ctr"/>
          <a:lstStyle/>
          <a:p>
            <a:pPr algn="ctr" indent="0" marL="0">
              <a:buNone/>
            </a:pPr>
            <a:r>
              <a:rPr lang="en-US" sz="2800" b="1" dirty="0">
                <a:solidFill>
                  <a:srgbClr val="00D4FF"/>
                </a:solidFill>
                <a:latin typeface="Calibri" pitchFamily="34" charset="0"/>
                <a:ea typeface="Calibri" pitchFamily="34" charset="-122"/>
                <a:cs typeface="Calibri" pitchFamily="34" charset="-120"/>
              </a:rPr>
              <a:t>91.50%</a:t>
            </a:r>
            <a:endParaRPr lang="en-US" sz="2800" dirty="0"/>
          </a:p>
        </p:txBody>
      </p:sp>
      <p:sp>
        <p:nvSpPr>
          <p:cNvPr id="11" name="Text 9"/>
          <p:cNvSpPr/>
          <p:nvPr/>
        </p:nvSpPr>
        <p:spPr>
          <a:xfrm>
            <a:off x="2542032" y="150876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Peak F1 Score</a:t>
            </a:r>
            <a:endParaRPr lang="en-US" sz="1000" dirty="0"/>
          </a:p>
        </p:txBody>
      </p:sp>
      <p:sp>
        <p:nvSpPr>
          <p:cNvPr id="12" name="Shape 10"/>
          <p:cNvSpPr/>
          <p:nvPr/>
        </p:nvSpPr>
        <p:spPr>
          <a:xfrm>
            <a:off x="4626864" y="91440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13" name="Text 11"/>
          <p:cNvSpPr/>
          <p:nvPr/>
        </p:nvSpPr>
        <p:spPr>
          <a:xfrm>
            <a:off x="4626864" y="960120"/>
            <a:ext cx="1920240" cy="548640"/>
          </a:xfrm>
          <a:prstGeom prst="rect">
            <a:avLst/>
          </a:prstGeom>
          <a:noFill/>
          <a:ln/>
        </p:spPr>
        <p:txBody>
          <a:bodyPr wrap="square" lIns="0" tIns="0" rIns="0" bIns="0" rtlCol="0" anchor="ctr"/>
          <a:lstStyle/>
          <a:p>
            <a:pPr algn="ctr" indent="0" marL="0">
              <a:buNone/>
            </a:pPr>
            <a:r>
              <a:rPr lang="en-US" sz="2800" b="1" dirty="0">
                <a:solidFill>
                  <a:srgbClr val="00D4FF"/>
                </a:solidFill>
                <a:latin typeface="Calibri" pitchFamily="34" charset="0"/>
                <a:ea typeface="Calibri" pitchFamily="34" charset="-122"/>
                <a:cs typeface="Calibri" pitchFamily="34" charset="-120"/>
              </a:rPr>
              <a:t>94.83%</a:t>
            </a:r>
            <a:endParaRPr lang="en-US" sz="2800" dirty="0"/>
          </a:p>
        </p:txBody>
      </p:sp>
      <p:sp>
        <p:nvSpPr>
          <p:cNvPr id="14" name="Text 12"/>
          <p:cNvSpPr/>
          <p:nvPr/>
        </p:nvSpPr>
        <p:spPr>
          <a:xfrm>
            <a:off x="4626864" y="150876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Peak AUC</a:t>
            </a:r>
            <a:endParaRPr lang="en-US" sz="1000" dirty="0"/>
          </a:p>
        </p:txBody>
      </p:sp>
      <p:sp>
        <p:nvSpPr>
          <p:cNvPr id="15" name="Shape 13"/>
          <p:cNvSpPr/>
          <p:nvPr/>
        </p:nvSpPr>
        <p:spPr>
          <a:xfrm>
            <a:off x="6711696" y="91440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16" name="Text 14"/>
          <p:cNvSpPr/>
          <p:nvPr/>
        </p:nvSpPr>
        <p:spPr>
          <a:xfrm>
            <a:off x="6711696" y="960120"/>
            <a:ext cx="1920240" cy="548640"/>
          </a:xfrm>
          <a:prstGeom prst="rect">
            <a:avLst/>
          </a:prstGeom>
          <a:noFill/>
          <a:ln/>
        </p:spPr>
        <p:txBody>
          <a:bodyPr wrap="square" lIns="0" tIns="0" rIns="0" bIns="0" rtlCol="0" anchor="ctr"/>
          <a:lstStyle/>
          <a:p>
            <a:pPr algn="ctr" indent="0" marL="0">
              <a:buNone/>
            </a:pPr>
            <a:r>
              <a:rPr lang="en-US" sz="2800" b="1" dirty="0">
                <a:solidFill>
                  <a:srgbClr val="00D4FF"/>
                </a:solidFill>
                <a:latin typeface="Calibri" pitchFamily="34" charset="0"/>
                <a:ea typeface="Calibri" pitchFamily="34" charset="-122"/>
                <a:cs typeface="Calibri" pitchFamily="34" charset="-120"/>
              </a:rPr>
              <a:t>42.45ms</a:t>
            </a:r>
            <a:endParaRPr lang="en-US" sz="2800" dirty="0"/>
          </a:p>
        </p:txBody>
      </p:sp>
      <p:sp>
        <p:nvSpPr>
          <p:cNvPr id="17" name="Text 15"/>
          <p:cNvSpPr/>
          <p:nvPr/>
        </p:nvSpPr>
        <p:spPr>
          <a:xfrm>
            <a:off x="6711696" y="150876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Inference Latency</a:t>
            </a:r>
            <a:endParaRPr lang="en-US" sz="1000" dirty="0"/>
          </a:p>
        </p:txBody>
      </p:sp>
      <p:sp>
        <p:nvSpPr>
          <p:cNvPr id="18" name="Text 16"/>
          <p:cNvSpPr/>
          <p:nvPr/>
        </p:nvSpPr>
        <p:spPr>
          <a:xfrm>
            <a:off x="457200" y="2121408"/>
            <a:ext cx="8229600" cy="2560320"/>
          </a:xfrm>
          <a:prstGeom prst="rect">
            <a:avLst/>
          </a:prstGeom>
          <a:noFill/>
          <a:ln/>
        </p:spPr>
        <p:txBody>
          <a:bodyPr wrap="square" lIns="0" tIns="0" rIns="635" bIns="0" rtlCol="0" anchor="t"/>
          <a:lstStyle/>
          <a:p>
            <a:pPr indent="0" marL="0">
              <a:buNone/>
            </a:pPr>
            <a:r>
              <a:rPr lang="en-US" sz="1250" b="1" dirty="0">
                <a:solidFill>
                  <a:srgbClr val="00D4FF"/>
                </a:solidFill>
                <a:latin typeface="Calibri" pitchFamily="34" charset="0"/>
                <a:ea typeface="Calibri" pitchFamily="34" charset="-122"/>
                <a:cs typeface="Calibri" pitchFamily="34" charset="-120"/>
              </a:rPr>
              <a:t>Architecture: </a:t>
            </a:r>
            <a:pPr indent="0" marL="0">
              <a:buNone/>
            </a:pPr>
            <a:r>
              <a:rPr lang="en-US" sz="1250" dirty="0">
                <a:solidFill>
                  <a:srgbClr val="FFFFFF"/>
                </a:solidFill>
                <a:latin typeface="Calibri" pitchFamily="34" charset="0"/>
                <a:ea typeface="Calibri" pitchFamily="34" charset="-122"/>
                <a:cs typeface="Calibri" pitchFamily="34" charset="-120"/>
              </a:rPr>
              <a:t>Dual-Stream Deep Learning + Temporal Vision Transformer
</a:t>
            </a:r>
            <a:pPr indent="0" marL="0">
              <a:buNone/>
            </a:pPr>
            <a:r>
              <a:rPr lang="en-US" sz="1250" b="1" dirty="0">
                <a:solidFill>
                  <a:srgbClr val="0EA5E9"/>
                </a:solidFill>
                <a:latin typeface="Calibri" pitchFamily="34" charset="0"/>
                <a:ea typeface="Calibri" pitchFamily="34" charset="-122"/>
                <a:cs typeface="Calibri" pitchFamily="34" charset="-120"/>
              </a:rPr>
              <a:t>Spatial Branch: </a:t>
            </a:r>
            <a:pPr indent="0" marL="0">
              <a:buNone/>
            </a:pPr>
            <a:r>
              <a:rPr lang="en-US" sz="1250" dirty="0">
                <a:solidFill>
                  <a:srgbClr val="CBD5E1"/>
                </a:solidFill>
                <a:latin typeface="Calibri" pitchFamily="34" charset="0"/>
                <a:ea typeface="Calibri" pitchFamily="34" charset="-122"/>
                <a:cs typeface="Calibri" pitchFamily="34" charset="-120"/>
              </a:rPr>
              <a:t>Pre-trained ResNet-50 → 2048-D appearance vector
</a:t>
            </a:r>
            <a:pPr indent="0" marL="0">
              <a:buNone/>
            </a:pPr>
            <a:r>
              <a:rPr lang="en-US" sz="1250" b="1" dirty="0">
                <a:solidFill>
                  <a:srgbClr val="10B981"/>
                </a:solidFill>
                <a:latin typeface="Calibri" pitchFamily="34" charset="0"/>
                <a:ea typeface="Calibri" pitchFamily="34" charset="-122"/>
                <a:cs typeface="Calibri" pitchFamily="34" charset="-120"/>
              </a:rPr>
              <a:t>Temporal Branch: </a:t>
            </a:r>
            <a:pPr indent="0" marL="0">
              <a:buNone/>
            </a:pPr>
            <a:r>
              <a:rPr lang="en-US" sz="1250" dirty="0">
                <a:solidFill>
                  <a:srgbClr val="CBD5E1"/>
                </a:solidFill>
                <a:latin typeface="Calibri" pitchFamily="34" charset="0"/>
                <a:ea typeface="Calibri" pitchFamily="34" charset="-122"/>
                <a:cs typeface="Calibri" pitchFamily="34" charset="-120"/>
              </a:rPr>
              <a:t>Pre-trained R(2+1)D → 512-D motion vector
</a:t>
            </a:r>
            <a:pPr indent="0" marL="0">
              <a:buNone/>
            </a:pPr>
            <a:r>
              <a:rPr lang="en-US" sz="1250" b="1" dirty="0">
                <a:solidFill>
                  <a:srgbClr val="F59E0B"/>
                </a:solidFill>
                <a:latin typeface="Calibri" pitchFamily="34" charset="0"/>
                <a:ea typeface="Calibri" pitchFamily="34" charset="-122"/>
                <a:cs typeface="Calibri" pitchFamily="34" charset="-120"/>
              </a:rPr>
              <a:t>Fusion: </a:t>
            </a:r>
            <a:pPr indent="0" marL="0">
              <a:buNone/>
            </a:pPr>
            <a:r>
              <a:rPr lang="en-US" sz="1250" dirty="0">
                <a:solidFill>
                  <a:srgbClr val="CBD5E1"/>
                </a:solidFill>
                <a:latin typeface="Calibri" pitchFamily="34" charset="0"/>
                <a:ea typeface="Calibri" pitchFamily="34" charset="-122"/>
                <a:cs typeface="Calibri" pitchFamily="34" charset="-120"/>
              </a:rPr>
              <a:t>Concatenation 2560-D → Linear projection Wp → 512-D
</a:t>
            </a:r>
            <a:pPr indent="0" marL="0">
              <a:buNone/>
            </a:pPr>
            <a:r>
              <a:rPr lang="en-US" sz="1250" b="1" dirty="0">
                <a:solidFill>
                  <a:srgbClr val="EF4444"/>
                </a:solidFill>
                <a:latin typeface="Calibri" pitchFamily="34" charset="0"/>
                <a:ea typeface="Calibri" pitchFamily="34" charset="-122"/>
                <a:cs typeface="Calibri" pitchFamily="34" charset="-120"/>
              </a:rPr>
              <a:t>Sequence: </a:t>
            </a:r>
            <a:pPr indent="0" marL="0">
              <a:buNone/>
            </a:pPr>
            <a:r>
              <a:rPr lang="en-US" sz="1250" dirty="0">
                <a:solidFill>
                  <a:srgbClr val="CBD5E1"/>
                </a:solidFill>
                <a:latin typeface="Calibri" pitchFamily="34" charset="0"/>
                <a:ea typeface="Calibri" pitchFamily="34" charset="-122"/>
                <a:cs typeface="Calibri" pitchFamily="34" charset="-120"/>
              </a:rPr>
              <a:t>4-block ViT encoder, 8-clip sliding window, [CLS] token classification</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5 · MAIN MODEL ARCHITECTURE</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Full Architecture Diagram</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274320" y="1207008"/>
            <a:ext cx="1097280" cy="2560320"/>
          </a:xfrm>
          <a:prstGeom prst="roundRect">
            <a:avLst>
              <a:gd name="adj" fmla="val 5833"/>
            </a:avLst>
          </a:prstGeom>
          <a:solidFill>
            <a:srgbClr val="111D2E"/>
          </a:solidFill>
          <a:ln/>
        </p:spPr>
      </p:sp>
      <p:sp>
        <p:nvSpPr>
          <p:cNvPr id="7" name="Text 5"/>
          <p:cNvSpPr/>
          <p:nvPr/>
        </p:nvSpPr>
        <p:spPr>
          <a:xfrm>
            <a:off x="274320" y="1920240"/>
            <a:ext cx="1097280" cy="1097280"/>
          </a:xfrm>
          <a:prstGeom prst="rect">
            <a:avLst/>
          </a:prstGeom>
          <a:noFill/>
          <a:ln/>
        </p:spPr>
        <p:txBody>
          <a:bodyPr wrap="square" lIns="0" tIns="0" rIns="0" bIns="0" rtlCol="0" anchor="ctr"/>
          <a:lstStyle/>
          <a:p>
            <a:pPr algn="ctr" indent="0" marL="0">
              <a:buNone/>
            </a:pPr>
            <a:r>
              <a:rPr lang="en-US" sz="1000" b="1" dirty="0">
                <a:solidFill>
                  <a:srgbClr val="00D4FF"/>
                </a:solidFill>
                <a:latin typeface="Calibri" pitchFamily="34" charset="0"/>
                <a:ea typeface="Calibri" pitchFamily="34" charset="-122"/>
                <a:cs typeface="Calibri" pitchFamily="34" charset="-120"/>
              </a:rPr>
              <a:t>INPUT</a:t>
            </a:r>
            <a:endParaRPr lang="en-US" sz="1000" dirty="0"/>
          </a:p>
          <a:p>
            <a:pPr algn="ctr" indent="0" marL="0">
              <a:buNone/>
            </a:pPr>
            <a:r>
              <a:rPr lang="en-US" sz="1000" b="1" dirty="0">
                <a:solidFill>
                  <a:srgbClr val="00D4FF"/>
                </a:solidFill>
                <a:latin typeface="Calibri" pitchFamily="34" charset="0"/>
                <a:ea typeface="Calibri" pitchFamily="34" charset="-122"/>
                <a:cs typeface="Calibri" pitchFamily="34" charset="-120"/>
              </a:rPr>
              <a:t>CCTV</a:t>
            </a:r>
            <a:endParaRPr lang="en-US" sz="1000" dirty="0"/>
          </a:p>
          <a:p>
            <a:pPr algn="ctr" indent="0" marL="0">
              <a:buNone/>
            </a:pPr>
            <a:r>
              <a:rPr lang="en-US" sz="1000" b="1" dirty="0">
                <a:solidFill>
                  <a:srgbClr val="00D4FF"/>
                </a:solidFill>
                <a:latin typeface="Calibri" pitchFamily="34" charset="0"/>
                <a:ea typeface="Calibri" pitchFamily="34" charset="-122"/>
                <a:cs typeface="Calibri" pitchFamily="34" charset="-120"/>
              </a:rPr>
              <a:t>Video</a:t>
            </a:r>
            <a:endParaRPr lang="en-US" sz="1000" dirty="0"/>
          </a:p>
        </p:txBody>
      </p:sp>
      <p:sp>
        <p:nvSpPr>
          <p:cNvPr id="8" name="Shape 6"/>
          <p:cNvSpPr/>
          <p:nvPr/>
        </p:nvSpPr>
        <p:spPr>
          <a:xfrm>
            <a:off x="1691640" y="987552"/>
            <a:ext cx="1508760" cy="1188720"/>
          </a:xfrm>
          <a:prstGeom prst="roundRect">
            <a:avLst>
              <a:gd name="adj" fmla="val 5385"/>
            </a:avLst>
          </a:prstGeom>
          <a:solidFill>
            <a:srgbClr val="111D2E"/>
          </a:solidFill>
          <a:ln/>
        </p:spPr>
      </p:sp>
      <p:sp>
        <p:nvSpPr>
          <p:cNvPr id="9" name="Text 7"/>
          <p:cNvSpPr/>
          <p:nvPr/>
        </p:nvSpPr>
        <p:spPr>
          <a:xfrm>
            <a:off x="1691640" y="1024128"/>
            <a:ext cx="1508760" cy="1115568"/>
          </a:xfrm>
          <a:prstGeom prst="rect">
            <a:avLst/>
          </a:prstGeom>
          <a:noFill/>
          <a:ln/>
        </p:spPr>
        <p:txBody>
          <a:bodyPr wrap="square" lIns="0" tIns="0" rIns="0" bIns="0" rtlCol="0" anchor="ctr"/>
          <a:lstStyle/>
          <a:p>
            <a:pPr algn="ctr" indent="0" marL="0">
              <a:buNone/>
            </a:pPr>
            <a:r>
              <a:rPr lang="en-US" sz="1000" b="1" dirty="0">
                <a:solidFill>
                  <a:srgbClr val="0EA5E9"/>
                </a:solidFill>
                <a:latin typeface="Calibri" pitchFamily="34" charset="0"/>
                <a:ea typeface="Calibri" pitchFamily="34" charset="-122"/>
                <a:cs typeface="Calibri" pitchFamily="34" charset="-120"/>
              </a:rPr>
              <a:t>ResNet-50</a:t>
            </a:r>
            <a:endParaRPr lang="en-US" sz="1000" dirty="0"/>
          </a:p>
          <a:p>
            <a:pPr algn="ctr" indent="0" marL="0">
              <a:buNone/>
            </a:pPr>
            <a:r>
              <a:rPr lang="en-US" sz="1000" b="1" dirty="0">
                <a:solidFill>
                  <a:srgbClr val="0EA5E9"/>
                </a:solidFill>
                <a:latin typeface="Calibri" pitchFamily="34" charset="0"/>
                <a:ea typeface="Calibri" pitchFamily="34" charset="-122"/>
                <a:cs typeface="Calibri" pitchFamily="34" charset="-120"/>
              </a:rPr>
              <a:t>Spatial Branch</a:t>
            </a:r>
            <a:endParaRPr lang="en-US" sz="1000" dirty="0"/>
          </a:p>
          <a:p>
            <a:pPr algn="ctr" indent="0" marL="0">
              <a:buNone/>
            </a:pPr>
            <a:r>
              <a:rPr lang="en-US" sz="1000" b="1" dirty="0">
                <a:solidFill>
                  <a:srgbClr val="0EA5E9"/>
                </a:solidFill>
                <a:latin typeface="Calibri" pitchFamily="34" charset="0"/>
                <a:ea typeface="Calibri" pitchFamily="34" charset="-122"/>
                <a:cs typeface="Calibri" pitchFamily="34" charset="-120"/>
              </a:rPr>
              <a:t>2048-D</a:t>
            </a:r>
            <a:endParaRPr lang="en-US" sz="1000" dirty="0"/>
          </a:p>
        </p:txBody>
      </p:sp>
      <p:sp>
        <p:nvSpPr>
          <p:cNvPr id="10" name="Shape 8"/>
          <p:cNvSpPr/>
          <p:nvPr/>
        </p:nvSpPr>
        <p:spPr>
          <a:xfrm>
            <a:off x="1691640" y="2395728"/>
            <a:ext cx="1508760" cy="1188720"/>
          </a:xfrm>
          <a:prstGeom prst="roundRect">
            <a:avLst>
              <a:gd name="adj" fmla="val 5385"/>
            </a:avLst>
          </a:prstGeom>
          <a:solidFill>
            <a:srgbClr val="111D2E"/>
          </a:solidFill>
          <a:ln/>
        </p:spPr>
      </p:sp>
      <p:sp>
        <p:nvSpPr>
          <p:cNvPr id="11" name="Text 9"/>
          <p:cNvSpPr/>
          <p:nvPr/>
        </p:nvSpPr>
        <p:spPr>
          <a:xfrm>
            <a:off x="1691640" y="2432304"/>
            <a:ext cx="1508760" cy="1115568"/>
          </a:xfrm>
          <a:prstGeom prst="rect">
            <a:avLst/>
          </a:prstGeom>
          <a:noFill/>
          <a:ln/>
        </p:spPr>
        <p:txBody>
          <a:bodyPr wrap="square" lIns="0" tIns="0" rIns="0" bIns="0" rtlCol="0" anchor="ctr"/>
          <a:lstStyle/>
          <a:p>
            <a:pPr algn="ctr" indent="0" marL="0">
              <a:buNone/>
            </a:pPr>
            <a:r>
              <a:rPr lang="en-US" sz="1000" b="1" dirty="0">
                <a:solidFill>
                  <a:srgbClr val="10B981"/>
                </a:solidFill>
                <a:latin typeface="Calibri" pitchFamily="34" charset="0"/>
                <a:ea typeface="Calibri" pitchFamily="34" charset="-122"/>
                <a:cs typeface="Calibri" pitchFamily="34" charset="-120"/>
              </a:rPr>
              <a:t>R(2+1)D</a:t>
            </a:r>
            <a:endParaRPr lang="en-US" sz="1000" dirty="0"/>
          </a:p>
          <a:p>
            <a:pPr algn="ctr" indent="0" marL="0">
              <a:buNone/>
            </a:pPr>
            <a:r>
              <a:rPr lang="en-US" sz="1000" b="1" dirty="0">
                <a:solidFill>
                  <a:srgbClr val="10B981"/>
                </a:solidFill>
                <a:latin typeface="Calibri" pitchFamily="34" charset="0"/>
                <a:ea typeface="Calibri" pitchFamily="34" charset="-122"/>
                <a:cs typeface="Calibri" pitchFamily="34" charset="-120"/>
              </a:rPr>
              <a:t>Temporal Branch</a:t>
            </a:r>
            <a:endParaRPr lang="en-US" sz="1000" dirty="0"/>
          </a:p>
          <a:p>
            <a:pPr algn="ctr" indent="0" marL="0">
              <a:buNone/>
            </a:pPr>
            <a:r>
              <a:rPr lang="en-US" sz="1000" b="1" dirty="0">
                <a:solidFill>
                  <a:srgbClr val="10B981"/>
                </a:solidFill>
                <a:latin typeface="Calibri" pitchFamily="34" charset="0"/>
                <a:ea typeface="Calibri" pitchFamily="34" charset="-122"/>
                <a:cs typeface="Calibri" pitchFamily="34" charset="-120"/>
              </a:rPr>
              <a:t>512-D</a:t>
            </a:r>
            <a:endParaRPr lang="en-US" sz="1000" dirty="0"/>
          </a:p>
        </p:txBody>
      </p:sp>
      <p:sp>
        <p:nvSpPr>
          <p:cNvPr id="12" name="Shape 10"/>
          <p:cNvSpPr/>
          <p:nvPr/>
        </p:nvSpPr>
        <p:spPr>
          <a:xfrm>
            <a:off x="1371600" y="1581912"/>
            <a:ext cx="301752" cy="0"/>
          </a:xfrm>
          <a:prstGeom prst="line">
            <a:avLst/>
          </a:prstGeom>
          <a:noFill/>
          <a:ln w="19050">
            <a:solidFill>
              <a:srgbClr val="00D4FF"/>
            </a:solidFill>
            <a:prstDash val="solid"/>
          </a:ln>
        </p:spPr>
      </p:sp>
      <p:sp>
        <p:nvSpPr>
          <p:cNvPr id="13" name="Shape 11"/>
          <p:cNvSpPr/>
          <p:nvPr/>
        </p:nvSpPr>
        <p:spPr>
          <a:xfrm>
            <a:off x="1371600" y="2990088"/>
            <a:ext cx="301752" cy="0"/>
          </a:xfrm>
          <a:prstGeom prst="line">
            <a:avLst/>
          </a:prstGeom>
          <a:noFill/>
          <a:ln w="19050">
            <a:solidFill>
              <a:srgbClr val="00D4FF"/>
            </a:solidFill>
            <a:prstDash val="solid"/>
          </a:ln>
        </p:spPr>
      </p:sp>
      <p:sp>
        <p:nvSpPr>
          <p:cNvPr id="14" name="Shape 12"/>
          <p:cNvSpPr/>
          <p:nvPr/>
        </p:nvSpPr>
        <p:spPr>
          <a:xfrm>
            <a:off x="3429000" y="1664208"/>
            <a:ext cx="1417320" cy="1207008"/>
          </a:xfrm>
          <a:prstGeom prst="roundRect">
            <a:avLst>
              <a:gd name="adj" fmla="val 5303"/>
            </a:avLst>
          </a:prstGeom>
          <a:solidFill>
            <a:srgbClr val="111D2E"/>
          </a:solidFill>
          <a:ln/>
        </p:spPr>
      </p:sp>
      <p:sp>
        <p:nvSpPr>
          <p:cNvPr id="15" name="Text 13"/>
          <p:cNvSpPr/>
          <p:nvPr/>
        </p:nvSpPr>
        <p:spPr>
          <a:xfrm>
            <a:off x="3429000" y="1700784"/>
            <a:ext cx="1417320" cy="1133856"/>
          </a:xfrm>
          <a:prstGeom prst="rect">
            <a:avLst/>
          </a:prstGeom>
          <a:noFill/>
          <a:ln/>
        </p:spPr>
        <p:txBody>
          <a:bodyPr wrap="square" lIns="0" tIns="0" rIns="0" bIns="0" rtlCol="0" anchor="ctr"/>
          <a:lstStyle/>
          <a:p>
            <a:pPr algn="ctr" indent="0" marL="0">
              <a:buNone/>
            </a:pPr>
            <a:r>
              <a:rPr lang="en-US" sz="950" b="1" dirty="0">
                <a:solidFill>
                  <a:srgbClr val="F59E0B"/>
                </a:solidFill>
                <a:latin typeface="Calibri" pitchFamily="34" charset="0"/>
                <a:ea typeface="Calibri" pitchFamily="34" charset="-122"/>
                <a:cs typeface="Calibri" pitchFamily="34" charset="-120"/>
              </a:rPr>
              <a:t>Tensor Fusion</a:t>
            </a:r>
            <a:endParaRPr lang="en-US" sz="950" dirty="0"/>
          </a:p>
          <a:p>
            <a:pPr algn="ctr" indent="0" marL="0">
              <a:buNone/>
            </a:pPr>
            <a:r>
              <a:rPr lang="en-US" sz="950" b="1" dirty="0">
                <a:solidFill>
                  <a:srgbClr val="F59E0B"/>
                </a:solidFill>
                <a:latin typeface="Calibri" pitchFamily="34" charset="0"/>
                <a:ea typeface="Calibri" pitchFamily="34" charset="-122"/>
                <a:cs typeface="Calibri" pitchFamily="34" charset="-120"/>
              </a:rPr>
              <a:t>[fsp ; ftm]</a:t>
            </a:r>
            <a:endParaRPr lang="en-US" sz="950" dirty="0"/>
          </a:p>
          <a:p>
            <a:pPr algn="ctr" indent="0" marL="0">
              <a:buNone/>
            </a:pPr>
            <a:r>
              <a:rPr lang="en-US" sz="950" b="1" dirty="0">
                <a:solidFill>
                  <a:srgbClr val="F59E0B"/>
                </a:solidFill>
                <a:latin typeface="Calibri" pitchFamily="34" charset="0"/>
                <a:ea typeface="Calibri" pitchFamily="34" charset="-122"/>
                <a:cs typeface="Calibri" pitchFamily="34" charset="-120"/>
              </a:rPr>
              <a:t>2560-D</a:t>
            </a:r>
            <a:endParaRPr lang="en-US" sz="950" dirty="0"/>
          </a:p>
          <a:p>
            <a:pPr algn="ctr" indent="0" marL="0">
              <a:buNone/>
            </a:pPr>
            <a:r>
              <a:rPr lang="en-US" sz="950" b="1" dirty="0">
                <a:solidFill>
                  <a:srgbClr val="F59E0B"/>
                </a:solidFill>
                <a:latin typeface="Calibri" pitchFamily="34" charset="0"/>
                <a:ea typeface="Calibri" pitchFamily="34" charset="-122"/>
                <a:cs typeface="Calibri" pitchFamily="34" charset="-120"/>
              </a:rPr>
              <a:t>→Wp→ 512-D</a:t>
            </a:r>
            <a:endParaRPr lang="en-US" sz="950" dirty="0"/>
          </a:p>
        </p:txBody>
      </p:sp>
      <p:sp>
        <p:nvSpPr>
          <p:cNvPr id="16" name="Shape 14"/>
          <p:cNvSpPr/>
          <p:nvPr/>
        </p:nvSpPr>
        <p:spPr>
          <a:xfrm>
            <a:off x="3218688" y="1581912"/>
            <a:ext cx="192024" cy="0"/>
          </a:xfrm>
          <a:prstGeom prst="line">
            <a:avLst/>
          </a:prstGeom>
          <a:noFill/>
          <a:ln w="19050">
            <a:solidFill>
              <a:srgbClr val="0EA5E9"/>
            </a:solidFill>
            <a:prstDash val="solid"/>
          </a:ln>
        </p:spPr>
      </p:sp>
      <p:sp>
        <p:nvSpPr>
          <p:cNvPr id="17" name="Shape 15"/>
          <p:cNvSpPr/>
          <p:nvPr/>
        </p:nvSpPr>
        <p:spPr>
          <a:xfrm>
            <a:off x="3218688" y="2990088"/>
            <a:ext cx="192024" cy="0"/>
          </a:xfrm>
          <a:prstGeom prst="line">
            <a:avLst/>
          </a:prstGeom>
          <a:noFill/>
          <a:ln w="19050">
            <a:solidFill>
              <a:srgbClr val="10B981"/>
            </a:solidFill>
            <a:prstDash val="solid"/>
          </a:ln>
        </p:spPr>
      </p:sp>
      <p:sp>
        <p:nvSpPr>
          <p:cNvPr id="18" name="Shape 16"/>
          <p:cNvSpPr/>
          <p:nvPr/>
        </p:nvSpPr>
        <p:spPr>
          <a:xfrm>
            <a:off x="5074920" y="1664208"/>
            <a:ext cx="1508760" cy="1207008"/>
          </a:xfrm>
          <a:prstGeom prst="roundRect">
            <a:avLst>
              <a:gd name="adj" fmla="val 5303"/>
            </a:avLst>
          </a:prstGeom>
          <a:solidFill>
            <a:srgbClr val="111D2E"/>
          </a:solidFill>
          <a:ln/>
        </p:spPr>
      </p:sp>
      <p:sp>
        <p:nvSpPr>
          <p:cNvPr id="19" name="Text 17"/>
          <p:cNvSpPr/>
          <p:nvPr/>
        </p:nvSpPr>
        <p:spPr>
          <a:xfrm>
            <a:off x="5074920" y="1700784"/>
            <a:ext cx="1508760" cy="1133856"/>
          </a:xfrm>
          <a:prstGeom prst="rect">
            <a:avLst/>
          </a:prstGeom>
          <a:noFill/>
          <a:ln/>
        </p:spPr>
        <p:txBody>
          <a:bodyPr wrap="square" lIns="0" tIns="0" rIns="0" bIns="0" rtlCol="0" anchor="ctr"/>
          <a:lstStyle/>
          <a:p>
            <a:pPr algn="ctr" indent="0" marL="0">
              <a:buNone/>
            </a:pPr>
            <a:r>
              <a:rPr lang="en-US" sz="950" b="1" dirty="0">
                <a:solidFill>
                  <a:srgbClr val="00D4FF"/>
                </a:solidFill>
                <a:latin typeface="Calibri" pitchFamily="34" charset="0"/>
                <a:ea typeface="Calibri" pitchFamily="34" charset="-122"/>
                <a:cs typeface="Calibri" pitchFamily="34" charset="-120"/>
              </a:rPr>
              <a:t>ViT Encoder</a:t>
            </a:r>
            <a:endParaRPr lang="en-US" sz="950" dirty="0"/>
          </a:p>
          <a:p>
            <a:pPr algn="ctr" indent="0" marL="0">
              <a:buNone/>
            </a:pPr>
            <a:r>
              <a:rPr lang="en-US" sz="950" b="1" dirty="0">
                <a:solidFill>
                  <a:srgbClr val="00D4FF"/>
                </a:solidFill>
                <a:latin typeface="Calibri" pitchFamily="34" charset="0"/>
                <a:ea typeface="Calibri" pitchFamily="34" charset="-122"/>
                <a:cs typeface="Calibri" pitchFamily="34" charset="-120"/>
              </a:rPr>
              <a:t>4 Transformer</a:t>
            </a:r>
            <a:endParaRPr lang="en-US" sz="950" dirty="0"/>
          </a:p>
          <a:p>
            <a:pPr algn="ctr" indent="0" marL="0">
              <a:buNone/>
            </a:pPr>
            <a:r>
              <a:rPr lang="en-US" sz="950" b="1" dirty="0">
                <a:solidFill>
                  <a:srgbClr val="00D4FF"/>
                </a:solidFill>
                <a:latin typeface="Calibri" pitchFamily="34" charset="0"/>
                <a:ea typeface="Calibri" pitchFamily="34" charset="-122"/>
                <a:cs typeface="Calibri" pitchFamily="34" charset="-120"/>
              </a:rPr>
              <a:t>Blocks</a:t>
            </a:r>
            <a:endParaRPr lang="en-US" sz="950" dirty="0"/>
          </a:p>
          <a:p>
            <a:pPr algn="ctr" indent="0" marL="0">
              <a:buNone/>
            </a:pPr>
            <a:r>
              <a:rPr lang="en-US" sz="950" b="1" dirty="0">
                <a:solidFill>
                  <a:srgbClr val="00D4FF"/>
                </a:solidFill>
                <a:latin typeface="Calibri" pitchFamily="34" charset="0"/>
                <a:ea typeface="Calibri" pitchFamily="34" charset="-122"/>
                <a:cs typeface="Calibri" pitchFamily="34" charset="-120"/>
              </a:rPr>
              <a:t>8×512 Matrix</a:t>
            </a:r>
            <a:endParaRPr lang="en-US" sz="950" dirty="0"/>
          </a:p>
        </p:txBody>
      </p:sp>
      <p:sp>
        <p:nvSpPr>
          <p:cNvPr id="20" name="Shape 18"/>
          <p:cNvSpPr/>
          <p:nvPr/>
        </p:nvSpPr>
        <p:spPr>
          <a:xfrm>
            <a:off x="4864608" y="2267712"/>
            <a:ext cx="192024" cy="0"/>
          </a:xfrm>
          <a:prstGeom prst="line">
            <a:avLst/>
          </a:prstGeom>
          <a:noFill/>
          <a:ln w="19050">
            <a:solidFill>
              <a:srgbClr val="F59E0B"/>
            </a:solidFill>
            <a:prstDash val="solid"/>
          </a:ln>
        </p:spPr>
      </p:sp>
      <p:sp>
        <p:nvSpPr>
          <p:cNvPr id="21" name="Shape 19"/>
          <p:cNvSpPr/>
          <p:nvPr/>
        </p:nvSpPr>
        <p:spPr>
          <a:xfrm>
            <a:off x="6812280" y="1664208"/>
            <a:ext cx="1417320" cy="1207008"/>
          </a:xfrm>
          <a:prstGeom prst="roundRect">
            <a:avLst>
              <a:gd name="adj" fmla="val 5303"/>
            </a:avLst>
          </a:prstGeom>
          <a:solidFill>
            <a:srgbClr val="111D2E"/>
          </a:solidFill>
          <a:ln/>
        </p:spPr>
      </p:sp>
      <p:sp>
        <p:nvSpPr>
          <p:cNvPr id="22" name="Text 20"/>
          <p:cNvSpPr/>
          <p:nvPr/>
        </p:nvSpPr>
        <p:spPr>
          <a:xfrm>
            <a:off x="6812280" y="1700784"/>
            <a:ext cx="1417320" cy="1133856"/>
          </a:xfrm>
          <a:prstGeom prst="rect">
            <a:avLst/>
          </a:prstGeom>
          <a:noFill/>
          <a:ln/>
        </p:spPr>
        <p:txBody>
          <a:bodyPr wrap="square" lIns="0" tIns="0" rIns="0" bIns="0" rtlCol="0" anchor="ctr"/>
          <a:lstStyle/>
          <a:p>
            <a:pPr algn="ctr" indent="0" marL="0">
              <a:buNone/>
            </a:pPr>
            <a:r>
              <a:rPr lang="en-US" sz="950" b="1" dirty="0">
                <a:solidFill>
                  <a:srgbClr val="10B981"/>
                </a:solidFill>
                <a:latin typeface="Calibri" pitchFamily="34" charset="0"/>
                <a:ea typeface="Calibri" pitchFamily="34" charset="-122"/>
                <a:cs typeface="Calibri" pitchFamily="34" charset="-120"/>
              </a:rPr>
              <a:t>Linear Head</a:t>
            </a:r>
            <a:endParaRPr lang="en-US" sz="950" dirty="0"/>
          </a:p>
          <a:p>
            <a:pPr algn="ctr" indent="0" marL="0">
              <a:buNone/>
            </a:pPr>
            <a:r>
              <a:rPr lang="en-US" sz="950" b="1" dirty="0">
                <a:solidFill>
                  <a:srgbClr val="10B981"/>
                </a:solidFill>
                <a:latin typeface="Calibri" pitchFamily="34" charset="0"/>
                <a:ea typeface="Calibri" pitchFamily="34" charset="-122"/>
                <a:cs typeface="Calibri" pitchFamily="34" charset="-120"/>
              </a:rPr>
              <a:t>Softmax</a:t>
            </a:r>
            <a:endParaRPr lang="en-US" sz="950" dirty="0"/>
          </a:p>
          <a:p>
            <a:pPr algn="ctr" indent="0" marL="0">
              <a:buNone/>
            </a:pPr>
            <a:r>
              <a:rPr lang="en-US" sz="950" b="1" dirty="0">
                <a:solidFill>
                  <a:srgbClr val="10B981"/>
                </a:solidFill>
                <a:latin typeface="Calibri" pitchFamily="34" charset="0"/>
                <a:ea typeface="Calibri" pitchFamily="34" charset="-122"/>
                <a:cs typeface="Calibri" pitchFamily="34" charset="-120"/>
              </a:rPr>
              <a:t>9 Classes</a:t>
            </a:r>
            <a:endParaRPr lang="en-US" sz="950" dirty="0"/>
          </a:p>
        </p:txBody>
      </p:sp>
      <p:sp>
        <p:nvSpPr>
          <p:cNvPr id="23" name="Shape 21"/>
          <p:cNvSpPr/>
          <p:nvPr/>
        </p:nvSpPr>
        <p:spPr>
          <a:xfrm>
            <a:off x="6601968" y="2267712"/>
            <a:ext cx="192024" cy="0"/>
          </a:xfrm>
          <a:prstGeom prst="line">
            <a:avLst/>
          </a:prstGeom>
          <a:noFill/>
          <a:ln w="19050">
            <a:solidFill>
              <a:srgbClr val="00D4FF"/>
            </a:solidFill>
            <a:prstDash val="solid"/>
          </a:ln>
        </p:spPr>
      </p:sp>
      <p:sp>
        <p:nvSpPr>
          <p:cNvPr id="24" name="Shape 22"/>
          <p:cNvSpPr/>
          <p:nvPr/>
        </p:nvSpPr>
        <p:spPr>
          <a:xfrm>
            <a:off x="3017520" y="3657600"/>
            <a:ext cx="3108960" cy="685800"/>
          </a:xfrm>
          <a:prstGeom prst="roundRect">
            <a:avLst>
              <a:gd name="adj" fmla="val 9333"/>
            </a:avLst>
          </a:prstGeom>
          <a:solidFill>
            <a:srgbClr val="1E3A5F"/>
          </a:solidFill>
          <a:ln/>
        </p:spPr>
      </p:sp>
      <p:sp>
        <p:nvSpPr>
          <p:cNvPr id="25" name="Text 23"/>
          <p:cNvSpPr/>
          <p:nvPr/>
        </p:nvSpPr>
        <p:spPr>
          <a:xfrm>
            <a:off x="3017520" y="3730752"/>
            <a:ext cx="3108960" cy="53035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Decision Engine: Confidence ≥60% + 5-sec Temporal Stability → ALERT</a:t>
            </a:r>
            <a:endParaRPr lang="en-US" sz="1000" dirty="0"/>
          </a:p>
        </p:txBody>
      </p:sp>
      <p:sp>
        <p:nvSpPr>
          <p:cNvPr id="26" name="Text 24"/>
          <p:cNvSpPr/>
          <p:nvPr/>
        </p:nvSpPr>
        <p:spPr>
          <a:xfrm>
            <a:off x="274320" y="4407408"/>
            <a:ext cx="8595360" cy="594360"/>
          </a:xfrm>
          <a:prstGeom prst="rect">
            <a:avLst/>
          </a:prstGeom>
          <a:noFill/>
          <a:ln/>
        </p:spPr>
        <p:txBody>
          <a:bodyPr wrap="square" lIns="0" tIns="0" rIns="0" bIns="0" rtlCol="0" anchor="ctr"/>
          <a:lstStyle/>
          <a:p>
            <a:pPr indent="0" marL="0">
              <a:buNone/>
            </a:pPr>
            <a:r>
              <a:rPr lang="en-US" sz="1100" dirty="0">
                <a:solidFill>
                  <a:srgbClr val="0EA5E9"/>
                </a:solidFill>
                <a:latin typeface="Calibri" pitchFamily="34" charset="0"/>
                <a:ea typeface="Calibri" pitchFamily="34" charset="-122"/>
                <a:cs typeface="Calibri" pitchFamily="34" charset="-120"/>
              </a:rPr>
              <a:t>fsp = ResNet50(xsp) ∈ ℝ²⁰⁴⁸</a:t>
            </a:r>
            <a:endParaRPr lang="en-US" sz="1100" dirty="0"/>
          </a:p>
          <a:p>
            <a:pPr indent="0" marL="0">
              <a:buNone/>
            </a:pPr>
            <a:r>
              <a:rPr lang="en-US" sz="1100" dirty="0">
                <a:solidFill>
                  <a:srgbClr val="10B981"/>
                </a:solidFill>
                <a:latin typeface="Calibri" pitchFamily="34" charset="0"/>
                <a:ea typeface="Calibri" pitchFamily="34" charset="-122"/>
                <a:cs typeface="Calibri" pitchFamily="34" charset="-120"/>
              </a:rPr>
              <a:t>ftm = R(2+1)D(Xtm) ∈ ℝ⁵¹²</a:t>
            </a:r>
            <a:endParaRPr lang="en-US" sz="1100" dirty="0"/>
          </a:p>
          <a:p>
            <a:pPr indent="0" marL="0">
              <a:buNone/>
            </a:pPr>
            <a:r>
              <a:rPr lang="en-US" sz="1100" dirty="0">
                <a:solidFill>
                  <a:srgbClr val="F59E0B"/>
                </a:solidFill>
                <a:latin typeface="Calibri" pitchFamily="34" charset="0"/>
                <a:ea typeface="Calibri" pitchFamily="34" charset="-122"/>
                <a:cs typeface="Calibri" pitchFamily="34" charset="-120"/>
              </a:rPr>
              <a:t>e = ReLU(BN(Wp·fconcat + bp)) ∈ ℝ⁵¹²</a:t>
            </a:r>
            <a:endParaRPr lang="en-US" sz="1100" dirty="0"/>
          </a:p>
          <a:p>
            <a:pPr indent="0" marL="0">
              <a:buNone/>
            </a:pPr>
            <a:r>
              <a:rPr lang="en-US" sz="1100" dirty="0">
                <a:solidFill>
                  <a:srgbClr val="10B981"/>
                </a:solidFill>
                <a:latin typeface="Calibri" pitchFamily="34" charset="0"/>
                <a:ea typeface="Calibri" pitchFamily="34" charset="-122"/>
                <a:cs typeface="Calibri" pitchFamily="34" charset="-120"/>
              </a:rPr>
              <a:t>p̂ = softmax(Wcz₄⁰ + bc) ∈ ℝ⁹</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5 · MAIN MODEL ARCHITECTURE</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CNN Backbone — ResNet-50 Spatial Branch</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1005840"/>
            <a:ext cx="8229600" cy="713232"/>
          </a:xfrm>
          <a:prstGeom prst="roundRect">
            <a:avLst>
              <a:gd name="adj" fmla="val 7692"/>
            </a:avLst>
          </a:prstGeom>
          <a:solidFill>
            <a:srgbClr val="111D2E"/>
          </a:solidFill>
          <a:ln/>
        </p:spPr>
      </p:sp>
      <p:sp>
        <p:nvSpPr>
          <p:cNvPr id="7" name="Text 5"/>
          <p:cNvSpPr/>
          <p:nvPr/>
        </p:nvSpPr>
        <p:spPr>
          <a:xfrm>
            <a:off x="566928" y="1078992"/>
            <a:ext cx="1645920" cy="256032"/>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Input Format:</a:t>
            </a:r>
            <a:endParaRPr lang="en-US" sz="1200" dirty="0"/>
          </a:p>
        </p:txBody>
      </p:sp>
      <p:sp>
        <p:nvSpPr>
          <p:cNvPr id="8" name="Text 6"/>
          <p:cNvSpPr/>
          <p:nvPr/>
        </p:nvSpPr>
        <p:spPr>
          <a:xfrm>
            <a:off x="2331720" y="1078992"/>
            <a:ext cx="6217920" cy="502920"/>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Single representative frame xsp ∈ ℝ³ˣ²²⁴ˣ²²⁴ normalized with ImageNet (μ, σ)</a:t>
            </a:r>
            <a:endParaRPr lang="en-US" sz="1150" dirty="0"/>
          </a:p>
        </p:txBody>
      </p:sp>
      <p:sp>
        <p:nvSpPr>
          <p:cNvPr id="9" name="Shape 7"/>
          <p:cNvSpPr/>
          <p:nvPr/>
        </p:nvSpPr>
        <p:spPr>
          <a:xfrm>
            <a:off x="457200" y="1801368"/>
            <a:ext cx="8229600" cy="713232"/>
          </a:xfrm>
          <a:prstGeom prst="roundRect">
            <a:avLst>
              <a:gd name="adj" fmla="val 7692"/>
            </a:avLst>
          </a:prstGeom>
          <a:solidFill>
            <a:srgbClr val="111D2E"/>
          </a:solidFill>
          <a:ln/>
        </p:spPr>
      </p:sp>
      <p:sp>
        <p:nvSpPr>
          <p:cNvPr id="10" name="Text 8"/>
          <p:cNvSpPr/>
          <p:nvPr/>
        </p:nvSpPr>
        <p:spPr>
          <a:xfrm>
            <a:off x="566928" y="1874520"/>
            <a:ext cx="1645920" cy="256032"/>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Architecture:</a:t>
            </a:r>
            <a:endParaRPr lang="en-US" sz="1200" dirty="0"/>
          </a:p>
        </p:txBody>
      </p:sp>
      <p:sp>
        <p:nvSpPr>
          <p:cNvPr id="11" name="Text 9"/>
          <p:cNvSpPr/>
          <p:nvPr/>
        </p:nvSpPr>
        <p:spPr>
          <a:xfrm>
            <a:off x="2331720" y="1874520"/>
            <a:ext cx="6217920" cy="502920"/>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Pre-trained ResNet-50 with 4 residual block groups. Global Average Pooling (GAP) applied after the final block.</a:t>
            </a:r>
            <a:endParaRPr lang="en-US" sz="1150" dirty="0"/>
          </a:p>
        </p:txBody>
      </p:sp>
      <p:sp>
        <p:nvSpPr>
          <p:cNvPr id="12" name="Shape 10"/>
          <p:cNvSpPr/>
          <p:nvPr/>
        </p:nvSpPr>
        <p:spPr>
          <a:xfrm>
            <a:off x="457200" y="2596896"/>
            <a:ext cx="8229600" cy="713232"/>
          </a:xfrm>
          <a:prstGeom prst="roundRect">
            <a:avLst>
              <a:gd name="adj" fmla="val 7692"/>
            </a:avLst>
          </a:prstGeom>
          <a:solidFill>
            <a:srgbClr val="111D2E"/>
          </a:solidFill>
          <a:ln/>
        </p:spPr>
      </p:sp>
      <p:sp>
        <p:nvSpPr>
          <p:cNvPr id="13" name="Text 11"/>
          <p:cNvSpPr/>
          <p:nvPr/>
        </p:nvSpPr>
        <p:spPr>
          <a:xfrm>
            <a:off x="566928" y="2670048"/>
            <a:ext cx="1645920" cy="256032"/>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Output:</a:t>
            </a:r>
            <a:endParaRPr lang="en-US" sz="1200" dirty="0"/>
          </a:p>
        </p:txBody>
      </p:sp>
      <p:sp>
        <p:nvSpPr>
          <p:cNvPr id="14" name="Text 12"/>
          <p:cNvSpPr/>
          <p:nvPr/>
        </p:nvSpPr>
        <p:spPr>
          <a:xfrm>
            <a:off x="2331720" y="2670048"/>
            <a:ext cx="6217920" cy="502920"/>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fsp = ResNet50(xsp) ∈ ℝ²⁰⁴⁸  — a 2048-dimensional semantic appearance descriptor.</a:t>
            </a:r>
            <a:endParaRPr lang="en-US" sz="1150" dirty="0"/>
          </a:p>
        </p:txBody>
      </p:sp>
      <p:sp>
        <p:nvSpPr>
          <p:cNvPr id="15" name="Shape 13"/>
          <p:cNvSpPr/>
          <p:nvPr/>
        </p:nvSpPr>
        <p:spPr>
          <a:xfrm>
            <a:off x="457200" y="3392424"/>
            <a:ext cx="8229600" cy="713232"/>
          </a:xfrm>
          <a:prstGeom prst="roundRect">
            <a:avLst>
              <a:gd name="adj" fmla="val 7692"/>
            </a:avLst>
          </a:prstGeom>
          <a:solidFill>
            <a:srgbClr val="111D2E"/>
          </a:solidFill>
          <a:ln/>
        </p:spPr>
      </p:sp>
      <p:sp>
        <p:nvSpPr>
          <p:cNvPr id="16" name="Text 14"/>
          <p:cNvSpPr/>
          <p:nvPr/>
        </p:nvSpPr>
        <p:spPr>
          <a:xfrm>
            <a:off x="566928" y="3465576"/>
            <a:ext cx="1645920" cy="256032"/>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Pre-training:</a:t>
            </a:r>
            <a:endParaRPr lang="en-US" sz="1200" dirty="0"/>
          </a:p>
        </p:txBody>
      </p:sp>
      <p:sp>
        <p:nvSpPr>
          <p:cNvPr id="17" name="Text 15"/>
          <p:cNvSpPr/>
          <p:nvPr/>
        </p:nvSpPr>
        <p:spPr>
          <a:xfrm>
            <a:off x="2331720" y="3465576"/>
            <a:ext cx="6217920" cy="502920"/>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ImageNet-1k weights transferred. Upper layers fine-tuned on UCF-Crime to learn crime-specific visual features.</a:t>
            </a:r>
            <a:endParaRPr lang="en-US" sz="1150" dirty="0"/>
          </a:p>
        </p:txBody>
      </p:sp>
      <p:sp>
        <p:nvSpPr>
          <p:cNvPr id="18" name="Shape 16"/>
          <p:cNvSpPr/>
          <p:nvPr/>
        </p:nvSpPr>
        <p:spPr>
          <a:xfrm>
            <a:off x="457200" y="4187952"/>
            <a:ext cx="8229600" cy="713232"/>
          </a:xfrm>
          <a:prstGeom prst="roundRect">
            <a:avLst>
              <a:gd name="adj" fmla="val 7692"/>
            </a:avLst>
          </a:prstGeom>
          <a:solidFill>
            <a:srgbClr val="111D2E"/>
          </a:solidFill>
          <a:ln/>
        </p:spPr>
      </p:sp>
      <p:sp>
        <p:nvSpPr>
          <p:cNvPr id="19" name="Text 17"/>
          <p:cNvSpPr/>
          <p:nvPr/>
        </p:nvSpPr>
        <p:spPr>
          <a:xfrm>
            <a:off x="566928" y="4261104"/>
            <a:ext cx="1645920" cy="256032"/>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What it captures:</a:t>
            </a:r>
            <a:endParaRPr lang="en-US" sz="1200" dirty="0"/>
          </a:p>
        </p:txBody>
      </p:sp>
      <p:sp>
        <p:nvSpPr>
          <p:cNvPr id="20" name="Text 18"/>
          <p:cNvSpPr/>
          <p:nvPr/>
        </p:nvSpPr>
        <p:spPr>
          <a:xfrm>
            <a:off x="2331720" y="4261104"/>
            <a:ext cx="6217920" cy="502920"/>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Static visual semantics: object identities, textures, spatial scene structure, person-object relationships at a given moment in time.</a:t>
            </a:r>
            <a:endParaRPr lang="en-US" sz="1150" dirty="0"/>
          </a:p>
        </p:txBody>
      </p:sp>
      <p:sp>
        <p:nvSpPr>
          <p:cNvPr id="21" name="Text 19"/>
          <p:cNvSpPr/>
          <p:nvPr/>
        </p:nvSpPr>
        <p:spPr>
          <a:xfrm>
            <a:off x="457200" y="4983480"/>
            <a:ext cx="8229600" cy="228600"/>
          </a:xfrm>
          <a:prstGeom prst="rect">
            <a:avLst/>
          </a:prstGeom>
          <a:noFill/>
          <a:ln/>
        </p:spPr>
        <p:txBody>
          <a:bodyPr wrap="square" lIns="0" tIns="0" rIns="0" bIns="0" rtlCol="0" anchor="ctr"/>
          <a:lstStyle/>
          <a:p>
            <a:pPr indent="0" marL="0">
              <a:buNone/>
            </a:pPr>
            <a:r>
              <a:rPr lang="en-US" sz="1100" i="1" dirty="0">
                <a:solidFill>
                  <a:srgbClr val="F59E0B"/>
                </a:solidFill>
                <a:latin typeface="Calibri" pitchFamily="34" charset="0"/>
                <a:ea typeface="Calibri" pitchFamily="34" charset="-122"/>
                <a:cs typeface="Calibri" pitchFamily="34" charset="-120"/>
              </a:rPr>
              <a:t>ResNet-50 serves as the appearance foundation — it tells the model WHAT is in the scene at a visual-semantic level.</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5 · MAIN MODEL ARCHITECTURE</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Vision Transformer — Temporal Sequence Encoder</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87552"/>
            <a:ext cx="4023360" cy="1170432"/>
          </a:xfrm>
          <a:prstGeom prst="roundRect">
            <a:avLst>
              <a:gd name="adj" fmla="val 5469"/>
            </a:avLst>
          </a:prstGeom>
          <a:solidFill>
            <a:srgbClr val="111D2E"/>
          </a:solidFill>
          <a:ln/>
        </p:spPr>
      </p:sp>
      <p:sp>
        <p:nvSpPr>
          <p:cNvPr id="7" name="Text 5"/>
          <p:cNvSpPr/>
          <p:nvPr/>
        </p:nvSpPr>
        <p:spPr>
          <a:xfrm>
            <a:off x="566928" y="1060704"/>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Input Sequence</a:t>
            </a:r>
            <a:endParaRPr lang="en-US" sz="1200" dirty="0"/>
          </a:p>
        </p:txBody>
      </p:sp>
      <p:sp>
        <p:nvSpPr>
          <p:cNvPr id="8" name="Text 6"/>
          <p:cNvSpPr/>
          <p:nvPr/>
        </p:nvSpPr>
        <p:spPr>
          <a:xfrm>
            <a:off x="566928" y="1371600"/>
            <a:ext cx="3794760" cy="731520"/>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E = [e₁, e₂, ..., e₈] — 8 consecutive 512-D clip embeddings forming an 8×512 matrix.</a:t>
            </a:r>
            <a:endParaRPr lang="en-US" sz="1050" dirty="0"/>
          </a:p>
        </p:txBody>
      </p:sp>
      <p:sp>
        <p:nvSpPr>
          <p:cNvPr id="9" name="Shape 7"/>
          <p:cNvSpPr/>
          <p:nvPr/>
        </p:nvSpPr>
        <p:spPr>
          <a:xfrm>
            <a:off x="4800600" y="987552"/>
            <a:ext cx="4023360" cy="1170432"/>
          </a:xfrm>
          <a:prstGeom prst="roundRect">
            <a:avLst>
              <a:gd name="adj" fmla="val 5469"/>
            </a:avLst>
          </a:prstGeom>
          <a:solidFill>
            <a:srgbClr val="111D2E"/>
          </a:solidFill>
          <a:ln/>
        </p:spPr>
      </p:sp>
      <p:sp>
        <p:nvSpPr>
          <p:cNvPr id="10" name="Text 8"/>
          <p:cNvSpPr/>
          <p:nvPr/>
        </p:nvSpPr>
        <p:spPr>
          <a:xfrm>
            <a:off x="4910328" y="1060704"/>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CLS Token</a:t>
            </a:r>
            <a:endParaRPr lang="en-US" sz="1200" dirty="0"/>
          </a:p>
        </p:txBody>
      </p:sp>
      <p:sp>
        <p:nvSpPr>
          <p:cNvPr id="11" name="Text 9"/>
          <p:cNvSpPr/>
          <p:nvPr/>
        </p:nvSpPr>
        <p:spPr>
          <a:xfrm>
            <a:off x="4910328" y="1371600"/>
            <a:ext cx="3794760" cy="731520"/>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[CLS] token prepended: Z₀ = [eCLS ; E] + Epos — gathers global sequence context across all 8 clips.</a:t>
            </a:r>
            <a:endParaRPr lang="en-US" sz="1050" dirty="0"/>
          </a:p>
        </p:txBody>
      </p:sp>
      <p:sp>
        <p:nvSpPr>
          <p:cNvPr id="12" name="Shape 10"/>
          <p:cNvSpPr/>
          <p:nvPr/>
        </p:nvSpPr>
        <p:spPr>
          <a:xfrm>
            <a:off x="457200" y="2313432"/>
            <a:ext cx="4023360" cy="1170432"/>
          </a:xfrm>
          <a:prstGeom prst="roundRect">
            <a:avLst>
              <a:gd name="adj" fmla="val 5469"/>
            </a:avLst>
          </a:prstGeom>
          <a:solidFill>
            <a:srgbClr val="111D2E"/>
          </a:solidFill>
          <a:ln/>
        </p:spPr>
      </p:sp>
      <p:sp>
        <p:nvSpPr>
          <p:cNvPr id="13" name="Text 11"/>
          <p:cNvSpPr/>
          <p:nvPr/>
        </p:nvSpPr>
        <p:spPr>
          <a:xfrm>
            <a:off x="566928" y="2386584"/>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Positional Encoding</a:t>
            </a:r>
            <a:endParaRPr lang="en-US" sz="1200" dirty="0"/>
          </a:p>
        </p:txBody>
      </p:sp>
      <p:sp>
        <p:nvSpPr>
          <p:cNvPr id="14" name="Text 12"/>
          <p:cNvSpPr/>
          <p:nvPr/>
        </p:nvSpPr>
        <p:spPr>
          <a:xfrm>
            <a:off x="566928" y="2697480"/>
            <a:ext cx="3794760" cy="731520"/>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Learnable positional embedding Epos ∈ ℝ⁽ᴺ⁺¹⁾ˣ⁵¹² preserves chronological clip ordering.</a:t>
            </a:r>
            <a:endParaRPr lang="en-US" sz="1050" dirty="0"/>
          </a:p>
        </p:txBody>
      </p:sp>
      <p:sp>
        <p:nvSpPr>
          <p:cNvPr id="15" name="Shape 13"/>
          <p:cNvSpPr/>
          <p:nvPr/>
        </p:nvSpPr>
        <p:spPr>
          <a:xfrm>
            <a:off x="4800600" y="2313432"/>
            <a:ext cx="4023360" cy="1170432"/>
          </a:xfrm>
          <a:prstGeom prst="roundRect">
            <a:avLst>
              <a:gd name="adj" fmla="val 5469"/>
            </a:avLst>
          </a:prstGeom>
          <a:solidFill>
            <a:srgbClr val="111D2E"/>
          </a:solidFill>
          <a:ln/>
        </p:spPr>
      </p:sp>
      <p:sp>
        <p:nvSpPr>
          <p:cNvPr id="16" name="Text 14"/>
          <p:cNvSpPr/>
          <p:nvPr/>
        </p:nvSpPr>
        <p:spPr>
          <a:xfrm>
            <a:off x="4910328" y="2386584"/>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4 Transformer Blocks</a:t>
            </a:r>
            <a:endParaRPr lang="en-US" sz="1200" dirty="0"/>
          </a:p>
        </p:txBody>
      </p:sp>
      <p:sp>
        <p:nvSpPr>
          <p:cNvPr id="17" name="Text 15"/>
          <p:cNvSpPr/>
          <p:nvPr/>
        </p:nvSpPr>
        <p:spPr>
          <a:xfrm>
            <a:off x="4910328" y="2697480"/>
            <a:ext cx="3794760" cy="731520"/>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Z'ℓ = Zℓ₋₁ + MHSA(LN(Zℓ₋₁))  ;  Zℓ = Z'ℓ + FFN(LN(Z'ℓ))  — pre-layer norm for stability.</a:t>
            </a:r>
            <a:endParaRPr lang="en-US" sz="1050" dirty="0"/>
          </a:p>
        </p:txBody>
      </p:sp>
      <p:sp>
        <p:nvSpPr>
          <p:cNvPr id="18" name="Shape 16"/>
          <p:cNvSpPr/>
          <p:nvPr/>
        </p:nvSpPr>
        <p:spPr>
          <a:xfrm>
            <a:off x="457200" y="3639312"/>
            <a:ext cx="4023360" cy="1170432"/>
          </a:xfrm>
          <a:prstGeom prst="roundRect">
            <a:avLst>
              <a:gd name="adj" fmla="val 5469"/>
            </a:avLst>
          </a:prstGeom>
          <a:solidFill>
            <a:srgbClr val="111D2E"/>
          </a:solidFill>
          <a:ln/>
        </p:spPr>
      </p:sp>
      <p:sp>
        <p:nvSpPr>
          <p:cNvPr id="19" name="Text 17"/>
          <p:cNvSpPr/>
          <p:nvPr/>
        </p:nvSpPr>
        <p:spPr>
          <a:xfrm>
            <a:off x="566928" y="3712464"/>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Attention Formula</a:t>
            </a:r>
            <a:endParaRPr lang="en-US" sz="1200" dirty="0"/>
          </a:p>
        </p:txBody>
      </p:sp>
      <p:sp>
        <p:nvSpPr>
          <p:cNvPr id="20" name="Text 18"/>
          <p:cNvSpPr/>
          <p:nvPr/>
        </p:nvSpPr>
        <p:spPr>
          <a:xfrm>
            <a:off x="566928" y="4023360"/>
            <a:ext cx="3794760" cy="731520"/>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Attention(Q,K,V) = softmax(QKᵀ / √dk)·V — dynamically measures all 8-clip relational dependencies simultaneously.</a:t>
            </a:r>
            <a:endParaRPr lang="en-US" sz="1050" dirty="0"/>
          </a:p>
        </p:txBody>
      </p:sp>
      <p:sp>
        <p:nvSpPr>
          <p:cNvPr id="21" name="Shape 19"/>
          <p:cNvSpPr/>
          <p:nvPr/>
        </p:nvSpPr>
        <p:spPr>
          <a:xfrm>
            <a:off x="4800600" y="3639312"/>
            <a:ext cx="4023360" cy="1170432"/>
          </a:xfrm>
          <a:prstGeom prst="roundRect">
            <a:avLst>
              <a:gd name="adj" fmla="val 5469"/>
            </a:avLst>
          </a:prstGeom>
          <a:solidFill>
            <a:srgbClr val="111D2E"/>
          </a:solidFill>
          <a:ln/>
        </p:spPr>
      </p:sp>
      <p:sp>
        <p:nvSpPr>
          <p:cNvPr id="22" name="Text 20"/>
          <p:cNvSpPr/>
          <p:nvPr/>
        </p:nvSpPr>
        <p:spPr>
          <a:xfrm>
            <a:off x="4910328" y="3712464"/>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Classification</a:t>
            </a:r>
            <a:endParaRPr lang="en-US" sz="1200" dirty="0"/>
          </a:p>
        </p:txBody>
      </p:sp>
      <p:sp>
        <p:nvSpPr>
          <p:cNvPr id="23" name="Text 21"/>
          <p:cNvSpPr/>
          <p:nvPr/>
        </p:nvSpPr>
        <p:spPr>
          <a:xfrm>
            <a:off x="4910328" y="4023360"/>
            <a:ext cx="3794760" cy="731520"/>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Final CLS output z₄⁰ ∈ ℝ⁵¹² → linear head → softmax → p̂ ∈ ℝ⁹ (9-class distribution).</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5 · MAIN MODEL ARCHITECTURE</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CNN + ViT Fusion Mechanism</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60120"/>
            <a:ext cx="3931920" cy="1508760"/>
          </a:xfrm>
          <a:prstGeom prst="roundRect">
            <a:avLst>
              <a:gd name="adj" fmla="val 4848"/>
            </a:avLst>
          </a:prstGeom>
          <a:solidFill>
            <a:srgbClr val="111D2E"/>
          </a:solidFill>
          <a:ln/>
          <a:effectLst>
            <a:outerShdw sx="100000" sy="100000" kx="0" ky="0" algn="bl" rotWithShape="0" blurRad="101600" dist="25400" dir="2700000">
              <a:srgbClr val="000000">
                <a:alpha val="25000"/>
              </a:srgbClr>
            </a:outerShdw>
          </a:effectLst>
        </p:spPr>
      </p:sp>
      <p:sp>
        <p:nvSpPr>
          <p:cNvPr id="7" name="Text 5"/>
          <p:cNvSpPr/>
          <p:nvPr/>
        </p:nvSpPr>
        <p:spPr>
          <a:xfrm>
            <a:off x="566928" y="1033272"/>
            <a:ext cx="3712464"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Step 1: Concatenation</a:t>
            </a:r>
            <a:endParaRPr lang="en-US" sz="1200" dirty="0"/>
          </a:p>
        </p:txBody>
      </p:sp>
      <p:sp>
        <p:nvSpPr>
          <p:cNvPr id="8" name="Text 6"/>
          <p:cNvSpPr/>
          <p:nvPr/>
        </p:nvSpPr>
        <p:spPr>
          <a:xfrm>
            <a:off x="566928" y="1344168"/>
            <a:ext cx="3712464" cy="100584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fconcat = [fsp ; ftm]</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fsp ∈ ℝ²⁰⁴⁸ (ResNet-50)  +  ftm ∈ ℝ⁵¹² (R(2+1)D)</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 joint vector ∈ ℝ²⁵⁶⁰</a:t>
            </a:r>
            <a:endParaRPr lang="en-US" sz="1100" dirty="0"/>
          </a:p>
        </p:txBody>
      </p:sp>
      <p:sp>
        <p:nvSpPr>
          <p:cNvPr id="9" name="Shape 7"/>
          <p:cNvSpPr/>
          <p:nvPr/>
        </p:nvSpPr>
        <p:spPr>
          <a:xfrm>
            <a:off x="4572000" y="960120"/>
            <a:ext cx="4114800" cy="1508760"/>
          </a:xfrm>
          <a:prstGeom prst="roundRect">
            <a:avLst>
              <a:gd name="adj" fmla="val 4848"/>
            </a:avLst>
          </a:prstGeom>
          <a:solidFill>
            <a:srgbClr val="111D2E"/>
          </a:solidFill>
          <a:ln/>
          <a:effectLst>
            <a:outerShdw sx="100000" sy="100000" kx="0" ky="0" algn="bl" rotWithShape="0" blurRad="101600" dist="25400" dir="2700000">
              <a:srgbClr val="000000">
                <a:alpha val="25000"/>
              </a:srgbClr>
            </a:outerShdw>
          </a:effectLst>
        </p:spPr>
      </p:sp>
      <p:sp>
        <p:nvSpPr>
          <p:cNvPr id="10" name="Text 8"/>
          <p:cNvSpPr/>
          <p:nvPr/>
        </p:nvSpPr>
        <p:spPr>
          <a:xfrm>
            <a:off x="4681728" y="1033272"/>
            <a:ext cx="3895344" cy="274320"/>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Step 2: Projection Matrix</a:t>
            </a:r>
            <a:endParaRPr lang="en-US" sz="1200" dirty="0"/>
          </a:p>
        </p:txBody>
      </p:sp>
      <p:sp>
        <p:nvSpPr>
          <p:cNvPr id="11" name="Text 9"/>
          <p:cNvSpPr/>
          <p:nvPr/>
        </p:nvSpPr>
        <p:spPr>
          <a:xfrm>
            <a:off x="4681728" y="1344168"/>
            <a:ext cx="3895344" cy="100584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e = ReLU(BN(Wp · fconcat + bp))</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Wp ∈ ℝ⁵¹²ˣ²⁵⁶⁰,  bp ∈ ℝ⁵¹²</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Output: 512-D normalized embedding</a:t>
            </a:r>
            <a:endParaRPr lang="en-US" sz="1100" dirty="0"/>
          </a:p>
        </p:txBody>
      </p:sp>
      <p:sp>
        <p:nvSpPr>
          <p:cNvPr id="12" name="Text 10"/>
          <p:cNvSpPr/>
          <p:nvPr/>
        </p:nvSpPr>
        <p:spPr>
          <a:xfrm>
            <a:off x="457200" y="2651760"/>
            <a:ext cx="8229600" cy="274320"/>
          </a:xfrm>
          <a:prstGeom prst="rect">
            <a:avLst/>
          </a:prstGeom>
          <a:noFill/>
          <a:ln/>
        </p:spPr>
        <p:txBody>
          <a:bodyPr wrap="square" lIns="0" tIns="0" rIns="0" bIns="0" rtlCol="0" anchor="ctr"/>
          <a:lstStyle/>
          <a:p>
            <a:pPr indent="0" marL="0">
              <a:buNone/>
            </a:pPr>
            <a:r>
              <a:rPr lang="en-US" sz="1400" b="1" dirty="0">
                <a:solidFill>
                  <a:srgbClr val="00D4FF"/>
                </a:solidFill>
                <a:latin typeface="Calibri" pitchFamily="34" charset="0"/>
                <a:ea typeface="Calibri" pitchFamily="34" charset="-122"/>
                <a:cs typeface="Calibri" pitchFamily="34" charset="-120"/>
              </a:rPr>
              <a:t>Why this fusion approach?</a:t>
            </a:r>
            <a:endParaRPr lang="en-US" sz="1400" dirty="0"/>
          </a:p>
        </p:txBody>
      </p:sp>
      <p:sp>
        <p:nvSpPr>
          <p:cNvPr id="13" name="Shape 11"/>
          <p:cNvSpPr/>
          <p:nvPr/>
        </p:nvSpPr>
        <p:spPr>
          <a:xfrm>
            <a:off x="457200" y="3017520"/>
            <a:ext cx="2606040" cy="1755648"/>
          </a:xfrm>
          <a:prstGeom prst="roundRect">
            <a:avLst>
              <a:gd name="adj" fmla="val 4167"/>
            </a:avLst>
          </a:prstGeom>
          <a:solidFill>
            <a:srgbClr val="111D2E"/>
          </a:solidFill>
          <a:ln/>
          <a:effectLst>
            <a:outerShdw sx="100000" sy="100000" kx="0" ky="0" algn="bl" rotWithShape="0" blurRad="101600" dist="25400" dir="2700000">
              <a:srgbClr val="000000">
                <a:alpha val="25000"/>
              </a:srgbClr>
            </a:outerShdw>
          </a:effectLst>
        </p:spPr>
      </p:sp>
      <p:sp>
        <p:nvSpPr>
          <p:cNvPr id="14" name="Text 12"/>
          <p:cNvSpPr/>
          <p:nvPr/>
        </p:nvSpPr>
        <p:spPr>
          <a:xfrm>
            <a:off x="566928" y="3090672"/>
            <a:ext cx="2386584" cy="274320"/>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Preserves Complementarity</a:t>
            </a:r>
            <a:endParaRPr lang="en-US" sz="1200" dirty="0"/>
          </a:p>
        </p:txBody>
      </p:sp>
      <p:sp>
        <p:nvSpPr>
          <p:cNvPr id="15" name="Text 13"/>
          <p:cNvSpPr/>
          <p:nvPr/>
        </p:nvSpPr>
        <p:spPr>
          <a:xfrm>
            <a:off x="566928" y="3401568"/>
            <a:ext cx="2386584" cy="125272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Concatenation keeps both modalities' full information before projection — no information loss from early averaging or gating.</a:t>
            </a:r>
            <a:endParaRPr lang="en-US" sz="1050" dirty="0"/>
          </a:p>
        </p:txBody>
      </p:sp>
      <p:sp>
        <p:nvSpPr>
          <p:cNvPr id="16" name="Shape 14"/>
          <p:cNvSpPr/>
          <p:nvPr/>
        </p:nvSpPr>
        <p:spPr>
          <a:xfrm>
            <a:off x="3273552" y="3017520"/>
            <a:ext cx="2606040" cy="1755648"/>
          </a:xfrm>
          <a:prstGeom prst="roundRect">
            <a:avLst>
              <a:gd name="adj" fmla="val 4167"/>
            </a:avLst>
          </a:prstGeom>
          <a:solidFill>
            <a:srgbClr val="111D2E"/>
          </a:solidFill>
          <a:ln/>
          <a:effectLst>
            <a:outerShdw sx="100000" sy="100000" kx="0" ky="0" algn="bl" rotWithShape="0" blurRad="101600" dist="25400" dir="2700000">
              <a:srgbClr val="000000">
                <a:alpha val="25000"/>
              </a:srgbClr>
            </a:outerShdw>
          </a:effectLst>
        </p:spPr>
      </p:sp>
      <p:sp>
        <p:nvSpPr>
          <p:cNvPr id="17" name="Text 15"/>
          <p:cNvSpPr/>
          <p:nvPr/>
        </p:nvSpPr>
        <p:spPr>
          <a:xfrm>
            <a:off x="3383280" y="3090672"/>
            <a:ext cx="2386584" cy="274320"/>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Dimensionality Control</a:t>
            </a:r>
            <a:endParaRPr lang="en-US" sz="1200" dirty="0"/>
          </a:p>
        </p:txBody>
      </p:sp>
      <p:sp>
        <p:nvSpPr>
          <p:cNvPr id="18" name="Text 16"/>
          <p:cNvSpPr/>
          <p:nvPr/>
        </p:nvSpPr>
        <p:spPr>
          <a:xfrm>
            <a:off x="3383280" y="3401568"/>
            <a:ext cx="2386584" cy="125272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Projection from 2560-D to 512-D prevents the downstream ViT from being overwhelmed by the higher-dimensional spatial features.</a:t>
            </a:r>
            <a:endParaRPr lang="en-US" sz="1050" dirty="0"/>
          </a:p>
        </p:txBody>
      </p:sp>
      <p:sp>
        <p:nvSpPr>
          <p:cNvPr id="19" name="Shape 17"/>
          <p:cNvSpPr/>
          <p:nvPr/>
        </p:nvSpPr>
        <p:spPr>
          <a:xfrm>
            <a:off x="6089904" y="3017520"/>
            <a:ext cx="2606040" cy="1755648"/>
          </a:xfrm>
          <a:prstGeom prst="roundRect">
            <a:avLst>
              <a:gd name="adj" fmla="val 4167"/>
            </a:avLst>
          </a:prstGeom>
          <a:solidFill>
            <a:srgbClr val="111D2E"/>
          </a:solidFill>
          <a:ln/>
          <a:effectLst>
            <a:outerShdw sx="100000" sy="100000" kx="0" ky="0" algn="bl" rotWithShape="0" blurRad="101600" dist="25400" dir="2700000">
              <a:srgbClr val="000000">
                <a:alpha val="25000"/>
              </a:srgbClr>
            </a:outerShdw>
          </a:effectLst>
        </p:spPr>
      </p:sp>
      <p:sp>
        <p:nvSpPr>
          <p:cNvPr id="20" name="Text 18"/>
          <p:cNvSpPr/>
          <p:nvPr/>
        </p:nvSpPr>
        <p:spPr>
          <a:xfrm>
            <a:off x="6199632" y="3090672"/>
            <a:ext cx="2386584" cy="274320"/>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Training Stability</a:t>
            </a:r>
            <a:endParaRPr lang="en-US" sz="1200" dirty="0"/>
          </a:p>
        </p:txBody>
      </p:sp>
      <p:sp>
        <p:nvSpPr>
          <p:cNvPr id="21" name="Text 19"/>
          <p:cNvSpPr/>
          <p:nvPr/>
        </p:nvSpPr>
        <p:spPr>
          <a:xfrm>
            <a:off x="6199632" y="3401568"/>
            <a:ext cx="2386584" cy="125272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Batch Normalization applied post-projection ensures stable gradient flow into the ViT encoder layers.</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5 · MAIN MODEL ARCHITECTURE</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Feature Flow Analysis</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1005840"/>
            <a:ext cx="2606040" cy="1078992"/>
          </a:xfrm>
          <a:prstGeom prst="roundRect">
            <a:avLst>
              <a:gd name="adj" fmla="val 5932"/>
            </a:avLst>
          </a:prstGeom>
          <a:solidFill>
            <a:srgbClr val="111D2E"/>
          </a:solidFill>
          <a:ln/>
        </p:spPr>
      </p:sp>
      <p:sp>
        <p:nvSpPr>
          <p:cNvPr id="7" name="Text 5"/>
          <p:cNvSpPr/>
          <p:nvPr/>
        </p:nvSpPr>
        <p:spPr>
          <a:xfrm>
            <a:off x="457200" y="1097280"/>
            <a:ext cx="2606040" cy="411480"/>
          </a:xfrm>
          <a:prstGeom prst="rect">
            <a:avLst/>
          </a:prstGeom>
          <a:noFill/>
          <a:ln/>
        </p:spPr>
        <p:txBody>
          <a:bodyPr wrap="square" lIns="0" tIns="0" rIns="0" bIns="0" rtlCol="0" anchor="ctr"/>
          <a:lstStyle/>
          <a:p>
            <a:pPr algn="ctr" indent="0" marL="0">
              <a:buNone/>
            </a:pPr>
            <a:r>
              <a:rPr lang="en-US" sz="1600" b="1" dirty="0">
                <a:solidFill>
                  <a:srgbClr val="00D4FF"/>
                </a:solidFill>
                <a:latin typeface="Calibri" pitchFamily="34" charset="0"/>
                <a:ea typeface="Calibri" pitchFamily="34" charset="-122"/>
                <a:cs typeface="Calibri" pitchFamily="34" charset="-120"/>
              </a:rPr>
              <a:t>3×224×224</a:t>
            </a:r>
            <a:endParaRPr lang="en-US" sz="1600" dirty="0"/>
          </a:p>
        </p:txBody>
      </p:sp>
      <p:sp>
        <p:nvSpPr>
          <p:cNvPr id="8" name="Text 6"/>
          <p:cNvSpPr/>
          <p:nvPr/>
        </p:nvSpPr>
        <p:spPr>
          <a:xfrm>
            <a:off x="457200" y="1554480"/>
            <a:ext cx="2606040" cy="475488"/>
          </a:xfrm>
          <a:prstGeom prst="rect">
            <a:avLst/>
          </a:prstGeom>
          <a:noFill/>
          <a:ln/>
        </p:spPr>
        <p:txBody>
          <a:bodyPr wrap="square" lIns="0" tIns="0" rIns="0" bIns="0" rtlCol="0" anchor="ctr"/>
          <a:lstStyle/>
          <a:p>
            <a:pPr algn="ctr" indent="0" marL="0">
              <a:buNone/>
            </a:pPr>
            <a:r>
              <a:rPr lang="en-US" sz="1050" dirty="0">
                <a:solidFill>
                  <a:srgbClr val="CBD5E1"/>
                </a:solidFill>
                <a:latin typeface="Calibri" pitchFamily="34" charset="0"/>
                <a:ea typeface="Calibri" pitchFamily="34" charset="-122"/>
                <a:cs typeface="Calibri" pitchFamily="34" charset="-120"/>
              </a:rPr>
              <a:t>Spatial Input Frame</a:t>
            </a:r>
            <a:endParaRPr lang="en-US" sz="1050" dirty="0"/>
          </a:p>
        </p:txBody>
      </p:sp>
      <p:sp>
        <p:nvSpPr>
          <p:cNvPr id="9" name="Shape 7"/>
          <p:cNvSpPr/>
          <p:nvPr/>
        </p:nvSpPr>
        <p:spPr>
          <a:xfrm>
            <a:off x="3273552" y="1005840"/>
            <a:ext cx="2606040" cy="1078992"/>
          </a:xfrm>
          <a:prstGeom prst="roundRect">
            <a:avLst>
              <a:gd name="adj" fmla="val 5932"/>
            </a:avLst>
          </a:prstGeom>
          <a:solidFill>
            <a:srgbClr val="111D2E"/>
          </a:solidFill>
          <a:ln/>
        </p:spPr>
      </p:sp>
      <p:sp>
        <p:nvSpPr>
          <p:cNvPr id="10" name="Text 8"/>
          <p:cNvSpPr/>
          <p:nvPr/>
        </p:nvSpPr>
        <p:spPr>
          <a:xfrm>
            <a:off x="3273552" y="1097280"/>
            <a:ext cx="2606040" cy="411480"/>
          </a:xfrm>
          <a:prstGeom prst="rect">
            <a:avLst/>
          </a:prstGeom>
          <a:noFill/>
          <a:ln/>
        </p:spPr>
        <p:txBody>
          <a:bodyPr wrap="square" lIns="0" tIns="0" rIns="0" bIns="0" rtlCol="0" anchor="ctr"/>
          <a:lstStyle/>
          <a:p>
            <a:pPr algn="ctr" indent="0" marL="0">
              <a:buNone/>
            </a:pPr>
            <a:r>
              <a:rPr lang="en-US" sz="1600" b="1" dirty="0">
                <a:solidFill>
                  <a:srgbClr val="0EA5E9"/>
                </a:solidFill>
                <a:latin typeface="Calibri" pitchFamily="34" charset="0"/>
                <a:ea typeface="Calibri" pitchFamily="34" charset="-122"/>
                <a:cs typeface="Calibri" pitchFamily="34" charset="-120"/>
              </a:rPr>
              <a:t>2048-D</a:t>
            </a:r>
            <a:endParaRPr lang="en-US" sz="1600" dirty="0"/>
          </a:p>
        </p:txBody>
      </p:sp>
      <p:sp>
        <p:nvSpPr>
          <p:cNvPr id="11" name="Text 9"/>
          <p:cNvSpPr/>
          <p:nvPr/>
        </p:nvSpPr>
        <p:spPr>
          <a:xfrm>
            <a:off x="3273552" y="1554480"/>
            <a:ext cx="2606040" cy="475488"/>
          </a:xfrm>
          <a:prstGeom prst="rect">
            <a:avLst/>
          </a:prstGeom>
          <a:noFill/>
          <a:ln/>
        </p:spPr>
        <p:txBody>
          <a:bodyPr wrap="square" lIns="0" tIns="0" rIns="0" bIns="0" rtlCol="0" anchor="ctr"/>
          <a:lstStyle/>
          <a:p>
            <a:pPr algn="ctr" indent="0" marL="0">
              <a:buNone/>
            </a:pPr>
            <a:r>
              <a:rPr lang="en-US" sz="1050" dirty="0">
                <a:solidFill>
                  <a:srgbClr val="CBD5E1"/>
                </a:solidFill>
                <a:latin typeface="Calibri" pitchFamily="34" charset="0"/>
                <a:ea typeface="Calibri" pitchFamily="34" charset="-122"/>
                <a:cs typeface="Calibri" pitchFamily="34" charset="-120"/>
              </a:rPr>
              <a:t>ResNet-50 Output</a:t>
            </a:r>
            <a:endParaRPr lang="en-US" sz="1050" dirty="0"/>
          </a:p>
        </p:txBody>
      </p:sp>
      <p:sp>
        <p:nvSpPr>
          <p:cNvPr id="12" name="Shape 10"/>
          <p:cNvSpPr/>
          <p:nvPr/>
        </p:nvSpPr>
        <p:spPr>
          <a:xfrm>
            <a:off x="6089904" y="1005840"/>
            <a:ext cx="2606040" cy="1078992"/>
          </a:xfrm>
          <a:prstGeom prst="roundRect">
            <a:avLst>
              <a:gd name="adj" fmla="val 5932"/>
            </a:avLst>
          </a:prstGeom>
          <a:solidFill>
            <a:srgbClr val="111D2E"/>
          </a:solidFill>
          <a:ln/>
        </p:spPr>
      </p:sp>
      <p:sp>
        <p:nvSpPr>
          <p:cNvPr id="13" name="Text 11"/>
          <p:cNvSpPr/>
          <p:nvPr/>
        </p:nvSpPr>
        <p:spPr>
          <a:xfrm>
            <a:off x="6089904" y="1097280"/>
            <a:ext cx="2606040" cy="411480"/>
          </a:xfrm>
          <a:prstGeom prst="rect">
            <a:avLst/>
          </a:prstGeom>
          <a:noFill/>
          <a:ln/>
        </p:spPr>
        <p:txBody>
          <a:bodyPr wrap="square" lIns="0" tIns="0" rIns="0" bIns="0" rtlCol="0" anchor="ctr"/>
          <a:lstStyle/>
          <a:p>
            <a:pPr algn="ctr" indent="0" marL="0">
              <a:buNone/>
            </a:pPr>
            <a:r>
              <a:rPr lang="en-US" sz="1600" b="1" dirty="0">
                <a:solidFill>
                  <a:srgbClr val="10B981"/>
                </a:solidFill>
                <a:latin typeface="Calibri" pitchFamily="34" charset="0"/>
                <a:ea typeface="Calibri" pitchFamily="34" charset="-122"/>
                <a:cs typeface="Calibri" pitchFamily="34" charset="-120"/>
              </a:rPr>
              <a:t>3×16×112×112</a:t>
            </a:r>
            <a:endParaRPr lang="en-US" sz="1600" dirty="0"/>
          </a:p>
        </p:txBody>
      </p:sp>
      <p:sp>
        <p:nvSpPr>
          <p:cNvPr id="14" name="Text 12"/>
          <p:cNvSpPr/>
          <p:nvPr/>
        </p:nvSpPr>
        <p:spPr>
          <a:xfrm>
            <a:off x="6089904" y="1554480"/>
            <a:ext cx="2606040" cy="475488"/>
          </a:xfrm>
          <a:prstGeom prst="rect">
            <a:avLst/>
          </a:prstGeom>
          <a:noFill/>
          <a:ln/>
        </p:spPr>
        <p:txBody>
          <a:bodyPr wrap="square" lIns="0" tIns="0" rIns="0" bIns="0" rtlCol="0" anchor="ctr"/>
          <a:lstStyle/>
          <a:p>
            <a:pPr algn="ctr" indent="0" marL="0">
              <a:buNone/>
            </a:pPr>
            <a:r>
              <a:rPr lang="en-US" sz="1050" dirty="0">
                <a:solidFill>
                  <a:srgbClr val="CBD5E1"/>
                </a:solidFill>
                <a:latin typeface="Calibri" pitchFamily="34" charset="0"/>
                <a:ea typeface="Calibri" pitchFamily="34" charset="-122"/>
                <a:cs typeface="Calibri" pitchFamily="34" charset="-120"/>
              </a:rPr>
              <a:t>Temporal Clip Volume</a:t>
            </a:r>
            <a:endParaRPr lang="en-US" sz="1050" dirty="0"/>
          </a:p>
        </p:txBody>
      </p:sp>
      <p:sp>
        <p:nvSpPr>
          <p:cNvPr id="15" name="Shape 13"/>
          <p:cNvSpPr/>
          <p:nvPr/>
        </p:nvSpPr>
        <p:spPr>
          <a:xfrm>
            <a:off x="457200" y="2304288"/>
            <a:ext cx="2606040" cy="1078992"/>
          </a:xfrm>
          <a:prstGeom prst="roundRect">
            <a:avLst>
              <a:gd name="adj" fmla="val 5932"/>
            </a:avLst>
          </a:prstGeom>
          <a:solidFill>
            <a:srgbClr val="111D2E"/>
          </a:solidFill>
          <a:ln/>
        </p:spPr>
      </p:sp>
      <p:sp>
        <p:nvSpPr>
          <p:cNvPr id="16" name="Text 14"/>
          <p:cNvSpPr/>
          <p:nvPr/>
        </p:nvSpPr>
        <p:spPr>
          <a:xfrm>
            <a:off x="457200" y="2395728"/>
            <a:ext cx="2606040" cy="411480"/>
          </a:xfrm>
          <a:prstGeom prst="rect">
            <a:avLst/>
          </a:prstGeom>
          <a:noFill/>
          <a:ln/>
        </p:spPr>
        <p:txBody>
          <a:bodyPr wrap="square" lIns="0" tIns="0" rIns="0" bIns="0" rtlCol="0" anchor="ctr"/>
          <a:lstStyle/>
          <a:p>
            <a:pPr algn="ctr" indent="0" marL="0">
              <a:buNone/>
            </a:pPr>
            <a:r>
              <a:rPr lang="en-US" sz="1600" b="1" dirty="0">
                <a:solidFill>
                  <a:srgbClr val="10B981"/>
                </a:solidFill>
                <a:latin typeface="Calibri" pitchFamily="34" charset="0"/>
                <a:ea typeface="Calibri" pitchFamily="34" charset="-122"/>
                <a:cs typeface="Calibri" pitchFamily="34" charset="-120"/>
              </a:rPr>
              <a:t>512-D</a:t>
            </a:r>
            <a:endParaRPr lang="en-US" sz="1600" dirty="0"/>
          </a:p>
        </p:txBody>
      </p:sp>
      <p:sp>
        <p:nvSpPr>
          <p:cNvPr id="17" name="Text 15"/>
          <p:cNvSpPr/>
          <p:nvPr/>
        </p:nvSpPr>
        <p:spPr>
          <a:xfrm>
            <a:off x="457200" y="2852928"/>
            <a:ext cx="2606040" cy="475488"/>
          </a:xfrm>
          <a:prstGeom prst="rect">
            <a:avLst/>
          </a:prstGeom>
          <a:noFill/>
          <a:ln/>
        </p:spPr>
        <p:txBody>
          <a:bodyPr wrap="square" lIns="0" tIns="0" rIns="0" bIns="0" rtlCol="0" anchor="ctr"/>
          <a:lstStyle/>
          <a:p>
            <a:pPr algn="ctr" indent="0" marL="0">
              <a:buNone/>
            </a:pPr>
            <a:r>
              <a:rPr lang="en-US" sz="1050" dirty="0">
                <a:solidFill>
                  <a:srgbClr val="CBD5E1"/>
                </a:solidFill>
                <a:latin typeface="Calibri" pitchFamily="34" charset="0"/>
                <a:ea typeface="Calibri" pitchFamily="34" charset="-122"/>
                <a:cs typeface="Calibri" pitchFamily="34" charset="-120"/>
              </a:rPr>
              <a:t>R(2+1)D Output</a:t>
            </a:r>
            <a:endParaRPr lang="en-US" sz="1050" dirty="0"/>
          </a:p>
        </p:txBody>
      </p:sp>
      <p:sp>
        <p:nvSpPr>
          <p:cNvPr id="18" name="Shape 16"/>
          <p:cNvSpPr/>
          <p:nvPr/>
        </p:nvSpPr>
        <p:spPr>
          <a:xfrm>
            <a:off x="3273552" y="2304288"/>
            <a:ext cx="2606040" cy="1078992"/>
          </a:xfrm>
          <a:prstGeom prst="roundRect">
            <a:avLst>
              <a:gd name="adj" fmla="val 5932"/>
            </a:avLst>
          </a:prstGeom>
          <a:solidFill>
            <a:srgbClr val="111D2E"/>
          </a:solidFill>
          <a:ln/>
        </p:spPr>
      </p:sp>
      <p:sp>
        <p:nvSpPr>
          <p:cNvPr id="19" name="Text 17"/>
          <p:cNvSpPr/>
          <p:nvPr/>
        </p:nvSpPr>
        <p:spPr>
          <a:xfrm>
            <a:off x="3273552" y="2395728"/>
            <a:ext cx="2606040" cy="411480"/>
          </a:xfrm>
          <a:prstGeom prst="rect">
            <a:avLst/>
          </a:prstGeom>
          <a:noFill/>
          <a:ln/>
        </p:spPr>
        <p:txBody>
          <a:bodyPr wrap="square" lIns="0" tIns="0" rIns="0" bIns="0" rtlCol="0" anchor="ctr"/>
          <a:lstStyle/>
          <a:p>
            <a:pPr algn="ctr" indent="0" marL="0">
              <a:buNone/>
            </a:pPr>
            <a:r>
              <a:rPr lang="en-US" sz="1600" b="1" dirty="0">
                <a:solidFill>
                  <a:srgbClr val="F59E0B"/>
                </a:solidFill>
                <a:latin typeface="Calibri" pitchFamily="34" charset="0"/>
                <a:ea typeface="Calibri" pitchFamily="34" charset="-122"/>
                <a:cs typeface="Calibri" pitchFamily="34" charset="-120"/>
              </a:rPr>
              <a:t>2560-D</a:t>
            </a:r>
            <a:endParaRPr lang="en-US" sz="1600" dirty="0"/>
          </a:p>
        </p:txBody>
      </p:sp>
      <p:sp>
        <p:nvSpPr>
          <p:cNvPr id="20" name="Text 18"/>
          <p:cNvSpPr/>
          <p:nvPr/>
        </p:nvSpPr>
        <p:spPr>
          <a:xfrm>
            <a:off x="3273552" y="2852928"/>
            <a:ext cx="2606040" cy="475488"/>
          </a:xfrm>
          <a:prstGeom prst="rect">
            <a:avLst/>
          </a:prstGeom>
          <a:noFill/>
          <a:ln/>
        </p:spPr>
        <p:txBody>
          <a:bodyPr wrap="square" lIns="0" tIns="0" rIns="0" bIns="0" rtlCol="0" anchor="ctr"/>
          <a:lstStyle/>
          <a:p>
            <a:pPr algn="ctr" indent="0" marL="0">
              <a:buNone/>
            </a:pPr>
            <a:r>
              <a:rPr lang="en-US" sz="1050" dirty="0">
                <a:solidFill>
                  <a:srgbClr val="CBD5E1"/>
                </a:solidFill>
                <a:latin typeface="Calibri" pitchFamily="34" charset="0"/>
                <a:ea typeface="Calibri" pitchFamily="34" charset="-122"/>
                <a:cs typeface="Calibri" pitchFamily="34" charset="-120"/>
              </a:rPr>
              <a:t>Concatenated Joint Vector</a:t>
            </a:r>
            <a:endParaRPr lang="en-US" sz="1050" dirty="0"/>
          </a:p>
        </p:txBody>
      </p:sp>
      <p:sp>
        <p:nvSpPr>
          <p:cNvPr id="21" name="Shape 19"/>
          <p:cNvSpPr/>
          <p:nvPr/>
        </p:nvSpPr>
        <p:spPr>
          <a:xfrm>
            <a:off x="6089904" y="2304288"/>
            <a:ext cx="2606040" cy="1078992"/>
          </a:xfrm>
          <a:prstGeom prst="roundRect">
            <a:avLst>
              <a:gd name="adj" fmla="val 5932"/>
            </a:avLst>
          </a:prstGeom>
          <a:solidFill>
            <a:srgbClr val="111D2E"/>
          </a:solidFill>
          <a:ln/>
        </p:spPr>
      </p:sp>
      <p:sp>
        <p:nvSpPr>
          <p:cNvPr id="22" name="Text 20"/>
          <p:cNvSpPr/>
          <p:nvPr/>
        </p:nvSpPr>
        <p:spPr>
          <a:xfrm>
            <a:off x="6089904" y="2395728"/>
            <a:ext cx="2606040" cy="411480"/>
          </a:xfrm>
          <a:prstGeom prst="rect">
            <a:avLst/>
          </a:prstGeom>
          <a:noFill/>
          <a:ln/>
        </p:spPr>
        <p:txBody>
          <a:bodyPr wrap="square" lIns="0" tIns="0" rIns="0" bIns="0" rtlCol="0" anchor="ctr"/>
          <a:lstStyle/>
          <a:p>
            <a:pPr algn="ctr" indent="0" marL="0">
              <a:buNone/>
            </a:pPr>
            <a:r>
              <a:rPr lang="en-US" sz="1600" b="1" dirty="0">
                <a:solidFill>
                  <a:srgbClr val="F59E0B"/>
                </a:solidFill>
                <a:latin typeface="Calibri" pitchFamily="34" charset="0"/>
                <a:ea typeface="Calibri" pitchFamily="34" charset="-122"/>
                <a:cs typeface="Calibri" pitchFamily="34" charset="-120"/>
              </a:rPr>
              <a:t>512-D</a:t>
            </a:r>
            <a:endParaRPr lang="en-US" sz="1600" dirty="0"/>
          </a:p>
        </p:txBody>
      </p:sp>
      <p:sp>
        <p:nvSpPr>
          <p:cNvPr id="23" name="Text 21"/>
          <p:cNvSpPr/>
          <p:nvPr/>
        </p:nvSpPr>
        <p:spPr>
          <a:xfrm>
            <a:off x="6089904" y="2852928"/>
            <a:ext cx="2606040" cy="475488"/>
          </a:xfrm>
          <a:prstGeom prst="rect">
            <a:avLst/>
          </a:prstGeom>
          <a:noFill/>
          <a:ln/>
        </p:spPr>
        <p:txBody>
          <a:bodyPr wrap="square" lIns="0" tIns="0" rIns="0" bIns="0" rtlCol="0" anchor="ctr"/>
          <a:lstStyle/>
          <a:p>
            <a:pPr algn="ctr" indent="0" marL="0">
              <a:buNone/>
            </a:pPr>
            <a:r>
              <a:rPr lang="en-US" sz="1050" dirty="0">
                <a:solidFill>
                  <a:srgbClr val="CBD5E1"/>
                </a:solidFill>
                <a:latin typeface="Calibri" pitchFamily="34" charset="0"/>
                <a:ea typeface="Calibri" pitchFamily="34" charset="-122"/>
                <a:cs typeface="Calibri" pitchFamily="34" charset="-120"/>
              </a:rPr>
              <a:t>Projected Clip Embedding (e)</a:t>
            </a:r>
            <a:endParaRPr lang="en-US" sz="1050" dirty="0"/>
          </a:p>
        </p:txBody>
      </p:sp>
      <p:sp>
        <p:nvSpPr>
          <p:cNvPr id="24" name="Shape 22"/>
          <p:cNvSpPr/>
          <p:nvPr/>
        </p:nvSpPr>
        <p:spPr>
          <a:xfrm>
            <a:off x="457200" y="3602736"/>
            <a:ext cx="2606040" cy="1078992"/>
          </a:xfrm>
          <a:prstGeom prst="roundRect">
            <a:avLst>
              <a:gd name="adj" fmla="val 5932"/>
            </a:avLst>
          </a:prstGeom>
          <a:solidFill>
            <a:srgbClr val="111D2E"/>
          </a:solidFill>
          <a:ln/>
        </p:spPr>
      </p:sp>
      <p:sp>
        <p:nvSpPr>
          <p:cNvPr id="25" name="Text 23"/>
          <p:cNvSpPr/>
          <p:nvPr/>
        </p:nvSpPr>
        <p:spPr>
          <a:xfrm>
            <a:off x="457200" y="3694176"/>
            <a:ext cx="2606040" cy="411480"/>
          </a:xfrm>
          <a:prstGeom prst="rect">
            <a:avLst/>
          </a:prstGeom>
          <a:noFill/>
          <a:ln/>
        </p:spPr>
        <p:txBody>
          <a:bodyPr wrap="square" lIns="0" tIns="0" rIns="0" bIns="0" rtlCol="0" anchor="ctr"/>
          <a:lstStyle/>
          <a:p>
            <a:pPr algn="ctr" indent="0" marL="0">
              <a:buNone/>
            </a:pPr>
            <a:r>
              <a:rPr lang="en-US" sz="1600" b="1" dirty="0">
                <a:solidFill>
                  <a:srgbClr val="00D4FF"/>
                </a:solidFill>
                <a:latin typeface="Calibri" pitchFamily="34" charset="0"/>
                <a:ea typeface="Calibri" pitchFamily="34" charset="-122"/>
                <a:cs typeface="Calibri" pitchFamily="34" charset="-120"/>
              </a:rPr>
              <a:t>9×512-D</a:t>
            </a:r>
            <a:endParaRPr lang="en-US" sz="1600" dirty="0"/>
          </a:p>
        </p:txBody>
      </p:sp>
      <p:sp>
        <p:nvSpPr>
          <p:cNvPr id="26" name="Text 24"/>
          <p:cNvSpPr/>
          <p:nvPr/>
        </p:nvSpPr>
        <p:spPr>
          <a:xfrm>
            <a:off x="457200" y="4151376"/>
            <a:ext cx="2606040" cy="475488"/>
          </a:xfrm>
          <a:prstGeom prst="rect">
            <a:avLst/>
          </a:prstGeom>
          <a:noFill/>
          <a:ln/>
        </p:spPr>
        <p:txBody>
          <a:bodyPr wrap="square" lIns="0" tIns="0" rIns="0" bIns="0" rtlCol="0" anchor="ctr"/>
          <a:lstStyle/>
          <a:p>
            <a:pPr algn="ctr" indent="0" marL="0">
              <a:buNone/>
            </a:pPr>
            <a:r>
              <a:rPr lang="en-US" sz="1050" dirty="0">
                <a:solidFill>
                  <a:srgbClr val="CBD5E1"/>
                </a:solidFill>
                <a:latin typeface="Calibri" pitchFamily="34" charset="0"/>
                <a:ea typeface="Calibri" pitchFamily="34" charset="-122"/>
                <a:cs typeface="Calibri" pitchFamily="34" charset="-120"/>
              </a:rPr>
              <a:t>8-Clip Sequence (+ CLS token)</a:t>
            </a:r>
            <a:endParaRPr lang="en-US" sz="1050" dirty="0"/>
          </a:p>
        </p:txBody>
      </p:sp>
      <p:sp>
        <p:nvSpPr>
          <p:cNvPr id="27" name="Shape 25"/>
          <p:cNvSpPr/>
          <p:nvPr/>
        </p:nvSpPr>
        <p:spPr>
          <a:xfrm>
            <a:off x="3273552" y="3602736"/>
            <a:ext cx="2606040" cy="1078992"/>
          </a:xfrm>
          <a:prstGeom prst="roundRect">
            <a:avLst>
              <a:gd name="adj" fmla="val 5932"/>
            </a:avLst>
          </a:prstGeom>
          <a:solidFill>
            <a:srgbClr val="111D2E"/>
          </a:solidFill>
          <a:ln/>
        </p:spPr>
      </p:sp>
      <p:sp>
        <p:nvSpPr>
          <p:cNvPr id="28" name="Text 26"/>
          <p:cNvSpPr/>
          <p:nvPr/>
        </p:nvSpPr>
        <p:spPr>
          <a:xfrm>
            <a:off x="3273552" y="3694176"/>
            <a:ext cx="2606040" cy="411480"/>
          </a:xfrm>
          <a:prstGeom prst="rect">
            <a:avLst/>
          </a:prstGeom>
          <a:noFill/>
          <a:ln/>
        </p:spPr>
        <p:txBody>
          <a:bodyPr wrap="square" lIns="0" tIns="0" rIns="0" bIns="0" rtlCol="0" anchor="ctr"/>
          <a:lstStyle/>
          <a:p>
            <a:pPr algn="ctr" indent="0" marL="0">
              <a:buNone/>
            </a:pPr>
            <a:r>
              <a:rPr lang="en-US" sz="1600" b="1" dirty="0">
                <a:solidFill>
                  <a:srgbClr val="00D4FF"/>
                </a:solidFill>
                <a:latin typeface="Calibri" pitchFamily="34" charset="0"/>
                <a:ea typeface="Calibri" pitchFamily="34" charset="-122"/>
                <a:cs typeface="Calibri" pitchFamily="34" charset="-120"/>
              </a:rPr>
              <a:t>512-D</a:t>
            </a:r>
            <a:endParaRPr lang="en-US" sz="1600" dirty="0"/>
          </a:p>
        </p:txBody>
      </p:sp>
      <p:sp>
        <p:nvSpPr>
          <p:cNvPr id="29" name="Text 27"/>
          <p:cNvSpPr/>
          <p:nvPr/>
        </p:nvSpPr>
        <p:spPr>
          <a:xfrm>
            <a:off x="3273552" y="4151376"/>
            <a:ext cx="2606040" cy="475488"/>
          </a:xfrm>
          <a:prstGeom prst="rect">
            <a:avLst/>
          </a:prstGeom>
          <a:noFill/>
          <a:ln/>
        </p:spPr>
        <p:txBody>
          <a:bodyPr wrap="square" lIns="0" tIns="0" rIns="0" bIns="0" rtlCol="0" anchor="ctr"/>
          <a:lstStyle/>
          <a:p>
            <a:pPr algn="ctr" indent="0" marL="0">
              <a:buNone/>
            </a:pPr>
            <a:r>
              <a:rPr lang="en-US" sz="1050" dirty="0">
                <a:solidFill>
                  <a:srgbClr val="CBD5E1"/>
                </a:solidFill>
                <a:latin typeface="Calibri" pitchFamily="34" charset="0"/>
                <a:ea typeface="Calibri" pitchFamily="34" charset="-122"/>
                <a:cs typeface="Calibri" pitchFamily="34" charset="-120"/>
              </a:rPr>
              <a:t>ViT CLS Output (z₄⁰)</a:t>
            </a:r>
            <a:endParaRPr lang="en-US" sz="1050" dirty="0"/>
          </a:p>
        </p:txBody>
      </p:sp>
      <p:sp>
        <p:nvSpPr>
          <p:cNvPr id="30" name="Shape 28"/>
          <p:cNvSpPr/>
          <p:nvPr/>
        </p:nvSpPr>
        <p:spPr>
          <a:xfrm>
            <a:off x="6089904" y="3602736"/>
            <a:ext cx="2606040" cy="1078992"/>
          </a:xfrm>
          <a:prstGeom prst="roundRect">
            <a:avLst>
              <a:gd name="adj" fmla="val 5932"/>
            </a:avLst>
          </a:prstGeom>
          <a:solidFill>
            <a:srgbClr val="111D2E"/>
          </a:solidFill>
          <a:ln/>
        </p:spPr>
      </p:sp>
      <p:sp>
        <p:nvSpPr>
          <p:cNvPr id="31" name="Text 29"/>
          <p:cNvSpPr/>
          <p:nvPr/>
        </p:nvSpPr>
        <p:spPr>
          <a:xfrm>
            <a:off x="6089904" y="3694176"/>
            <a:ext cx="2606040" cy="411480"/>
          </a:xfrm>
          <a:prstGeom prst="rect">
            <a:avLst/>
          </a:prstGeom>
          <a:noFill/>
          <a:ln/>
        </p:spPr>
        <p:txBody>
          <a:bodyPr wrap="square" lIns="0" tIns="0" rIns="0" bIns="0" rtlCol="0" anchor="ctr"/>
          <a:lstStyle/>
          <a:p>
            <a:pPr algn="ctr" indent="0" marL="0">
              <a:buNone/>
            </a:pPr>
            <a:r>
              <a:rPr lang="en-US" sz="1600" b="1" dirty="0">
                <a:solidFill>
                  <a:srgbClr val="10B981"/>
                </a:solidFill>
                <a:latin typeface="Calibri" pitchFamily="34" charset="0"/>
                <a:ea typeface="Calibri" pitchFamily="34" charset="-122"/>
                <a:cs typeface="Calibri" pitchFamily="34" charset="-120"/>
              </a:rPr>
              <a:t>9-class</a:t>
            </a:r>
            <a:endParaRPr lang="en-US" sz="1600" dirty="0"/>
          </a:p>
        </p:txBody>
      </p:sp>
      <p:sp>
        <p:nvSpPr>
          <p:cNvPr id="32" name="Text 30"/>
          <p:cNvSpPr/>
          <p:nvPr/>
        </p:nvSpPr>
        <p:spPr>
          <a:xfrm>
            <a:off x="6089904" y="4151376"/>
            <a:ext cx="2606040" cy="475488"/>
          </a:xfrm>
          <a:prstGeom prst="rect">
            <a:avLst/>
          </a:prstGeom>
          <a:noFill/>
          <a:ln/>
        </p:spPr>
        <p:txBody>
          <a:bodyPr wrap="square" lIns="0" tIns="0" rIns="0" bIns="0" rtlCol="0" anchor="ctr"/>
          <a:lstStyle/>
          <a:p>
            <a:pPr algn="ctr" indent="0" marL="0">
              <a:buNone/>
            </a:pPr>
            <a:r>
              <a:rPr lang="en-US" sz="1050" dirty="0">
                <a:solidFill>
                  <a:srgbClr val="CBD5E1"/>
                </a:solidFill>
                <a:latin typeface="Calibri" pitchFamily="34" charset="0"/>
                <a:ea typeface="Calibri" pitchFamily="34" charset="-122"/>
                <a:cs typeface="Calibri" pitchFamily="34" charset="-120"/>
              </a:rPr>
              <a:t>Softmax Distribution (p̂)</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5 · MAIN MODEL ARCHITECTURE</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Attention Mechanism Analysis</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1005840"/>
            <a:ext cx="4023360" cy="1828800"/>
          </a:xfrm>
          <a:prstGeom prst="roundRect">
            <a:avLst>
              <a:gd name="adj" fmla="val 4000"/>
            </a:avLst>
          </a:prstGeom>
          <a:solidFill>
            <a:srgbClr val="111D2E"/>
          </a:solidFill>
          <a:ln/>
        </p:spPr>
      </p:sp>
      <p:sp>
        <p:nvSpPr>
          <p:cNvPr id="7" name="Text 5"/>
          <p:cNvSpPr/>
          <p:nvPr/>
        </p:nvSpPr>
        <p:spPr>
          <a:xfrm>
            <a:off x="566928" y="1097280"/>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Scaled Dot-Product Attention</a:t>
            </a:r>
            <a:endParaRPr lang="en-US" sz="1200" dirty="0"/>
          </a:p>
        </p:txBody>
      </p:sp>
      <p:sp>
        <p:nvSpPr>
          <p:cNvPr id="8" name="Text 6"/>
          <p:cNvSpPr/>
          <p:nvPr/>
        </p:nvSpPr>
        <p:spPr>
          <a:xfrm>
            <a:off x="566928" y="1444752"/>
            <a:ext cx="3794760" cy="1298448"/>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Attention(Q,K,V) = softmax(QKᵀ/√dk)·V</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dk = embedding dimension / num_heads. Scaling prevents gradient vanishing for large dot products.</a:t>
            </a:r>
            <a:endParaRPr lang="en-US" sz="1100" dirty="0"/>
          </a:p>
        </p:txBody>
      </p:sp>
      <p:sp>
        <p:nvSpPr>
          <p:cNvPr id="9" name="Shape 7"/>
          <p:cNvSpPr/>
          <p:nvPr/>
        </p:nvSpPr>
        <p:spPr>
          <a:xfrm>
            <a:off x="4800600" y="1005840"/>
            <a:ext cx="4023360" cy="1828800"/>
          </a:xfrm>
          <a:prstGeom prst="roundRect">
            <a:avLst>
              <a:gd name="adj" fmla="val 4000"/>
            </a:avLst>
          </a:prstGeom>
          <a:solidFill>
            <a:srgbClr val="111D2E"/>
          </a:solidFill>
          <a:ln/>
        </p:spPr>
      </p:sp>
      <p:sp>
        <p:nvSpPr>
          <p:cNvPr id="10" name="Text 8"/>
          <p:cNvSpPr/>
          <p:nvPr/>
        </p:nvSpPr>
        <p:spPr>
          <a:xfrm>
            <a:off x="4910328" y="1097280"/>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Multi-Head Self-Attention (MHSA)</a:t>
            </a:r>
            <a:endParaRPr lang="en-US" sz="1200" dirty="0"/>
          </a:p>
        </p:txBody>
      </p:sp>
      <p:sp>
        <p:nvSpPr>
          <p:cNvPr id="11" name="Text 9"/>
          <p:cNvSpPr/>
          <p:nvPr/>
        </p:nvSpPr>
        <p:spPr>
          <a:xfrm>
            <a:off x="4910328" y="1444752"/>
            <a:ext cx="3794760" cy="1298448"/>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MHSA runs H parallel attention heads, each attending to different temporal relationship aspects (velocity, position, co-occurrence). Outputs concatenated and projected.</a:t>
            </a:r>
            <a:endParaRPr lang="en-US" sz="1100" dirty="0"/>
          </a:p>
        </p:txBody>
      </p:sp>
      <p:sp>
        <p:nvSpPr>
          <p:cNvPr id="12" name="Shape 10"/>
          <p:cNvSpPr/>
          <p:nvPr/>
        </p:nvSpPr>
        <p:spPr>
          <a:xfrm>
            <a:off x="457200" y="2999232"/>
            <a:ext cx="4023360" cy="1828800"/>
          </a:xfrm>
          <a:prstGeom prst="roundRect">
            <a:avLst>
              <a:gd name="adj" fmla="val 4000"/>
            </a:avLst>
          </a:prstGeom>
          <a:solidFill>
            <a:srgbClr val="111D2E"/>
          </a:solidFill>
          <a:ln/>
        </p:spPr>
      </p:sp>
      <p:sp>
        <p:nvSpPr>
          <p:cNvPr id="13" name="Text 11"/>
          <p:cNvSpPr/>
          <p:nvPr/>
        </p:nvSpPr>
        <p:spPr>
          <a:xfrm>
            <a:off x="566928" y="3090672"/>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What Attention Captures</a:t>
            </a:r>
            <a:endParaRPr lang="en-US" sz="1200" dirty="0"/>
          </a:p>
        </p:txBody>
      </p:sp>
      <p:sp>
        <p:nvSpPr>
          <p:cNvPr id="14" name="Text 12"/>
          <p:cNvSpPr/>
          <p:nvPr/>
        </p:nvSpPr>
        <p:spPr>
          <a:xfrm>
            <a:off x="566928" y="3438144"/>
            <a:ext cx="3794760" cy="1298448"/>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Cross-clip dependencies: clip 1 (normal entry) vs clip 6 (weapon draw). Temporal context invisible to per-clip models. Behavioral progression and escalation patterns.</a:t>
            </a:r>
            <a:endParaRPr lang="en-US" sz="1100" dirty="0"/>
          </a:p>
        </p:txBody>
      </p:sp>
      <p:sp>
        <p:nvSpPr>
          <p:cNvPr id="15" name="Shape 13"/>
          <p:cNvSpPr/>
          <p:nvPr/>
        </p:nvSpPr>
        <p:spPr>
          <a:xfrm>
            <a:off x="4800600" y="2999232"/>
            <a:ext cx="4023360" cy="1828800"/>
          </a:xfrm>
          <a:prstGeom prst="roundRect">
            <a:avLst>
              <a:gd name="adj" fmla="val 4000"/>
            </a:avLst>
          </a:prstGeom>
          <a:solidFill>
            <a:srgbClr val="111D2E"/>
          </a:solidFill>
          <a:ln/>
        </p:spPr>
      </p:sp>
      <p:sp>
        <p:nvSpPr>
          <p:cNvPr id="16" name="Text 14"/>
          <p:cNvSpPr/>
          <p:nvPr/>
        </p:nvSpPr>
        <p:spPr>
          <a:xfrm>
            <a:off x="4910328" y="3090672"/>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Pre-Layer Normalization</a:t>
            </a:r>
            <a:endParaRPr lang="en-US" sz="1200" dirty="0"/>
          </a:p>
        </p:txBody>
      </p:sp>
      <p:sp>
        <p:nvSpPr>
          <p:cNvPr id="17" name="Text 15"/>
          <p:cNvSpPr/>
          <p:nvPr/>
        </p:nvSpPr>
        <p:spPr>
          <a:xfrm>
            <a:off x="4910328" y="3438144"/>
            <a:ext cx="3794760" cy="1298448"/>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LN applied BEFORE each sub-layer (not after). Prevents gradient instability in deeper transformer stacks — critical for clean convergence on small surveillance datasets.</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5 · MAIN MODEL ARCHITECTURE</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Classification Head &amp; Output Layer</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60120"/>
            <a:ext cx="3931920" cy="1371600"/>
          </a:xfrm>
          <a:prstGeom prst="roundRect">
            <a:avLst>
              <a:gd name="adj" fmla="val 5333"/>
            </a:avLst>
          </a:prstGeom>
          <a:solidFill>
            <a:srgbClr val="111D2E"/>
          </a:solidFill>
          <a:ln/>
          <a:effectLst>
            <a:outerShdw sx="100000" sy="100000" kx="0" ky="0" algn="bl" rotWithShape="0" blurRad="101600" dist="25400" dir="2700000">
              <a:srgbClr val="000000">
                <a:alpha val="25000"/>
              </a:srgbClr>
            </a:outerShdw>
          </a:effectLst>
        </p:spPr>
      </p:sp>
      <p:sp>
        <p:nvSpPr>
          <p:cNvPr id="7" name="Text 5"/>
          <p:cNvSpPr/>
          <p:nvPr/>
        </p:nvSpPr>
        <p:spPr>
          <a:xfrm>
            <a:off x="566928" y="1033272"/>
            <a:ext cx="3712464"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Input</a:t>
            </a:r>
            <a:endParaRPr lang="en-US" sz="1200" dirty="0"/>
          </a:p>
        </p:txBody>
      </p:sp>
      <p:sp>
        <p:nvSpPr>
          <p:cNvPr id="8" name="Text 6"/>
          <p:cNvSpPr/>
          <p:nvPr/>
        </p:nvSpPr>
        <p:spPr>
          <a:xfrm>
            <a:off x="566928" y="1344168"/>
            <a:ext cx="3712464" cy="86868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z₄⁰ ∈ ℝ⁵¹² — CLS token output from 4th ViT transformer block, aggregating global sequence context across 8 clips.</a:t>
            </a:r>
            <a:endParaRPr lang="en-US" sz="1100" dirty="0"/>
          </a:p>
        </p:txBody>
      </p:sp>
      <p:sp>
        <p:nvSpPr>
          <p:cNvPr id="9" name="Shape 7"/>
          <p:cNvSpPr/>
          <p:nvPr/>
        </p:nvSpPr>
        <p:spPr>
          <a:xfrm>
            <a:off x="4572000" y="960120"/>
            <a:ext cx="4114800" cy="1371600"/>
          </a:xfrm>
          <a:prstGeom prst="roundRect">
            <a:avLst>
              <a:gd name="adj" fmla="val 5333"/>
            </a:avLst>
          </a:prstGeom>
          <a:solidFill>
            <a:srgbClr val="111D2E"/>
          </a:solidFill>
          <a:ln/>
          <a:effectLst>
            <a:outerShdw sx="100000" sy="100000" kx="0" ky="0" algn="bl" rotWithShape="0" blurRad="101600" dist="25400" dir="2700000">
              <a:srgbClr val="000000">
                <a:alpha val="25000"/>
              </a:srgbClr>
            </a:outerShdw>
          </a:effectLst>
        </p:spPr>
      </p:sp>
      <p:sp>
        <p:nvSpPr>
          <p:cNvPr id="10" name="Text 8"/>
          <p:cNvSpPr/>
          <p:nvPr/>
        </p:nvSpPr>
        <p:spPr>
          <a:xfrm>
            <a:off x="4681728" y="1033272"/>
            <a:ext cx="3895344" cy="274320"/>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Linear Layer</a:t>
            </a:r>
            <a:endParaRPr lang="en-US" sz="1200" dirty="0"/>
          </a:p>
        </p:txBody>
      </p:sp>
      <p:sp>
        <p:nvSpPr>
          <p:cNvPr id="11" name="Text 9"/>
          <p:cNvSpPr/>
          <p:nvPr/>
        </p:nvSpPr>
        <p:spPr>
          <a:xfrm>
            <a:off x="4681728" y="1344168"/>
            <a:ext cx="3895344" cy="86868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p_raw = Wc · z₄⁰ + bc</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Wc ∈ ℝ⁹ˣ⁵¹², bc ∈ ℝ⁹</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Maps 512-D embedding to 9-class logit vector.</a:t>
            </a:r>
            <a:endParaRPr lang="en-US" sz="1100" dirty="0"/>
          </a:p>
        </p:txBody>
      </p:sp>
      <p:sp>
        <p:nvSpPr>
          <p:cNvPr id="12" name="Shape 10"/>
          <p:cNvSpPr/>
          <p:nvPr/>
        </p:nvSpPr>
        <p:spPr>
          <a:xfrm>
            <a:off x="457200" y="2487168"/>
            <a:ext cx="3931920" cy="1371600"/>
          </a:xfrm>
          <a:prstGeom prst="roundRect">
            <a:avLst>
              <a:gd name="adj" fmla="val 5333"/>
            </a:avLst>
          </a:prstGeom>
          <a:solidFill>
            <a:srgbClr val="111D2E"/>
          </a:solidFill>
          <a:ln/>
          <a:effectLst>
            <a:outerShdw sx="100000" sy="100000" kx="0" ky="0" algn="bl" rotWithShape="0" blurRad="101600" dist="25400" dir="2700000">
              <a:srgbClr val="000000">
                <a:alpha val="25000"/>
              </a:srgbClr>
            </a:outerShdw>
          </a:effectLst>
        </p:spPr>
      </p:sp>
      <p:sp>
        <p:nvSpPr>
          <p:cNvPr id="13" name="Text 11"/>
          <p:cNvSpPr/>
          <p:nvPr/>
        </p:nvSpPr>
        <p:spPr>
          <a:xfrm>
            <a:off x="566928" y="2560320"/>
            <a:ext cx="3712464" cy="274320"/>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Softmax Activation</a:t>
            </a:r>
            <a:endParaRPr lang="en-US" sz="1200" dirty="0"/>
          </a:p>
        </p:txBody>
      </p:sp>
      <p:sp>
        <p:nvSpPr>
          <p:cNvPr id="14" name="Text 12"/>
          <p:cNvSpPr/>
          <p:nvPr/>
        </p:nvSpPr>
        <p:spPr>
          <a:xfrm>
            <a:off x="566928" y="2871216"/>
            <a:ext cx="3712464" cy="86868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p̂ = softmax(p_raw) ∈ ℝ⁹</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Converts raw logits to probability distribution. Highest probability class = predicted anomaly category.</a:t>
            </a:r>
            <a:endParaRPr lang="en-US" sz="1100" dirty="0"/>
          </a:p>
        </p:txBody>
      </p:sp>
      <p:sp>
        <p:nvSpPr>
          <p:cNvPr id="15" name="Shape 13"/>
          <p:cNvSpPr/>
          <p:nvPr/>
        </p:nvSpPr>
        <p:spPr>
          <a:xfrm>
            <a:off x="4572000" y="2487168"/>
            <a:ext cx="4114800" cy="1371600"/>
          </a:xfrm>
          <a:prstGeom prst="roundRect">
            <a:avLst>
              <a:gd name="adj" fmla="val 5333"/>
            </a:avLst>
          </a:prstGeom>
          <a:solidFill>
            <a:srgbClr val="111D2E"/>
          </a:solidFill>
          <a:ln/>
          <a:effectLst>
            <a:outerShdw sx="100000" sy="100000" kx="0" ky="0" algn="bl" rotWithShape="0" blurRad="101600" dist="25400" dir="2700000">
              <a:srgbClr val="000000">
                <a:alpha val="25000"/>
              </a:srgbClr>
            </a:outerShdw>
          </a:effectLst>
        </p:spPr>
      </p:sp>
      <p:sp>
        <p:nvSpPr>
          <p:cNvPr id="16" name="Text 14"/>
          <p:cNvSpPr/>
          <p:nvPr/>
        </p:nvSpPr>
        <p:spPr>
          <a:xfrm>
            <a:off x="4681728" y="2560320"/>
            <a:ext cx="3895344" cy="27432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9-Class Output</a:t>
            </a:r>
            <a:endParaRPr lang="en-US" sz="1200" dirty="0"/>
          </a:p>
        </p:txBody>
      </p:sp>
      <p:sp>
        <p:nvSpPr>
          <p:cNvPr id="17" name="Text 15"/>
          <p:cNvSpPr/>
          <p:nvPr/>
        </p:nvSpPr>
        <p:spPr>
          <a:xfrm>
            <a:off x="4681728" y="2871216"/>
            <a:ext cx="3895344" cy="86868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Violence · Theft · Arson · Explosion</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Arrest · RoadAccidents · Shooting</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Vandalism · Normal</a:t>
            </a:r>
            <a:endParaRPr lang="en-US" sz="1100" dirty="0"/>
          </a:p>
          <a:p>
            <a:pPr indent="0" marL="0">
              <a:buNone/>
            </a:pPr>
            <a:r>
              <a:rPr lang="en-US" sz="1100" dirty="0">
                <a:solidFill>
                  <a:srgbClr val="CBD5E1"/>
                </a:solidFill>
                <a:latin typeface="Calibri" pitchFamily="34" charset="0"/>
                <a:ea typeface="Calibri" pitchFamily="34" charset="-122"/>
                <a:cs typeface="Calibri" pitchFamily="34" charset="-120"/>
              </a:rPr>
              <a:t>Alerts routed by predicted class.</a:t>
            </a:r>
            <a:endParaRPr lang="en-US" sz="1100" dirty="0"/>
          </a:p>
        </p:txBody>
      </p:sp>
      <p:sp>
        <p:nvSpPr>
          <p:cNvPr id="18" name="Text 16"/>
          <p:cNvSpPr/>
          <p:nvPr/>
        </p:nvSpPr>
        <p:spPr>
          <a:xfrm>
            <a:off x="457200" y="4005072"/>
            <a:ext cx="8229600" cy="365760"/>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Loss Function: Cross-Entropy with label smoothing (α=0.1) + Inverse class-weight sampling to balance gradients across the 133:1 Normal/Shooting imbalance</a:t>
            </a:r>
            <a:endParaRPr lang="en-US" sz="11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5 · MAIN MODEL ARCHITECTURE</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Computational Flow Through Network</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87552"/>
            <a:ext cx="8229600" cy="402336"/>
          </a:xfrm>
          <a:prstGeom prst="roundRect">
            <a:avLst>
              <a:gd name="adj" fmla="val 11364"/>
            </a:avLst>
          </a:prstGeom>
          <a:solidFill>
            <a:srgbClr val="111D2E"/>
          </a:solidFill>
          <a:ln/>
        </p:spPr>
      </p:sp>
      <p:sp>
        <p:nvSpPr>
          <p:cNvPr id="7" name="Text 5"/>
          <p:cNvSpPr/>
          <p:nvPr/>
        </p:nvSpPr>
        <p:spPr>
          <a:xfrm>
            <a:off x="566928" y="987552"/>
            <a:ext cx="320040" cy="402336"/>
          </a:xfrm>
          <a:prstGeom prst="rect">
            <a:avLst/>
          </a:prstGeom>
          <a:noFill/>
          <a:ln/>
        </p:spPr>
        <p:txBody>
          <a:bodyPr wrap="square" lIns="0" tIns="0" rIns="0" bIns="0" rtlCol="0" anchor="ctr"/>
          <a:lstStyle/>
          <a:p>
            <a:pPr algn="ctr" indent="0" marL="0">
              <a:buNone/>
            </a:pPr>
            <a:r>
              <a:rPr lang="en-US" sz="1100" b="1" dirty="0">
                <a:solidFill>
                  <a:srgbClr val="00D4FF"/>
                </a:solidFill>
                <a:latin typeface="Calibri" pitchFamily="34" charset="0"/>
                <a:ea typeface="Calibri" pitchFamily="34" charset="-122"/>
                <a:cs typeface="Calibri" pitchFamily="34" charset="-120"/>
              </a:rPr>
              <a:t>1</a:t>
            </a:r>
            <a:endParaRPr lang="en-US" sz="1100" dirty="0"/>
          </a:p>
        </p:txBody>
      </p:sp>
      <p:sp>
        <p:nvSpPr>
          <p:cNvPr id="8" name="Text 6"/>
          <p:cNvSpPr/>
          <p:nvPr/>
        </p:nvSpPr>
        <p:spPr>
          <a:xfrm>
            <a:off x="960120" y="1042416"/>
            <a:ext cx="5029200" cy="2743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Frame resize + normalize</a:t>
            </a:r>
            <a:endParaRPr lang="en-US" sz="1100" dirty="0"/>
          </a:p>
        </p:txBody>
      </p:sp>
      <p:sp>
        <p:nvSpPr>
          <p:cNvPr id="9" name="Text 7"/>
          <p:cNvSpPr/>
          <p:nvPr/>
        </p:nvSpPr>
        <p:spPr>
          <a:xfrm>
            <a:off x="6035040" y="1042416"/>
            <a:ext cx="1280160" cy="274320"/>
          </a:xfrm>
          <a:prstGeom prst="rect">
            <a:avLst/>
          </a:prstGeom>
          <a:noFill/>
          <a:ln/>
        </p:spPr>
        <p:txBody>
          <a:bodyPr wrap="square" lIns="0" tIns="0" rIns="0" bIns="0" rtlCol="0" anchor="ctr"/>
          <a:lstStyle/>
          <a:p>
            <a:pPr algn="ctr" indent="0" marL="0">
              <a:buNone/>
            </a:pPr>
            <a:r>
              <a:rPr lang="en-US" sz="1050" dirty="0">
                <a:solidFill>
                  <a:srgbClr val="64748B"/>
                </a:solidFill>
                <a:latin typeface="Calibri" pitchFamily="34" charset="0"/>
                <a:ea typeface="Calibri" pitchFamily="34" charset="-122"/>
                <a:cs typeface="Calibri" pitchFamily="34" charset="-120"/>
              </a:rPr>
              <a:t>CPU (parallel)</a:t>
            </a:r>
            <a:endParaRPr lang="en-US" sz="1050" dirty="0"/>
          </a:p>
        </p:txBody>
      </p:sp>
      <p:sp>
        <p:nvSpPr>
          <p:cNvPr id="10" name="Text 8"/>
          <p:cNvSpPr/>
          <p:nvPr/>
        </p:nvSpPr>
        <p:spPr>
          <a:xfrm>
            <a:off x="7406640" y="1042416"/>
            <a:ext cx="1188720" cy="274320"/>
          </a:xfrm>
          <a:prstGeom prst="rect">
            <a:avLst/>
          </a:prstGeom>
          <a:noFill/>
          <a:ln/>
        </p:spPr>
        <p:txBody>
          <a:bodyPr wrap="square" lIns="0" tIns="0" rIns="0" bIns="0" rtlCol="0" anchor="ctr"/>
          <a:lstStyle/>
          <a:p>
            <a:pPr algn="r" indent="0" marL="0">
              <a:buNone/>
            </a:pPr>
            <a:r>
              <a:rPr lang="en-US" sz="1050" b="1" dirty="0">
                <a:solidFill>
                  <a:srgbClr val="10B981"/>
                </a:solidFill>
                <a:latin typeface="Calibri" pitchFamily="34" charset="0"/>
                <a:ea typeface="Calibri" pitchFamily="34" charset="-122"/>
                <a:cs typeface="Calibri" pitchFamily="34" charset="-120"/>
              </a:rPr>
              <a:t>~4.5ms</a:t>
            </a:r>
            <a:endParaRPr lang="en-US" sz="1050" dirty="0"/>
          </a:p>
        </p:txBody>
      </p:sp>
      <p:sp>
        <p:nvSpPr>
          <p:cNvPr id="11" name="Shape 9"/>
          <p:cNvSpPr/>
          <p:nvPr/>
        </p:nvSpPr>
        <p:spPr>
          <a:xfrm>
            <a:off x="457200" y="1453896"/>
            <a:ext cx="8229600" cy="402336"/>
          </a:xfrm>
          <a:prstGeom prst="roundRect">
            <a:avLst>
              <a:gd name="adj" fmla="val 11364"/>
            </a:avLst>
          </a:prstGeom>
          <a:solidFill>
            <a:srgbClr val="111D2E"/>
          </a:solidFill>
          <a:ln/>
        </p:spPr>
      </p:sp>
      <p:sp>
        <p:nvSpPr>
          <p:cNvPr id="12" name="Text 10"/>
          <p:cNvSpPr/>
          <p:nvPr/>
        </p:nvSpPr>
        <p:spPr>
          <a:xfrm>
            <a:off x="566928" y="1453896"/>
            <a:ext cx="320040" cy="402336"/>
          </a:xfrm>
          <a:prstGeom prst="rect">
            <a:avLst/>
          </a:prstGeom>
          <a:noFill/>
          <a:ln/>
        </p:spPr>
        <p:txBody>
          <a:bodyPr wrap="square" lIns="0" tIns="0" rIns="0" bIns="0" rtlCol="0" anchor="ctr"/>
          <a:lstStyle/>
          <a:p>
            <a:pPr algn="ctr" indent="0" marL="0">
              <a:buNone/>
            </a:pPr>
            <a:r>
              <a:rPr lang="en-US" sz="1100" b="1" dirty="0">
                <a:solidFill>
                  <a:srgbClr val="00D4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960120" y="1508760"/>
            <a:ext cx="5029200" cy="2743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ResNet-50 forward pass (GAP)</a:t>
            </a:r>
            <a:endParaRPr lang="en-US" sz="1100" dirty="0"/>
          </a:p>
        </p:txBody>
      </p:sp>
      <p:sp>
        <p:nvSpPr>
          <p:cNvPr id="14" name="Text 12"/>
          <p:cNvSpPr/>
          <p:nvPr/>
        </p:nvSpPr>
        <p:spPr>
          <a:xfrm>
            <a:off x="6035040" y="1508760"/>
            <a:ext cx="1280160" cy="274320"/>
          </a:xfrm>
          <a:prstGeom prst="rect">
            <a:avLst/>
          </a:prstGeom>
          <a:noFill/>
          <a:ln/>
        </p:spPr>
        <p:txBody>
          <a:bodyPr wrap="square" lIns="0" tIns="0" rIns="0" bIns="0" rtlCol="0" anchor="ctr"/>
          <a:lstStyle/>
          <a:p>
            <a:pPr algn="ctr" indent="0" marL="0">
              <a:buNone/>
            </a:pPr>
            <a:r>
              <a:rPr lang="en-US" sz="1050" dirty="0">
                <a:solidFill>
                  <a:srgbClr val="64748B"/>
                </a:solidFill>
                <a:latin typeface="Calibri" pitchFamily="34" charset="0"/>
                <a:ea typeface="Calibri" pitchFamily="34" charset="-122"/>
                <a:cs typeface="Calibri" pitchFamily="34" charset="-120"/>
              </a:rPr>
              <a:t>GPU FP32</a:t>
            </a:r>
            <a:endParaRPr lang="en-US" sz="1050" dirty="0"/>
          </a:p>
        </p:txBody>
      </p:sp>
      <p:sp>
        <p:nvSpPr>
          <p:cNvPr id="15" name="Text 13"/>
          <p:cNvSpPr/>
          <p:nvPr/>
        </p:nvSpPr>
        <p:spPr>
          <a:xfrm>
            <a:off x="7406640" y="1508760"/>
            <a:ext cx="1188720" cy="274320"/>
          </a:xfrm>
          <a:prstGeom prst="rect">
            <a:avLst/>
          </a:prstGeom>
          <a:noFill/>
          <a:ln/>
        </p:spPr>
        <p:txBody>
          <a:bodyPr wrap="square" lIns="0" tIns="0" rIns="0" bIns="0" rtlCol="0" anchor="ctr"/>
          <a:lstStyle/>
          <a:p>
            <a:pPr algn="r" indent="0" marL="0">
              <a:buNone/>
            </a:pPr>
            <a:r>
              <a:rPr lang="en-US" sz="1050" b="1" dirty="0">
                <a:solidFill>
                  <a:srgbClr val="10B981"/>
                </a:solidFill>
                <a:latin typeface="Calibri" pitchFamily="34" charset="0"/>
                <a:ea typeface="Calibri" pitchFamily="34" charset="-122"/>
                <a:cs typeface="Calibri" pitchFamily="34" charset="-120"/>
              </a:rPr>
              <a:t>~12.0ms</a:t>
            </a:r>
            <a:endParaRPr lang="en-US" sz="1050" dirty="0"/>
          </a:p>
        </p:txBody>
      </p:sp>
      <p:sp>
        <p:nvSpPr>
          <p:cNvPr id="16" name="Shape 14"/>
          <p:cNvSpPr/>
          <p:nvPr/>
        </p:nvSpPr>
        <p:spPr>
          <a:xfrm>
            <a:off x="457200" y="1920240"/>
            <a:ext cx="8229600" cy="402336"/>
          </a:xfrm>
          <a:prstGeom prst="roundRect">
            <a:avLst>
              <a:gd name="adj" fmla="val 11364"/>
            </a:avLst>
          </a:prstGeom>
          <a:solidFill>
            <a:srgbClr val="111D2E"/>
          </a:solidFill>
          <a:ln/>
        </p:spPr>
      </p:sp>
      <p:sp>
        <p:nvSpPr>
          <p:cNvPr id="17" name="Text 15"/>
          <p:cNvSpPr/>
          <p:nvPr/>
        </p:nvSpPr>
        <p:spPr>
          <a:xfrm>
            <a:off x="566928" y="1920240"/>
            <a:ext cx="320040" cy="402336"/>
          </a:xfrm>
          <a:prstGeom prst="rect">
            <a:avLst/>
          </a:prstGeom>
          <a:noFill/>
          <a:ln/>
        </p:spPr>
        <p:txBody>
          <a:bodyPr wrap="square" lIns="0" tIns="0" rIns="0" bIns="0" rtlCol="0" anchor="ctr"/>
          <a:lstStyle/>
          <a:p>
            <a:pPr algn="ctr" indent="0" marL="0">
              <a:buNone/>
            </a:pPr>
            <a:r>
              <a:rPr lang="en-US" sz="1100" b="1" dirty="0">
                <a:solidFill>
                  <a:srgbClr val="00D4FF"/>
                </a:solidFill>
                <a:latin typeface="Calibri" pitchFamily="34" charset="0"/>
                <a:ea typeface="Calibri" pitchFamily="34" charset="-122"/>
                <a:cs typeface="Calibri" pitchFamily="34" charset="-120"/>
              </a:rPr>
              <a:t>3</a:t>
            </a:r>
            <a:endParaRPr lang="en-US" sz="1100" dirty="0"/>
          </a:p>
        </p:txBody>
      </p:sp>
      <p:sp>
        <p:nvSpPr>
          <p:cNvPr id="18" name="Text 16"/>
          <p:cNvSpPr/>
          <p:nvPr/>
        </p:nvSpPr>
        <p:spPr>
          <a:xfrm>
            <a:off x="960120" y="1975104"/>
            <a:ext cx="5029200" cy="2743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16-frame clip assembly</a:t>
            </a:r>
            <a:endParaRPr lang="en-US" sz="1100" dirty="0"/>
          </a:p>
        </p:txBody>
      </p:sp>
      <p:sp>
        <p:nvSpPr>
          <p:cNvPr id="19" name="Text 17"/>
          <p:cNvSpPr/>
          <p:nvPr/>
        </p:nvSpPr>
        <p:spPr>
          <a:xfrm>
            <a:off x="6035040" y="1975104"/>
            <a:ext cx="1280160" cy="274320"/>
          </a:xfrm>
          <a:prstGeom prst="rect">
            <a:avLst/>
          </a:prstGeom>
          <a:noFill/>
          <a:ln/>
        </p:spPr>
        <p:txBody>
          <a:bodyPr wrap="square" lIns="0" tIns="0" rIns="0" bIns="0" rtlCol="0" anchor="ctr"/>
          <a:lstStyle/>
          <a:p>
            <a:pPr algn="ctr" indent="0" marL="0">
              <a:buNone/>
            </a:pPr>
            <a:r>
              <a:rPr lang="en-US" sz="1050" dirty="0">
                <a:solidFill>
                  <a:srgbClr val="64748B"/>
                </a:solidFill>
                <a:latin typeface="Calibri" pitchFamily="34" charset="0"/>
                <a:ea typeface="Calibri" pitchFamily="34" charset="-122"/>
                <a:cs typeface="Calibri" pitchFamily="34" charset="-120"/>
              </a:rPr>
              <a:t>CPU async</a:t>
            </a:r>
            <a:endParaRPr lang="en-US" sz="1050" dirty="0"/>
          </a:p>
        </p:txBody>
      </p:sp>
      <p:sp>
        <p:nvSpPr>
          <p:cNvPr id="20" name="Text 18"/>
          <p:cNvSpPr/>
          <p:nvPr/>
        </p:nvSpPr>
        <p:spPr>
          <a:xfrm>
            <a:off x="7406640" y="1975104"/>
            <a:ext cx="1188720" cy="274320"/>
          </a:xfrm>
          <a:prstGeom prst="rect">
            <a:avLst/>
          </a:prstGeom>
          <a:noFill/>
          <a:ln/>
        </p:spPr>
        <p:txBody>
          <a:bodyPr wrap="square" lIns="0" tIns="0" rIns="0" bIns="0" rtlCol="0" anchor="ctr"/>
          <a:lstStyle/>
          <a:p>
            <a:pPr algn="r" indent="0" marL="0">
              <a:buNone/>
            </a:pPr>
            <a:r>
              <a:rPr lang="en-US" sz="1050" b="1" dirty="0">
                <a:solidFill>
                  <a:srgbClr val="10B981"/>
                </a:solidFill>
                <a:latin typeface="Calibri" pitchFamily="34" charset="0"/>
                <a:ea typeface="Calibri" pitchFamily="34" charset="-122"/>
                <a:cs typeface="Calibri" pitchFamily="34" charset="-120"/>
              </a:rPr>
              <a:t>~0.0ms (overlapped)</a:t>
            </a:r>
            <a:endParaRPr lang="en-US" sz="1050" dirty="0"/>
          </a:p>
        </p:txBody>
      </p:sp>
      <p:sp>
        <p:nvSpPr>
          <p:cNvPr id="21" name="Shape 19"/>
          <p:cNvSpPr/>
          <p:nvPr/>
        </p:nvSpPr>
        <p:spPr>
          <a:xfrm>
            <a:off x="457200" y="2386584"/>
            <a:ext cx="8229600" cy="402336"/>
          </a:xfrm>
          <a:prstGeom prst="roundRect">
            <a:avLst>
              <a:gd name="adj" fmla="val 11364"/>
            </a:avLst>
          </a:prstGeom>
          <a:solidFill>
            <a:srgbClr val="111D2E"/>
          </a:solidFill>
          <a:ln/>
        </p:spPr>
      </p:sp>
      <p:sp>
        <p:nvSpPr>
          <p:cNvPr id="22" name="Text 20"/>
          <p:cNvSpPr/>
          <p:nvPr/>
        </p:nvSpPr>
        <p:spPr>
          <a:xfrm>
            <a:off x="566928" y="2386584"/>
            <a:ext cx="320040" cy="402336"/>
          </a:xfrm>
          <a:prstGeom prst="rect">
            <a:avLst/>
          </a:prstGeom>
          <a:noFill/>
          <a:ln/>
        </p:spPr>
        <p:txBody>
          <a:bodyPr wrap="square" lIns="0" tIns="0" rIns="0" bIns="0" rtlCol="0" anchor="ctr"/>
          <a:lstStyle/>
          <a:p>
            <a:pPr algn="ctr" indent="0" marL="0">
              <a:buNone/>
            </a:pPr>
            <a:r>
              <a:rPr lang="en-US" sz="1100" b="1" dirty="0">
                <a:solidFill>
                  <a:srgbClr val="00D4FF"/>
                </a:solidFill>
                <a:latin typeface="Calibri" pitchFamily="34" charset="0"/>
                <a:ea typeface="Calibri" pitchFamily="34" charset="-122"/>
                <a:cs typeface="Calibri" pitchFamily="34" charset="-120"/>
              </a:rPr>
              <a:t>4</a:t>
            </a:r>
            <a:endParaRPr lang="en-US" sz="1100" dirty="0"/>
          </a:p>
        </p:txBody>
      </p:sp>
      <p:sp>
        <p:nvSpPr>
          <p:cNvPr id="23" name="Text 21"/>
          <p:cNvSpPr/>
          <p:nvPr/>
        </p:nvSpPr>
        <p:spPr>
          <a:xfrm>
            <a:off x="960120" y="2441448"/>
            <a:ext cx="5029200" cy="2743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R(2+1)D forward pass</a:t>
            </a:r>
            <a:endParaRPr lang="en-US" sz="1100" dirty="0"/>
          </a:p>
        </p:txBody>
      </p:sp>
      <p:sp>
        <p:nvSpPr>
          <p:cNvPr id="24" name="Text 22"/>
          <p:cNvSpPr/>
          <p:nvPr/>
        </p:nvSpPr>
        <p:spPr>
          <a:xfrm>
            <a:off x="6035040" y="2441448"/>
            <a:ext cx="1280160" cy="274320"/>
          </a:xfrm>
          <a:prstGeom prst="rect">
            <a:avLst/>
          </a:prstGeom>
          <a:noFill/>
          <a:ln/>
        </p:spPr>
        <p:txBody>
          <a:bodyPr wrap="square" lIns="0" tIns="0" rIns="0" bIns="0" rtlCol="0" anchor="ctr"/>
          <a:lstStyle/>
          <a:p>
            <a:pPr algn="ctr" indent="0" marL="0">
              <a:buNone/>
            </a:pPr>
            <a:r>
              <a:rPr lang="en-US" sz="1050" dirty="0">
                <a:solidFill>
                  <a:srgbClr val="64748B"/>
                </a:solidFill>
                <a:latin typeface="Calibri" pitchFamily="34" charset="0"/>
                <a:ea typeface="Calibri" pitchFamily="34" charset="-122"/>
                <a:cs typeface="Calibri" pitchFamily="34" charset="-120"/>
              </a:rPr>
              <a:t>GPU FP32</a:t>
            </a:r>
            <a:endParaRPr lang="en-US" sz="1050" dirty="0"/>
          </a:p>
        </p:txBody>
      </p:sp>
      <p:sp>
        <p:nvSpPr>
          <p:cNvPr id="25" name="Text 23"/>
          <p:cNvSpPr/>
          <p:nvPr/>
        </p:nvSpPr>
        <p:spPr>
          <a:xfrm>
            <a:off x="7406640" y="2441448"/>
            <a:ext cx="1188720" cy="274320"/>
          </a:xfrm>
          <a:prstGeom prst="rect">
            <a:avLst/>
          </a:prstGeom>
          <a:noFill/>
          <a:ln/>
        </p:spPr>
        <p:txBody>
          <a:bodyPr wrap="square" lIns="0" tIns="0" rIns="0" bIns="0" rtlCol="0" anchor="ctr"/>
          <a:lstStyle/>
          <a:p>
            <a:pPr algn="r" indent="0" marL="0">
              <a:buNone/>
            </a:pPr>
            <a:r>
              <a:rPr lang="en-US" sz="1050" b="1" dirty="0">
                <a:solidFill>
                  <a:srgbClr val="10B981"/>
                </a:solidFill>
                <a:latin typeface="Calibri" pitchFamily="34" charset="0"/>
                <a:ea typeface="Calibri" pitchFamily="34" charset="-122"/>
                <a:cs typeface="Calibri" pitchFamily="34" charset="-120"/>
              </a:rPr>
              <a:t>~15.5ms</a:t>
            </a:r>
            <a:endParaRPr lang="en-US" sz="1050" dirty="0"/>
          </a:p>
        </p:txBody>
      </p:sp>
      <p:sp>
        <p:nvSpPr>
          <p:cNvPr id="26" name="Shape 24"/>
          <p:cNvSpPr/>
          <p:nvPr/>
        </p:nvSpPr>
        <p:spPr>
          <a:xfrm>
            <a:off x="457200" y="2852928"/>
            <a:ext cx="8229600" cy="402336"/>
          </a:xfrm>
          <a:prstGeom prst="roundRect">
            <a:avLst>
              <a:gd name="adj" fmla="val 11364"/>
            </a:avLst>
          </a:prstGeom>
          <a:solidFill>
            <a:srgbClr val="111D2E"/>
          </a:solidFill>
          <a:ln/>
        </p:spPr>
      </p:sp>
      <p:sp>
        <p:nvSpPr>
          <p:cNvPr id="27" name="Text 25"/>
          <p:cNvSpPr/>
          <p:nvPr/>
        </p:nvSpPr>
        <p:spPr>
          <a:xfrm>
            <a:off x="566928" y="2852928"/>
            <a:ext cx="320040" cy="402336"/>
          </a:xfrm>
          <a:prstGeom prst="rect">
            <a:avLst/>
          </a:prstGeom>
          <a:noFill/>
          <a:ln/>
        </p:spPr>
        <p:txBody>
          <a:bodyPr wrap="square" lIns="0" tIns="0" rIns="0" bIns="0" rtlCol="0" anchor="ctr"/>
          <a:lstStyle/>
          <a:p>
            <a:pPr algn="ctr" indent="0" marL="0">
              <a:buNone/>
            </a:pPr>
            <a:r>
              <a:rPr lang="en-US" sz="1100" b="1" dirty="0">
                <a:solidFill>
                  <a:srgbClr val="00D4FF"/>
                </a:solidFill>
                <a:latin typeface="Calibri" pitchFamily="34" charset="0"/>
                <a:ea typeface="Calibri" pitchFamily="34" charset="-122"/>
                <a:cs typeface="Calibri" pitchFamily="34" charset="-120"/>
              </a:rPr>
              <a:t>5</a:t>
            </a:r>
            <a:endParaRPr lang="en-US" sz="1100" dirty="0"/>
          </a:p>
        </p:txBody>
      </p:sp>
      <p:sp>
        <p:nvSpPr>
          <p:cNvPr id="28" name="Text 26"/>
          <p:cNvSpPr/>
          <p:nvPr/>
        </p:nvSpPr>
        <p:spPr>
          <a:xfrm>
            <a:off x="960120" y="2907792"/>
            <a:ext cx="5029200" cy="2743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Concat 2560-D + Projection Wp</a:t>
            </a:r>
            <a:endParaRPr lang="en-US" sz="1100" dirty="0"/>
          </a:p>
        </p:txBody>
      </p:sp>
      <p:sp>
        <p:nvSpPr>
          <p:cNvPr id="29" name="Text 27"/>
          <p:cNvSpPr/>
          <p:nvPr/>
        </p:nvSpPr>
        <p:spPr>
          <a:xfrm>
            <a:off x="6035040" y="2907792"/>
            <a:ext cx="1280160" cy="274320"/>
          </a:xfrm>
          <a:prstGeom prst="rect">
            <a:avLst/>
          </a:prstGeom>
          <a:noFill/>
          <a:ln/>
        </p:spPr>
        <p:txBody>
          <a:bodyPr wrap="square" lIns="0" tIns="0" rIns="0" bIns="0" rtlCol="0" anchor="ctr"/>
          <a:lstStyle/>
          <a:p>
            <a:pPr algn="ctr" indent="0" marL="0">
              <a:buNone/>
            </a:pPr>
            <a:r>
              <a:rPr lang="en-US" sz="1050" dirty="0">
                <a:solidFill>
                  <a:srgbClr val="64748B"/>
                </a:solidFill>
                <a:latin typeface="Calibri" pitchFamily="34" charset="0"/>
                <a:ea typeface="Calibri" pitchFamily="34" charset="-122"/>
                <a:cs typeface="Calibri" pitchFamily="34" charset="-120"/>
              </a:rPr>
              <a:t>GPU FP32</a:t>
            </a:r>
            <a:endParaRPr lang="en-US" sz="1050" dirty="0"/>
          </a:p>
        </p:txBody>
      </p:sp>
      <p:sp>
        <p:nvSpPr>
          <p:cNvPr id="30" name="Text 28"/>
          <p:cNvSpPr/>
          <p:nvPr/>
        </p:nvSpPr>
        <p:spPr>
          <a:xfrm>
            <a:off x="7406640" y="2907792"/>
            <a:ext cx="1188720" cy="274320"/>
          </a:xfrm>
          <a:prstGeom prst="rect">
            <a:avLst/>
          </a:prstGeom>
          <a:noFill/>
          <a:ln/>
        </p:spPr>
        <p:txBody>
          <a:bodyPr wrap="square" lIns="0" tIns="0" rIns="0" bIns="0" rtlCol="0" anchor="ctr"/>
          <a:lstStyle/>
          <a:p>
            <a:pPr algn="r" indent="0" marL="0">
              <a:buNone/>
            </a:pPr>
            <a:r>
              <a:rPr lang="en-US" sz="1050" b="1" dirty="0">
                <a:solidFill>
                  <a:srgbClr val="10B981"/>
                </a:solidFill>
                <a:latin typeface="Calibri" pitchFamily="34" charset="0"/>
                <a:ea typeface="Calibri" pitchFamily="34" charset="-122"/>
                <a:cs typeface="Calibri" pitchFamily="34" charset="-120"/>
              </a:rPr>
              <a:t>~2.0ms</a:t>
            </a:r>
            <a:endParaRPr lang="en-US" sz="1050" dirty="0"/>
          </a:p>
        </p:txBody>
      </p:sp>
      <p:sp>
        <p:nvSpPr>
          <p:cNvPr id="31" name="Shape 29"/>
          <p:cNvSpPr/>
          <p:nvPr/>
        </p:nvSpPr>
        <p:spPr>
          <a:xfrm>
            <a:off x="457200" y="3319272"/>
            <a:ext cx="8229600" cy="402336"/>
          </a:xfrm>
          <a:prstGeom prst="roundRect">
            <a:avLst>
              <a:gd name="adj" fmla="val 11364"/>
            </a:avLst>
          </a:prstGeom>
          <a:solidFill>
            <a:srgbClr val="111D2E"/>
          </a:solidFill>
          <a:ln/>
        </p:spPr>
      </p:sp>
      <p:sp>
        <p:nvSpPr>
          <p:cNvPr id="32" name="Text 30"/>
          <p:cNvSpPr/>
          <p:nvPr/>
        </p:nvSpPr>
        <p:spPr>
          <a:xfrm>
            <a:off x="566928" y="3319272"/>
            <a:ext cx="320040" cy="402336"/>
          </a:xfrm>
          <a:prstGeom prst="rect">
            <a:avLst/>
          </a:prstGeom>
          <a:noFill/>
          <a:ln/>
        </p:spPr>
        <p:txBody>
          <a:bodyPr wrap="square" lIns="0" tIns="0" rIns="0" bIns="0" rtlCol="0" anchor="ctr"/>
          <a:lstStyle/>
          <a:p>
            <a:pPr algn="ctr" indent="0" marL="0">
              <a:buNone/>
            </a:pPr>
            <a:r>
              <a:rPr lang="en-US" sz="1100" b="1" dirty="0">
                <a:solidFill>
                  <a:srgbClr val="00D4FF"/>
                </a:solidFill>
                <a:latin typeface="Calibri" pitchFamily="34" charset="0"/>
                <a:ea typeface="Calibri" pitchFamily="34" charset="-122"/>
                <a:cs typeface="Calibri" pitchFamily="34" charset="-120"/>
              </a:rPr>
              <a:t>6</a:t>
            </a:r>
            <a:endParaRPr lang="en-US" sz="1100" dirty="0"/>
          </a:p>
        </p:txBody>
      </p:sp>
      <p:sp>
        <p:nvSpPr>
          <p:cNvPr id="33" name="Text 31"/>
          <p:cNvSpPr/>
          <p:nvPr/>
        </p:nvSpPr>
        <p:spPr>
          <a:xfrm>
            <a:off x="960120" y="3374136"/>
            <a:ext cx="5029200" cy="2743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8-clip sequence assembly</a:t>
            </a:r>
            <a:endParaRPr lang="en-US" sz="1100" dirty="0"/>
          </a:p>
        </p:txBody>
      </p:sp>
      <p:sp>
        <p:nvSpPr>
          <p:cNvPr id="34" name="Text 32"/>
          <p:cNvSpPr/>
          <p:nvPr/>
        </p:nvSpPr>
        <p:spPr>
          <a:xfrm>
            <a:off x="6035040" y="3374136"/>
            <a:ext cx="1280160" cy="274320"/>
          </a:xfrm>
          <a:prstGeom prst="rect">
            <a:avLst/>
          </a:prstGeom>
          <a:noFill/>
          <a:ln/>
        </p:spPr>
        <p:txBody>
          <a:bodyPr wrap="square" lIns="0" tIns="0" rIns="0" bIns="0" rtlCol="0" anchor="ctr"/>
          <a:lstStyle/>
          <a:p>
            <a:pPr algn="ctr" indent="0" marL="0">
              <a:buNone/>
            </a:pPr>
            <a:r>
              <a:rPr lang="en-US" sz="1050" dirty="0">
                <a:solidFill>
                  <a:srgbClr val="64748B"/>
                </a:solidFill>
                <a:latin typeface="Calibri" pitchFamily="34" charset="0"/>
                <a:ea typeface="Calibri" pitchFamily="34" charset="-122"/>
                <a:cs typeface="Calibri" pitchFamily="34" charset="-120"/>
              </a:rPr>
              <a:t>GPU buffer</a:t>
            </a:r>
            <a:endParaRPr lang="en-US" sz="1050" dirty="0"/>
          </a:p>
        </p:txBody>
      </p:sp>
      <p:sp>
        <p:nvSpPr>
          <p:cNvPr id="35" name="Text 33"/>
          <p:cNvSpPr/>
          <p:nvPr/>
        </p:nvSpPr>
        <p:spPr>
          <a:xfrm>
            <a:off x="7406640" y="3374136"/>
            <a:ext cx="1188720" cy="274320"/>
          </a:xfrm>
          <a:prstGeom prst="rect">
            <a:avLst/>
          </a:prstGeom>
          <a:noFill/>
          <a:ln/>
        </p:spPr>
        <p:txBody>
          <a:bodyPr wrap="square" lIns="0" tIns="0" rIns="0" bIns="0" rtlCol="0" anchor="ctr"/>
          <a:lstStyle/>
          <a:p>
            <a:pPr algn="r" indent="0" marL="0">
              <a:buNone/>
            </a:pPr>
            <a:r>
              <a:rPr lang="en-US" sz="1050" b="1" dirty="0">
                <a:solidFill>
                  <a:srgbClr val="10B981"/>
                </a:solidFill>
                <a:latin typeface="Calibri" pitchFamily="34" charset="0"/>
                <a:ea typeface="Calibri" pitchFamily="34" charset="-122"/>
                <a:cs typeface="Calibri" pitchFamily="34" charset="-120"/>
              </a:rPr>
              <a:t>~0.0ms (rolling)</a:t>
            </a:r>
            <a:endParaRPr lang="en-US" sz="1050" dirty="0"/>
          </a:p>
        </p:txBody>
      </p:sp>
      <p:sp>
        <p:nvSpPr>
          <p:cNvPr id="36" name="Shape 34"/>
          <p:cNvSpPr/>
          <p:nvPr/>
        </p:nvSpPr>
        <p:spPr>
          <a:xfrm>
            <a:off x="457200" y="3785616"/>
            <a:ext cx="8229600" cy="402336"/>
          </a:xfrm>
          <a:prstGeom prst="roundRect">
            <a:avLst>
              <a:gd name="adj" fmla="val 11364"/>
            </a:avLst>
          </a:prstGeom>
          <a:solidFill>
            <a:srgbClr val="111D2E"/>
          </a:solidFill>
          <a:ln/>
        </p:spPr>
      </p:sp>
      <p:sp>
        <p:nvSpPr>
          <p:cNvPr id="37" name="Text 35"/>
          <p:cNvSpPr/>
          <p:nvPr/>
        </p:nvSpPr>
        <p:spPr>
          <a:xfrm>
            <a:off x="566928" y="3785616"/>
            <a:ext cx="320040" cy="402336"/>
          </a:xfrm>
          <a:prstGeom prst="rect">
            <a:avLst/>
          </a:prstGeom>
          <a:noFill/>
          <a:ln/>
        </p:spPr>
        <p:txBody>
          <a:bodyPr wrap="square" lIns="0" tIns="0" rIns="0" bIns="0" rtlCol="0" anchor="ctr"/>
          <a:lstStyle/>
          <a:p>
            <a:pPr algn="ctr" indent="0" marL="0">
              <a:buNone/>
            </a:pPr>
            <a:r>
              <a:rPr lang="en-US" sz="1100" b="1" dirty="0">
                <a:solidFill>
                  <a:srgbClr val="00D4FF"/>
                </a:solidFill>
                <a:latin typeface="Calibri" pitchFamily="34" charset="0"/>
                <a:ea typeface="Calibri" pitchFamily="34" charset="-122"/>
                <a:cs typeface="Calibri" pitchFamily="34" charset="-120"/>
              </a:rPr>
              <a:t>7</a:t>
            </a:r>
            <a:endParaRPr lang="en-US" sz="1100" dirty="0"/>
          </a:p>
        </p:txBody>
      </p:sp>
      <p:sp>
        <p:nvSpPr>
          <p:cNvPr id="38" name="Text 36"/>
          <p:cNvSpPr/>
          <p:nvPr/>
        </p:nvSpPr>
        <p:spPr>
          <a:xfrm>
            <a:off x="960120" y="3840480"/>
            <a:ext cx="5029200" cy="2743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ViT MHSA × 4 blocks + FFN</a:t>
            </a:r>
            <a:endParaRPr lang="en-US" sz="1100" dirty="0"/>
          </a:p>
        </p:txBody>
      </p:sp>
      <p:sp>
        <p:nvSpPr>
          <p:cNvPr id="39" name="Text 37"/>
          <p:cNvSpPr/>
          <p:nvPr/>
        </p:nvSpPr>
        <p:spPr>
          <a:xfrm>
            <a:off x="6035040" y="3840480"/>
            <a:ext cx="1280160" cy="274320"/>
          </a:xfrm>
          <a:prstGeom prst="rect">
            <a:avLst/>
          </a:prstGeom>
          <a:noFill/>
          <a:ln/>
        </p:spPr>
        <p:txBody>
          <a:bodyPr wrap="square" lIns="0" tIns="0" rIns="0" bIns="0" rtlCol="0" anchor="ctr"/>
          <a:lstStyle/>
          <a:p>
            <a:pPr algn="ctr" indent="0" marL="0">
              <a:buNone/>
            </a:pPr>
            <a:r>
              <a:rPr lang="en-US" sz="1050" dirty="0">
                <a:solidFill>
                  <a:srgbClr val="64748B"/>
                </a:solidFill>
                <a:latin typeface="Calibri" pitchFamily="34" charset="0"/>
                <a:ea typeface="Calibri" pitchFamily="34" charset="-122"/>
                <a:cs typeface="Calibri" pitchFamily="34" charset="-120"/>
              </a:rPr>
              <a:t>GPU FP32</a:t>
            </a:r>
            <a:endParaRPr lang="en-US" sz="1050" dirty="0"/>
          </a:p>
        </p:txBody>
      </p:sp>
      <p:sp>
        <p:nvSpPr>
          <p:cNvPr id="40" name="Text 38"/>
          <p:cNvSpPr/>
          <p:nvPr/>
        </p:nvSpPr>
        <p:spPr>
          <a:xfrm>
            <a:off x="7406640" y="3840480"/>
            <a:ext cx="1188720" cy="274320"/>
          </a:xfrm>
          <a:prstGeom prst="rect">
            <a:avLst/>
          </a:prstGeom>
          <a:noFill/>
          <a:ln/>
        </p:spPr>
        <p:txBody>
          <a:bodyPr wrap="square" lIns="0" tIns="0" rIns="0" bIns="0" rtlCol="0" anchor="ctr"/>
          <a:lstStyle/>
          <a:p>
            <a:pPr algn="r" indent="0" marL="0">
              <a:buNone/>
            </a:pPr>
            <a:r>
              <a:rPr lang="en-US" sz="1050" b="1" dirty="0">
                <a:solidFill>
                  <a:srgbClr val="10B981"/>
                </a:solidFill>
                <a:latin typeface="Calibri" pitchFamily="34" charset="0"/>
                <a:ea typeface="Calibri" pitchFamily="34" charset="-122"/>
                <a:cs typeface="Calibri" pitchFamily="34" charset="-120"/>
              </a:rPr>
              <a:t>~5.8ms</a:t>
            </a:r>
            <a:endParaRPr lang="en-US" sz="1050" dirty="0"/>
          </a:p>
        </p:txBody>
      </p:sp>
      <p:sp>
        <p:nvSpPr>
          <p:cNvPr id="41" name="Shape 39"/>
          <p:cNvSpPr/>
          <p:nvPr/>
        </p:nvSpPr>
        <p:spPr>
          <a:xfrm>
            <a:off x="457200" y="4251960"/>
            <a:ext cx="8229600" cy="402336"/>
          </a:xfrm>
          <a:prstGeom prst="roundRect">
            <a:avLst>
              <a:gd name="adj" fmla="val 11364"/>
            </a:avLst>
          </a:prstGeom>
          <a:solidFill>
            <a:srgbClr val="111D2E"/>
          </a:solidFill>
          <a:ln/>
        </p:spPr>
      </p:sp>
      <p:sp>
        <p:nvSpPr>
          <p:cNvPr id="42" name="Text 40"/>
          <p:cNvSpPr/>
          <p:nvPr/>
        </p:nvSpPr>
        <p:spPr>
          <a:xfrm>
            <a:off x="566928" y="4251960"/>
            <a:ext cx="320040" cy="402336"/>
          </a:xfrm>
          <a:prstGeom prst="rect">
            <a:avLst/>
          </a:prstGeom>
          <a:noFill/>
          <a:ln/>
        </p:spPr>
        <p:txBody>
          <a:bodyPr wrap="square" lIns="0" tIns="0" rIns="0" bIns="0" rtlCol="0" anchor="ctr"/>
          <a:lstStyle/>
          <a:p>
            <a:pPr algn="ctr" indent="0" marL="0">
              <a:buNone/>
            </a:pPr>
            <a:r>
              <a:rPr lang="en-US" sz="1100" b="1" dirty="0">
                <a:solidFill>
                  <a:srgbClr val="00D4FF"/>
                </a:solidFill>
                <a:latin typeface="Calibri" pitchFamily="34" charset="0"/>
                <a:ea typeface="Calibri" pitchFamily="34" charset="-122"/>
                <a:cs typeface="Calibri" pitchFamily="34" charset="-120"/>
              </a:rPr>
              <a:t>8</a:t>
            </a:r>
            <a:endParaRPr lang="en-US" sz="1100" dirty="0"/>
          </a:p>
        </p:txBody>
      </p:sp>
      <p:sp>
        <p:nvSpPr>
          <p:cNvPr id="43" name="Text 41"/>
          <p:cNvSpPr/>
          <p:nvPr/>
        </p:nvSpPr>
        <p:spPr>
          <a:xfrm>
            <a:off x="960120" y="4306824"/>
            <a:ext cx="5029200" cy="2743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CLS → Linear → Softmax</a:t>
            </a:r>
            <a:endParaRPr lang="en-US" sz="1100" dirty="0"/>
          </a:p>
        </p:txBody>
      </p:sp>
      <p:sp>
        <p:nvSpPr>
          <p:cNvPr id="44" name="Text 42"/>
          <p:cNvSpPr/>
          <p:nvPr/>
        </p:nvSpPr>
        <p:spPr>
          <a:xfrm>
            <a:off x="6035040" y="4306824"/>
            <a:ext cx="1280160" cy="274320"/>
          </a:xfrm>
          <a:prstGeom prst="rect">
            <a:avLst/>
          </a:prstGeom>
          <a:noFill/>
          <a:ln/>
        </p:spPr>
        <p:txBody>
          <a:bodyPr wrap="square" lIns="0" tIns="0" rIns="0" bIns="0" rtlCol="0" anchor="ctr"/>
          <a:lstStyle/>
          <a:p>
            <a:pPr algn="ctr" indent="0" marL="0">
              <a:buNone/>
            </a:pPr>
            <a:r>
              <a:rPr lang="en-US" sz="1050" dirty="0">
                <a:solidFill>
                  <a:srgbClr val="64748B"/>
                </a:solidFill>
                <a:latin typeface="Calibri" pitchFamily="34" charset="0"/>
                <a:ea typeface="Calibri" pitchFamily="34" charset="-122"/>
                <a:cs typeface="Calibri" pitchFamily="34" charset="-120"/>
              </a:rPr>
              <a:t>GPU FP32</a:t>
            </a:r>
            <a:endParaRPr lang="en-US" sz="1050" dirty="0"/>
          </a:p>
        </p:txBody>
      </p:sp>
      <p:sp>
        <p:nvSpPr>
          <p:cNvPr id="45" name="Text 43"/>
          <p:cNvSpPr/>
          <p:nvPr/>
        </p:nvSpPr>
        <p:spPr>
          <a:xfrm>
            <a:off x="7406640" y="4306824"/>
            <a:ext cx="1188720" cy="274320"/>
          </a:xfrm>
          <a:prstGeom prst="rect">
            <a:avLst/>
          </a:prstGeom>
          <a:noFill/>
          <a:ln/>
        </p:spPr>
        <p:txBody>
          <a:bodyPr wrap="square" lIns="0" tIns="0" rIns="0" bIns="0" rtlCol="0" anchor="ctr"/>
          <a:lstStyle/>
          <a:p>
            <a:pPr algn="r" indent="0" marL="0">
              <a:buNone/>
            </a:pPr>
            <a:r>
              <a:rPr lang="en-US" sz="1050" b="1" dirty="0">
                <a:solidFill>
                  <a:srgbClr val="10B981"/>
                </a:solidFill>
                <a:latin typeface="Calibri" pitchFamily="34" charset="0"/>
                <a:ea typeface="Calibri" pitchFamily="34" charset="-122"/>
                <a:cs typeface="Calibri" pitchFamily="34" charset="-120"/>
              </a:rPr>
              <a:t>~0.35ms</a:t>
            </a:r>
            <a:endParaRPr lang="en-US" sz="1050" dirty="0"/>
          </a:p>
        </p:txBody>
      </p:sp>
      <p:sp>
        <p:nvSpPr>
          <p:cNvPr id="46" name="Shape 44"/>
          <p:cNvSpPr/>
          <p:nvPr/>
        </p:nvSpPr>
        <p:spPr>
          <a:xfrm>
            <a:off x="457200" y="4718304"/>
            <a:ext cx="8229600" cy="402336"/>
          </a:xfrm>
          <a:prstGeom prst="roundRect">
            <a:avLst>
              <a:gd name="adj" fmla="val 11364"/>
            </a:avLst>
          </a:prstGeom>
          <a:solidFill>
            <a:srgbClr val="111D2E"/>
          </a:solidFill>
          <a:ln/>
        </p:spPr>
      </p:sp>
      <p:sp>
        <p:nvSpPr>
          <p:cNvPr id="47" name="Text 45"/>
          <p:cNvSpPr/>
          <p:nvPr/>
        </p:nvSpPr>
        <p:spPr>
          <a:xfrm>
            <a:off x="566928" y="4718304"/>
            <a:ext cx="320040" cy="402336"/>
          </a:xfrm>
          <a:prstGeom prst="rect">
            <a:avLst/>
          </a:prstGeom>
          <a:noFill/>
          <a:ln/>
        </p:spPr>
        <p:txBody>
          <a:bodyPr wrap="square" lIns="0" tIns="0" rIns="0" bIns="0" rtlCol="0" anchor="ctr"/>
          <a:lstStyle/>
          <a:p>
            <a:pPr algn="ctr" indent="0" marL="0">
              <a:buNone/>
            </a:pPr>
            <a:r>
              <a:rPr lang="en-US" sz="1100" b="1" dirty="0">
                <a:solidFill>
                  <a:srgbClr val="00D4FF"/>
                </a:solidFill>
                <a:latin typeface="Calibri" pitchFamily="34" charset="0"/>
                <a:ea typeface="Calibri" pitchFamily="34" charset="-122"/>
                <a:cs typeface="Calibri" pitchFamily="34" charset="-120"/>
              </a:rPr>
              <a:t>9</a:t>
            </a:r>
            <a:endParaRPr lang="en-US" sz="1100" dirty="0"/>
          </a:p>
        </p:txBody>
      </p:sp>
      <p:sp>
        <p:nvSpPr>
          <p:cNvPr id="48" name="Text 46"/>
          <p:cNvSpPr/>
          <p:nvPr/>
        </p:nvSpPr>
        <p:spPr>
          <a:xfrm>
            <a:off x="960120" y="4773168"/>
            <a:ext cx="5029200" cy="2743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Decision engine + alert routing</a:t>
            </a:r>
            <a:endParaRPr lang="en-US" sz="1100" dirty="0"/>
          </a:p>
        </p:txBody>
      </p:sp>
      <p:sp>
        <p:nvSpPr>
          <p:cNvPr id="49" name="Text 47"/>
          <p:cNvSpPr/>
          <p:nvPr/>
        </p:nvSpPr>
        <p:spPr>
          <a:xfrm>
            <a:off x="6035040" y="4773168"/>
            <a:ext cx="1280160" cy="274320"/>
          </a:xfrm>
          <a:prstGeom prst="rect">
            <a:avLst/>
          </a:prstGeom>
          <a:noFill/>
          <a:ln/>
        </p:spPr>
        <p:txBody>
          <a:bodyPr wrap="square" lIns="0" tIns="0" rIns="0" bIns="0" rtlCol="0" anchor="ctr"/>
          <a:lstStyle/>
          <a:p>
            <a:pPr algn="ctr" indent="0" marL="0">
              <a:buNone/>
            </a:pPr>
            <a:r>
              <a:rPr lang="en-US" sz="1050" dirty="0">
                <a:solidFill>
                  <a:srgbClr val="64748B"/>
                </a:solidFill>
                <a:latin typeface="Calibri" pitchFamily="34" charset="0"/>
                <a:ea typeface="Calibri" pitchFamily="34" charset="-122"/>
                <a:cs typeface="Calibri" pitchFamily="34" charset="-120"/>
              </a:rPr>
              <a:t>CPU</a:t>
            </a:r>
            <a:endParaRPr lang="en-US" sz="1050" dirty="0"/>
          </a:p>
        </p:txBody>
      </p:sp>
      <p:sp>
        <p:nvSpPr>
          <p:cNvPr id="50" name="Text 48"/>
          <p:cNvSpPr/>
          <p:nvPr/>
        </p:nvSpPr>
        <p:spPr>
          <a:xfrm>
            <a:off x="7406640" y="4773168"/>
            <a:ext cx="1188720" cy="274320"/>
          </a:xfrm>
          <a:prstGeom prst="rect">
            <a:avLst/>
          </a:prstGeom>
          <a:noFill/>
          <a:ln/>
        </p:spPr>
        <p:txBody>
          <a:bodyPr wrap="square" lIns="0" tIns="0" rIns="0" bIns="0" rtlCol="0" anchor="ctr"/>
          <a:lstStyle/>
          <a:p>
            <a:pPr algn="r" indent="0" marL="0">
              <a:buNone/>
            </a:pPr>
            <a:r>
              <a:rPr lang="en-US" sz="1050" b="1" dirty="0">
                <a:solidFill>
                  <a:srgbClr val="10B981"/>
                </a:solidFill>
                <a:latin typeface="Calibri" pitchFamily="34" charset="0"/>
                <a:ea typeface="Calibri" pitchFamily="34" charset="-122"/>
                <a:cs typeface="Calibri" pitchFamily="34" charset="-120"/>
              </a:rPr>
              <a:t>~2.3ms</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5 · MAIN MODEL ARCHITECTURE</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Advantages of the Hybrid Architecture</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87552"/>
            <a:ext cx="4023360" cy="1444752"/>
          </a:xfrm>
          <a:prstGeom prst="roundRect">
            <a:avLst>
              <a:gd name="adj" fmla="val 5063"/>
            </a:avLst>
          </a:prstGeom>
          <a:solidFill>
            <a:srgbClr val="111D2E"/>
          </a:solidFill>
          <a:ln/>
        </p:spPr>
      </p:sp>
      <p:sp>
        <p:nvSpPr>
          <p:cNvPr id="7" name="Text 5"/>
          <p:cNvSpPr/>
          <p:nvPr/>
        </p:nvSpPr>
        <p:spPr>
          <a:xfrm>
            <a:off x="566928" y="1078992"/>
            <a:ext cx="3794760" cy="274320"/>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vs. Spatial-Only (ResNet)</a:t>
            </a:r>
            <a:endParaRPr lang="en-US" sz="1200" dirty="0"/>
          </a:p>
        </p:txBody>
      </p:sp>
      <p:sp>
        <p:nvSpPr>
          <p:cNvPr id="8" name="Text 6"/>
          <p:cNvSpPr/>
          <p:nvPr/>
        </p:nvSpPr>
        <p:spPr>
          <a:xfrm>
            <a:off x="566928" y="1408176"/>
            <a:ext cx="3794760" cy="950976"/>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Adding the R(2+1)D temporal branch captures motion dynamics invisible to static frame analysis — velocity, direction, kinematic patterns — preventing misclassification of static-posture crimes.</a:t>
            </a:r>
            <a:endParaRPr lang="en-US" sz="1100" dirty="0"/>
          </a:p>
        </p:txBody>
      </p:sp>
      <p:sp>
        <p:nvSpPr>
          <p:cNvPr id="9" name="Shape 7"/>
          <p:cNvSpPr/>
          <p:nvPr/>
        </p:nvSpPr>
        <p:spPr>
          <a:xfrm>
            <a:off x="4800600" y="987552"/>
            <a:ext cx="4023360" cy="1444752"/>
          </a:xfrm>
          <a:prstGeom prst="roundRect">
            <a:avLst>
              <a:gd name="adj" fmla="val 5063"/>
            </a:avLst>
          </a:prstGeom>
          <a:solidFill>
            <a:srgbClr val="111D2E"/>
          </a:solidFill>
          <a:ln/>
        </p:spPr>
      </p:sp>
      <p:sp>
        <p:nvSpPr>
          <p:cNvPr id="10" name="Text 8"/>
          <p:cNvSpPr/>
          <p:nvPr/>
        </p:nvSpPr>
        <p:spPr>
          <a:xfrm>
            <a:off x="4910328" y="1078992"/>
            <a:ext cx="3794760" cy="274320"/>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vs. Temporal-Only (R(2+1)D)</a:t>
            </a:r>
            <a:endParaRPr lang="en-US" sz="1200" dirty="0"/>
          </a:p>
        </p:txBody>
      </p:sp>
      <p:sp>
        <p:nvSpPr>
          <p:cNvPr id="11" name="Text 9"/>
          <p:cNvSpPr/>
          <p:nvPr/>
        </p:nvSpPr>
        <p:spPr>
          <a:xfrm>
            <a:off x="4910328" y="1408176"/>
            <a:ext cx="3794760" cy="950976"/>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ResNet-50 provides scene context and object identity — preventing motion-only models from confusing jogging with a chase scene, or a waving hand with an assault.</a:t>
            </a:r>
            <a:endParaRPr lang="en-US" sz="1100" dirty="0"/>
          </a:p>
        </p:txBody>
      </p:sp>
      <p:sp>
        <p:nvSpPr>
          <p:cNvPr id="12" name="Shape 10"/>
          <p:cNvSpPr/>
          <p:nvPr/>
        </p:nvSpPr>
        <p:spPr>
          <a:xfrm>
            <a:off x="457200" y="2587752"/>
            <a:ext cx="4023360" cy="1444752"/>
          </a:xfrm>
          <a:prstGeom prst="roundRect">
            <a:avLst>
              <a:gd name="adj" fmla="val 5063"/>
            </a:avLst>
          </a:prstGeom>
          <a:solidFill>
            <a:srgbClr val="111D2E"/>
          </a:solidFill>
          <a:ln/>
        </p:spPr>
      </p:sp>
      <p:sp>
        <p:nvSpPr>
          <p:cNvPr id="13" name="Text 11"/>
          <p:cNvSpPr/>
          <p:nvPr/>
        </p:nvSpPr>
        <p:spPr>
          <a:xfrm>
            <a:off x="566928" y="2679192"/>
            <a:ext cx="3794760" cy="274320"/>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vs. LSTM Sequences</a:t>
            </a:r>
            <a:endParaRPr lang="en-US" sz="1200" dirty="0"/>
          </a:p>
        </p:txBody>
      </p:sp>
      <p:sp>
        <p:nvSpPr>
          <p:cNvPr id="14" name="Text 12"/>
          <p:cNvSpPr/>
          <p:nvPr/>
        </p:nvSpPr>
        <p:spPr>
          <a:xfrm>
            <a:off x="566928" y="3008376"/>
            <a:ext cx="3794760" cy="950976"/>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ViT attention processes all 8 clips simultaneously in parallel — capturing non-adjacent temporal relationships (clip 1 ↔ clip 8) that LSTM step-by-step processing would dilute.</a:t>
            </a:r>
            <a:endParaRPr lang="en-US" sz="1100" dirty="0"/>
          </a:p>
        </p:txBody>
      </p:sp>
      <p:sp>
        <p:nvSpPr>
          <p:cNvPr id="15" name="Shape 13"/>
          <p:cNvSpPr/>
          <p:nvPr/>
        </p:nvSpPr>
        <p:spPr>
          <a:xfrm>
            <a:off x="4800600" y="2587752"/>
            <a:ext cx="4023360" cy="1444752"/>
          </a:xfrm>
          <a:prstGeom prst="roundRect">
            <a:avLst>
              <a:gd name="adj" fmla="val 5063"/>
            </a:avLst>
          </a:prstGeom>
          <a:solidFill>
            <a:srgbClr val="111D2E"/>
          </a:solidFill>
          <a:ln/>
        </p:spPr>
      </p:sp>
      <p:sp>
        <p:nvSpPr>
          <p:cNvPr id="16" name="Text 14"/>
          <p:cNvSpPr/>
          <p:nvPr/>
        </p:nvSpPr>
        <p:spPr>
          <a:xfrm>
            <a:off x="4910328" y="2679192"/>
            <a:ext cx="3794760" cy="274320"/>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vs. Full 3D CNN (I3D)</a:t>
            </a:r>
            <a:endParaRPr lang="en-US" sz="1200" dirty="0"/>
          </a:p>
        </p:txBody>
      </p:sp>
      <p:sp>
        <p:nvSpPr>
          <p:cNvPr id="17" name="Text 15"/>
          <p:cNvSpPr/>
          <p:nvPr/>
        </p:nvSpPr>
        <p:spPr>
          <a:xfrm>
            <a:off x="4910328" y="3008376"/>
            <a:ext cx="3794760" cy="950976"/>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R(2+1)D factorization achieves comparable motion representation at lower parameter cost. I3D has 3× parameters and 3× latency with only marginal accuracy gain.</a:t>
            </a:r>
            <a:endParaRPr lang="en-US" sz="1100" dirty="0"/>
          </a:p>
        </p:txBody>
      </p:sp>
      <p:sp>
        <p:nvSpPr>
          <p:cNvPr id="18" name="Shape 16"/>
          <p:cNvSpPr/>
          <p:nvPr/>
        </p:nvSpPr>
        <p:spPr>
          <a:xfrm>
            <a:off x="2395728" y="4187952"/>
            <a:ext cx="4023360" cy="1444752"/>
          </a:xfrm>
          <a:prstGeom prst="roundRect">
            <a:avLst>
              <a:gd name="adj" fmla="val 5063"/>
            </a:avLst>
          </a:prstGeom>
          <a:solidFill>
            <a:srgbClr val="111D2E"/>
          </a:solidFill>
          <a:ln/>
        </p:spPr>
      </p:sp>
      <p:sp>
        <p:nvSpPr>
          <p:cNvPr id="19" name="Text 17"/>
          <p:cNvSpPr/>
          <p:nvPr/>
        </p:nvSpPr>
        <p:spPr>
          <a:xfrm>
            <a:off x="2505456" y="4279392"/>
            <a:ext cx="3794760" cy="274320"/>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vs. EfficientNet (Trial)</a:t>
            </a:r>
            <a:endParaRPr lang="en-US" sz="1200" dirty="0"/>
          </a:p>
        </p:txBody>
      </p:sp>
      <p:sp>
        <p:nvSpPr>
          <p:cNvPr id="20" name="Text 18"/>
          <p:cNvSpPr/>
          <p:nvPr/>
        </p:nvSpPr>
        <p:spPr>
          <a:xfrm>
            <a:off x="2505456" y="4608576"/>
            <a:ext cx="3794760" cy="950976"/>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Hybrid adds 8.4% accuracy over EfficientNet while maintaining real-time performance. The temporal branch and ViT provide discrimination EfficientNet lacks.</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6 · EFFICIENTNET TRIAL</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EfficientNet Trial Model — Overview</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60120"/>
            <a:ext cx="8229600" cy="777240"/>
          </a:xfrm>
          <a:prstGeom prst="roundRect">
            <a:avLst>
              <a:gd name="adj" fmla="val 8235"/>
            </a:avLst>
          </a:prstGeom>
          <a:solidFill>
            <a:srgbClr val="1E3A5F"/>
          </a:solidFill>
          <a:ln/>
        </p:spPr>
      </p:sp>
      <p:sp>
        <p:nvSpPr>
          <p:cNvPr id="7" name="Text 5"/>
          <p:cNvSpPr/>
          <p:nvPr/>
        </p:nvSpPr>
        <p:spPr>
          <a:xfrm>
            <a:off x="566928" y="1024128"/>
            <a:ext cx="7955280" cy="64008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Important Framing: </a:t>
            </a:r>
            <a:pPr indent="0" marL="0">
              <a:buNone/>
            </a:pPr>
            <a:r>
              <a:rPr lang="en-US" sz="1200" dirty="0">
                <a:solidFill>
                  <a:srgbClr val="FFFFFF"/>
                </a:solidFill>
                <a:latin typeface="Calibri" pitchFamily="34" charset="0"/>
                <a:ea typeface="Calibri" pitchFamily="34" charset="-122"/>
                <a:cs typeface="Calibri" pitchFamily="34" charset="-120"/>
              </a:rPr>
              <a:t>EfficientNet-B0 was evaluated as a candidate trial model. It was NOT adopted in the final deployed system. The production system uses the ResNet-50 + R(2+1)D + ViT hybrid architecture.</a:t>
            </a:r>
            <a:endParaRPr lang="en-US" sz="1200" dirty="0"/>
          </a:p>
        </p:txBody>
      </p:sp>
      <p:sp>
        <p:nvSpPr>
          <p:cNvPr id="8" name="Shape 6"/>
          <p:cNvSpPr/>
          <p:nvPr/>
        </p:nvSpPr>
        <p:spPr>
          <a:xfrm>
            <a:off x="457200" y="1920240"/>
            <a:ext cx="4023360" cy="1353312"/>
          </a:xfrm>
          <a:prstGeom prst="roundRect">
            <a:avLst>
              <a:gd name="adj" fmla="val 5405"/>
            </a:avLst>
          </a:prstGeom>
          <a:solidFill>
            <a:srgbClr val="111D2E"/>
          </a:solidFill>
          <a:ln/>
          <a:effectLst>
            <a:outerShdw sx="100000" sy="100000" kx="0" ky="0" algn="bl" rotWithShape="0" blurRad="101600" dist="25400" dir="2700000">
              <a:srgbClr val="000000">
                <a:alpha val="25000"/>
              </a:srgbClr>
            </a:outerShdw>
          </a:effectLst>
        </p:spPr>
      </p:sp>
      <p:sp>
        <p:nvSpPr>
          <p:cNvPr id="9" name="Text 7"/>
          <p:cNvSpPr/>
          <p:nvPr/>
        </p:nvSpPr>
        <p:spPr>
          <a:xfrm>
            <a:off x="566928" y="1993392"/>
            <a:ext cx="3803904" cy="27432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Architecture</a:t>
            </a:r>
            <a:endParaRPr lang="en-US" sz="1200" dirty="0"/>
          </a:p>
        </p:txBody>
      </p:sp>
      <p:sp>
        <p:nvSpPr>
          <p:cNvPr id="10" name="Text 8"/>
          <p:cNvSpPr/>
          <p:nvPr/>
        </p:nvSpPr>
        <p:spPr>
          <a:xfrm>
            <a:off x="566928" y="2304288"/>
            <a:ext cx="3803904" cy="850392"/>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EfficientNet-B0 with compound scaling — uniformly scales depth, width, and resolution with a fixed set of coefficients.</a:t>
            </a:r>
            <a:endParaRPr lang="en-US" sz="1100" dirty="0"/>
          </a:p>
        </p:txBody>
      </p:sp>
      <p:sp>
        <p:nvSpPr>
          <p:cNvPr id="11" name="Shape 9"/>
          <p:cNvSpPr/>
          <p:nvPr/>
        </p:nvSpPr>
        <p:spPr>
          <a:xfrm>
            <a:off x="4800600" y="1920240"/>
            <a:ext cx="4023360" cy="1353312"/>
          </a:xfrm>
          <a:prstGeom prst="roundRect">
            <a:avLst>
              <a:gd name="adj" fmla="val 5405"/>
            </a:avLst>
          </a:prstGeom>
          <a:solidFill>
            <a:srgbClr val="111D2E"/>
          </a:solidFill>
          <a:ln/>
          <a:effectLst>
            <a:outerShdw sx="100000" sy="100000" kx="0" ky="0" algn="bl" rotWithShape="0" blurRad="101600" dist="25400" dir="2700000">
              <a:srgbClr val="000000">
                <a:alpha val="25000"/>
              </a:srgbClr>
            </a:outerShdw>
          </a:effectLst>
        </p:spPr>
      </p:sp>
      <p:sp>
        <p:nvSpPr>
          <p:cNvPr id="12" name="Text 10"/>
          <p:cNvSpPr/>
          <p:nvPr/>
        </p:nvSpPr>
        <p:spPr>
          <a:xfrm>
            <a:off x="4910328" y="1993392"/>
            <a:ext cx="3803904" cy="27432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Why Evaluated</a:t>
            </a:r>
            <a:endParaRPr lang="en-US" sz="1200" dirty="0"/>
          </a:p>
        </p:txBody>
      </p:sp>
      <p:sp>
        <p:nvSpPr>
          <p:cNvPr id="13" name="Text 11"/>
          <p:cNvSpPr/>
          <p:nvPr/>
        </p:nvSpPr>
        <p:spPr>
          <a:xfrm>
            <a:off x="4910328" y="2304288"/>
            <a:ext cx="3803904" cy="850392"/>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EfficientNet was evaluated as a lightweight alternative offering good accuracy-per-parameter tradeoff compared to ResNet-50 alone.</a:t>
            </a:r>
            <a:endParaRPr lang="en-US" sz="1100" dirty="0"/>
          </a:p>
        </p:txBody>
      </p:sp>
      <p:sp>
        <p:nvSpPr>
          <p:cNvPr id="14" name="Shape 12"/>
          <p:cNvSpPr/>
          <p:nvPr/>
        </p:nvSpPr>
        <p:spPr>
          <a:xfrm>
            <a:off x="457200" y="3429000"/>
            <a:ext cx="4023360" cy="1353312"/>
          </a:xfrm>
          <a:prstGeom prst="roundRect">
            <a:avLst>
              <a:gd name="adj" fmla="val 5405"/>
            </a:avLst>
          </a:prstGeom>
          <a:solidFill>
            <a:srgbClr val="111D2E"/>
          </a:solidFill>
          <a:ln/>
          <a:effectLst>
            <a:outerShdw sx="100000" sy="100000" kx="0" ky="0" algn="bl" rotWithShape="0" blurRad="101600" dist="25400" dir="2700000">
              <a:srgbClr val="000000">
                <a:alpha val="25000"/>
              </a:srgbClr>
            </a:outerShdw>
          </a:effectLst>
        </p:spPr>
      </p:sp>
      <p:sp>
        <p:nvSpPr>
          <p:cNvPr id="15" name="Text 13"/>
          <p:cNvSpPr/>
          <p:nvPr/>
        </p:nvSpPr>
        <p:spPr>
          <a:xfrm>
            <a:off x="566928" y="3502152"/>
            <a:ext cx="3803904" cy="27432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Configuration</a:t>
            </a:r>
            <a:endParaRPr lang="en-US" sz="1200" dirty="0"/>
          </a:p>
        </p:txBody>
      </p:sp>
      <p:sp>
        <p:nvSpPr>
          <p:cNvPr id="16" name="Text 14"/>
          <p:cNvSpPr/>
          <p:nvPr/>
        </p:nvSpPr>
        <p:spPr>
          <a:xfrm>
            <a:off x="566928" y="3813048"/>
            <a:ext cx="3803904" cy="850392"/>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Spatial-only branch (no temporal modeling). Pre-trained on ImageNet. Fine-tuned on UCF-Crime merged 9-class dataset.</a:t>
            </a:r>
            <a:endParaRPr lang="en-US" sz="1100" dirty="0"/>
          </a:p>
        </p:txBody>
      </p:sp>
      <p:sp>
        <p:nvSpPr>
          <p:cNvPr id="17" name="Shape 15"/>
          <p:cNvSpPr/>
          <p:nvPr/>
        </p:nvSpPr>
        <p:spPr>
          <a:xfrm>
            <a:off x="4800600" y="3429000"/>
            <a:ext cx="4023360" cy="1353312"/>
          </a:xfrm>
          <a:prstGeom prst="roundRect">
            <a:avLst>
              <a:gd name="adj" fmla="val 5405"/>
            </a:avLst>
          </a:prstGeom>
          <a:solidFill>
            <a:srgbClr val="111D2E"/>
          </a:solidFill>
          <a:ln/>
          <a:effectLst>
            <a:outerShdw sx="100000" sy="100000" kx="0" ky="0" algn="bl" rotWithShape="0" blurRad="101600" dist="25400" dir="2700000">
              <a:srgbClr val="000000">
                <a:alpha val="25000"/>
              </a:srgbClr>
            </a:outerShdw>
          </a:effectLst>
        </p:spPr>
      </p:sp>
      <p:sp>
        <p:nvSpPr>
          <p:cNvPr id="18" name="Text 16"/>
          <p:cNvSpPr/>
          <p:nvPr/>
        </p:nvSpPr>
        <p:spPr>
          <a:xfrm>
            <a:off x="4910328" y="3502152"/>
            <a:ext cx="3803904" cy="27432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Key Limitation</a:t>
            </a:r>
            <a:endParaRPr lang="en-US" sz="1200" dirty="0"/>
          </a:p>
        </p:txBody>
      </p:sp>
      <p:sp>
        <p:nvSpPr>
          <p:cNvPr id="19" name="Text 17"/>
          <p:cNvSpPr/>
          <p:nvPr/>
        </p:nvSpPr>
        <p:spPr>
          <a:xfrm>
            <a:off x="4910328" y="3813048"/>
            <a:ext cx="3803904" cy="850392"/>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No temporal branch — captures static appearance only. Cannot model motion dynamics, velocity, or sequential behavioral patterns critical for video anomaly detection.</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6 · EFFICIENTNET TRIAL</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EfficientNet-B0 Architecture</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1005840"/>
            <a:ext cx="4023360" cy="1764792"/>
          </a:xfrm>
          <a:prstGeom prst="roundRect">
            <a:avLst>
              <a:gd name="adj" fmla="val 4145"/>
            </a:avLst>
          </a:prstGeom>
          <a:solidFill>
            <a:srgbClr val="111D2E"/>
          </a:solidFill>
          <a:ln/>
        </p:spPr>
      </p:sp>
      <p:sp>
        <p:nvSpPr>
          <p:cNvPr id="7" name="Text 5"/>
          <p:cNvSpPr/>
          <p:nvPr/>
        </p:nvSpPr>
        <p:spPr>
          <a:xfrm>
            <a:off x="566928" y="1097280"/>
            <a:ext cx="3794760" cy="27432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Compound Scaling</a:t>
            </a:r>
            <a:endParaRPr lang="en-US" sz="1200" dirty="0"/>
          </a:p>
        </p:txBody>
      </p:sp>
      <p:sp>
        <p:nvSpPr>
          <p:cNvPr id="8" name="Text 6"/>
          <p:cNvSpPr/>
          <p:nvPr/>
        </p:nvSpPr>
        <p:spPr>
          <a:xfrm>
            <a:off x="566928" y="1444752"/>
            <a:ext cx="3794760" cy="123444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Uniformly scales depth (d), width (w), resolution (r) with constraints: d=αᵠ, w=βᵠ, r=γᵠ  where α·β²·γ² ≈ 2. Enables consistent scaling without grid search.</a:t>
            </a:r>
            <a:endParaRPr lang="en-US" sz="1100" dirty="0"/>
          </a:p>
        </p:txBody>
      </p:sp>
      <p:sp>
        <p:nvSpPr>
          <p:cNvPr id="9" name="Shape 7"/>
          <p:cNvSpPr/>
          <p:nvPr/>
        </p:nvSpPr>
        <p:spPr>
          <a:xfrm>
            <a:off x="4800600" y="1005840"/>
            <a:ext cx="4023360" cy="1764792"/>
          </a:xfrm>
          <a:prstGeom prst="roundRect">
            <a:avLst>
              <a:gd name="adj" fmla="val 4145"/>
            </a:avLst>
          </a:prstGeom>
          <a:solidFill>
            <a:srgbClr val="111D2E"/>
          </a:solidFill>
          <a:ln/>
        </p:spPr>
      </p:sp>
      <p:sp>
        <p:nvSpPr>
          <p:cNvPr id="10" name="Text 8"/>
          <p:cNvSpPr/>
          <p:nvPr/>
        </p:nvSpPr>
        <p:spPr>
          <a:xfrm>
            <a:off x="4910328" y="1097280"/>
            <a:ext cx="3794760" cy="27432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MBConv Blocks</a:t>
            </a:r>
            <a:endParaRPr lang="en-US" sz="1200" dirty="0"/>
          </a:p>
        </p:txBody>
      </p:sp>
      <p:sp>
        <p:nvSpPr>
          <p:cNvPr id="11" name="Text 9"/>
          <p:cNvSpPr/>
          <p:nvPr/>
        </p:nvSpPr>
        <p:spPr>
          <a:xfrm>
            <a:off x="4910328" y="1444752"/>
            <a:ext cx="3794760" cy="123444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Mobile Inverted Bottleneck Convolutions with Squeeze-and-Excitation (SE) attention. B0 has 7 stages with increasing channel counts.</a:t>
            </a:r>
            <a:endParaRPr lang="en-US" sz="1100" dirty="0"/>
          </a:p>
        </p:txBody>
      </p:sp>
      <p:sp>
        <p:nvSpPr>
          <p:cNvPr id="12" name="Shape 10"/>
          <p:cNvSpPr/>
          <p:nvPr/>
        </p:nvSpPr>
        <p:spPr>
          <a:xfrm>
            <a:off x="457200" y="2926080"/>
            <a:ext cx="4023360" cy="1764792"/>
          </a:xfrm>
          <a:prstGeom prst="roundRect">
            <a:avLst>
              <a:gd name="adj" fmla="val 4145"/>
            </a:avLst>
          </a:prstGeom>
          <a:solidFill>
            <a:srgbClr val="111D2E"/>
          </a:solidFill>
          <a:ln/>
        </p:spPr>
      </p:sp>
      <p:sp>
        <p:nvSpPr>
          <p:cNvPr id="13" name="Text 11"/>
          <p:cNvSpPr/>
          <p:nvPr/>
        </p:nvSpPr>
        <p:spPr>
          <a:xfrm>
            <a:off x="566928" y="3017520"/>
            <a:ext cx="3794760" cy="27432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Input/Output</a:t>
            </a:r>
            <a:endParaRPr lang="en-US" sz="1200" dirty="0"/>
          </a:p>
        </p:txBody>
      </p:sp>
      <p:sp>
        <p:nvSpPr>
          <p:cNvPr id="14" name="Text 12"/>
          <p:cNvSpPr/>
          <p:nvPr/>
        </p:nvSpPr>
        <p:spPr>
          <a:xfrm>
            <a:off x="566928" y="3364992"/>
            <a:ext cx="3794760" cy="123444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Input: 224×224×3 frame. SE blocks apply channel-wise feature recalibration. Final GAP → 1280-D embedding → linear → 9 classes.</a:t>
            </a:r>
            <a:endParaRPr lang="en-US" sz="1100" dirty="0"/>
          </a:p>
        </p:txBody>
      </p:sp>
      <p:sp>
        <p:nvSpPr>
          <p:cNvPr id="15" name="Shape 13"/>
          <p:cNvSpPr/>
          <p:nvPr/>
        </p:nvSpPr>
        <p:spPr>
          <a:xfrm>
            <a:off x="4800600" y="2926080"/>
            <a:ext cx="4023360" cy="1764792"/>
          </a:xfrm>
          <a:prstGeom prst="roundRect">
            <a:avLst>
              <a:gd name="adj" fmla="val 4145"/>
            </a:avLst>
          </a:prstGeom>
          <a:solidFill>
            <a:srgbClr val="111D2E"/>
          </a:solidFill>
          <a:ln/>
        </p:spPr>
      </p:sp>
      <p:sp>
        <p:nvSpPr>
          <p:cNvPr id="16" name="Text 14"/>
          <p:cNvSpPr/>
          <p:nvPr/>
        </p:nvSpPr>
        <p:spPr>
          <a:xfrm>
            <a:off x="4910328" y="3017520"/>
            <a:ext cx="3794760" cy="27432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Trial Configuration</a:t>
            </a:r>
            <a:endParaRPr lang="en-US" sz="1200" dirty="0"/>
          </a:p>
        </p:txBody>
      </p:sp>
      <p:sp>
        <p:nvSpPr>
          <p:cNvPr id="17" name="Text 15"/>
          <p:cNvSpPr/>
          <p:nvPr/>
        </p:nvSpPr>
        <p:spPr>
          <a:xfrm>
            <a:off x="4910328" y="3364992"/>
            <a:ext cx="3794760" cy="123444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Pre-trained ImageNet weights. Upper 3 stages unfrozen for fine-tuning. AdamW optimizer, cosine LR schedule, 60-epoch budget, label smoothing α=0.1.</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6 · EFFICIENTNET TRIAL</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EfficientNet Trial — Training Configuration</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1371600" y="960120"/>
          <a:ext cx="6400800" cy="4069080"/>
        </p:xfrm>
        <a:graphic>
          <a:graphicData uri="http://schemas.openxmlformats.org/drawingml/2006/table">
            <a:tbl>
              <a:tblPr/>
              <a:tblGrid>
                <a:gridCol w="2743200"/>
                <a:gridCol w="3657600"/>
              </a:tblGrid>
              <a:tr h="35661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Parameter</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Value</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r>
              <a:tr h="356616">
                <a:tc>
                  <a:txBody>
                    <a:bodyPr/>
                    <a:lstStyle/>
                    <a:p>
                      <a:pPr indent="0" marL="0">
                        <a:buNone/>
                      </a:pPr>
                      <a:r>
                        <a:rPr lang="en-US" sz="1150" dirty="0">
                          <a:solidFill>
                            <a:srgbClr val="CBD5E1"/>
                          </a:solidFill>
                          <a:latin typeface="Calibri" pitchFamily="34" charset="0"/>
                          <a:ea typeface="Calibri" pitchFamily="34" charset="-122"/>
                          <a:cs typeface="Calibri" pitchFamily="34" charset="-120"/>
                        </a:rPr>
                        <a:t>Optimizer</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50" dirty="0">
                          <a:solidFill>
                            <a:srgbClr val="CBD5E1"/>
                          </a:solidFill>
                          <a:latin typeface="Calibri" pitchFamily="34" charset="0"/>
                          <a:ea typeface="Calibri" pitchFamily="34" charset="-122"/>
                          <a:cs typeface="Calibri" pitchFamily="34" charset="-120"/>
                        </a:rPr>
                        <a:t>AdamW  (lr=1e-4, weight_decay=1e-5)</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356616">
                <a:tc>
                  <a:txBody>
                    <a:bodyPr/>
                    <a:lstStyle/>
                    <a:p>
                      <a:pPr indent="0" marL="0">
                        <a:buNone/>
                      </a:pPr>
                      <a:r>
                        <a:rPr lang="en-US" sz="1150" dirty="0">
                          <a:solidFill>
                            <a:srgbClr val="CBD5E1"/>
                          </a:solidFill>
                          <a:latin typeface="Calibri" pitchFamily="34" charset="0"/>
                          <a:ea typeface="Calibri" pitchFamily="34" charset="-122"/>
                          <a:cs typeface="Calibri" pitchFamily="34" charset="-120"/>
                        </a:rPr>
                        <a:t>Learning Rate Schedule</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50" dirty="0">
                          <a:solidFill>
                            <a:srgbClr val="CBD5E1"/>
                          </a:solidFill>
                          <a:latin typeface="Calibri" pitchFamily="34" charset="0"/>
                          <a:ea typeface="Calibri" pitchFamily="34" charset="-122"/>
                          <a:cs typeface="Calibri" pitchFamily="34" charset="-120"/>
                        </a:rPr>
                        <a:t>Cosine annealing, T_max=60 epochs</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356616">
                <a:tc>
                  <a:txBody>
                    <a:bodyPr/>
                    <a:lstStyle/>
                    <a:p>
                      <a:pPr indent="0" marL="0">
                        <a:buNone/>
                      </a:pPr>
                      <a:r>
                        <a:rPr lang="en-US" sz="1150" dirty="0">
                          <a:solidFill>
                            <a:srgbClr val="CBD5E1"/>
                          </a:solidFill>
                          <a:latin typeface="Calibri" pitchFamily="34" charset="0"/>
                          <a:ea typeface="Calibri" pitchFamily="34" charset="-122"/>
                          <a:cs typeface="Calibri" pitchFamily="34" charset="-120"/>
                        </a:rPr>
                        <a:t>Batch Size</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50" dirty="0">
                          <a:solidFill>
                            <a:srgbClr val="CBD5E1"/>
                          </a:solidFill>
                          <a:latin typeface="Calibri" pitchFamily="34" charset="0"/>
                          <a:ea typeface="Calibri" pitchFamily="34" charset="-122"/>
                          <a:cs typeface="Calibri" pitchFamily="34" charset="-120"/>
                        </a:rPr>
                        <a:t>32</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356616">
                <a:tc>
                  <a:txBody>
                    <a:bodyPr/>
                    <a:lstStyle/>
                    <a:p>
                      <a:pPr indent="0" marL="0">
                        <a:buNone/>
                      </a:pPr>
                      <a:r>
                        <a:rPr lang="en-US" sz="1150" dirty="0">
                          <a:solidFill>
                            <a:srgbClr val="CBD5E1"/>
                          </a:solidFill>
                          <a:latin typeface="Calibri" pitchFamily="34" charset="0"/>
                          <a:ea typeface="Calibri" pitchFamily="34" charset="-122"/>
                          <a:cs typeface="Calibri" pitchFamily="34" charset="-120"/>
                        </a:rPr>
                        <a:t>Dropout</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50" dirty="0">
                          <a:solidFill>
                            <a:srgbClr val="CBD5E1"/>
                          </a:solidFill>
                          <a:latin typeface="Calibri" pitchFamily="34" charset="0"/>
                          <a:ea typeface="Calibri" pitchFamily="34" charset="-122"/>
                          <a:cs typeface="Calibri" pitchFamily="34" charset="-120"/>
                        </a:rPr>
                        <a:t>0.3</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356616">
                <a:tc>
                  <a:txBody>
                    <a:bodyPr/>
                    <a:lstStyle/>
                    <a:p>
                      <a:pPr indent="0" marL="0">
                        <a:buNone/>
                      </a:pPr>
                      <a:r>
                        <a:rPr lang="en-US" sz="1150" dirty="0">
                          <a:solidFill>
                            <a:srgbClr val="CBD5E1"/>
                          </a:solidFill>
                          <a:latin typeface="Calibri" pitchFamily="34" charset="0"/>
                          <a:ea typeface="Calibri" pitchFamily="34" charset="-122"/>
                          <a:cs typeface="Calibri" pitchFamily="34" charset="-120"/>
                        </a:rPr>
                        <a:t>Epochs</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50" dirty="0">
                          <a:solidFill>
                            <a:srgbClr val="CBD5E1"/>
                          </a:solidFill>
                          <a:latin typeface="Calibri" pitchFamily="34" charset="0"/>
                          <a:ea typeface="Calibri" pitchFamily="34" charset="-122"/>
                          <a:cs typeface="Calibri" pitchFamily="34" charset="-120"/>
                        </a:rPr>
                        <a:t>60 (early stopping, patience=10)</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356616">
                <a:tc>
                  <a:txBody>
                    <a:bodyPr/>
                    <a:lstStyle/>
                    <a:p>
                      <a:pPr indent="0" marL="0">
                        <a:buNone/>
                      </a:pPr>
                      <a:r>
                        <a:rPr lang="en-US" sz="1150" dirty="0">
                          <a:solidFill>
                            <a:srgbClr val="CBD5E1"/>
                          </a:solidFill>
                          <a:latin typeface="Calibri" pitchFamily="34" charset="0"/>
                          <a:ea typeface="Calibri" pitchFamily="34" charset="-122"/>
                          <a:cs typeface="Calibri" pitchFamily="34" charset="-120"/>
                        </a:rPr>
                        <a:t>Loss Function</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50" dirty="0">
                          <a:solidFill>
                            <a:srgbClr val="CBD5E1"/>
                          </a:solidFill>
                          <a:latin typeface="Calibri" pitchFamily="34" charset="0"/>
                          <a:ea typeface="Calibri" pitchFamily="34" charset="-122"/>
                          <a:cs typeface="Calibri" pitchFamily="34" charset="-120"/>
                        </a:rPr>
                        <a:t>Cross-Entropy + label smoothing α=0.1</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356616">
                <a:tc>
                  <a:txBody>
                    <a:bodyPr/>
                    <a:lstStyle/>
                    <a:p>
                      <a:pPr indent="0" marL="0">
                        <a:buNone/>
                      </a:pPr>
                      <a:r>
                        <a:rPr lang="en-US" sz="1150" dirty="0">
                          <a:solidFill>
                            <a:srgbClr val="CBD5E1"/>
                          </a:solidFill>
                          <a:latin typeface="Calibri" pitchFamily="34" charset="0"/>
                          <a:ea typeface="Calibri" pitchFamily="34" charset="-122"/>
                          <a:cs typeface="Calibri" pitchFamily="34" charset="-120"/>
                        </a:rPr>
                        <a:t>Input Resolution</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50" dirty="0">
                          <a:solidFill>
                            <a:srgbClr val="CBD5E1"/>
                          </a:solidFill>
                          <a:latin typeface="Calibri" pitchFamily="34" charset="0"/>
                          <a:ea typeface="Calibri" pitchFamily="34" charset="-122"/>
                          <a:cs typeface="Calibri" pitchFamily="34" charset="-120"/>
                        </a:rPr>
                        <a:t>224×224×3</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356616">
                <a:tc>
                  <a:txBody>
                    <a:bodyPr/>
                    <a:lstStyle/>
                    <a:p>
                      <a:pPr indent="0" marL="0">
                        <a:buNone/>
                      </a:pPr>
                      <a:r>
                        <a:rPr lang="en-US" sz="1150" dirty="0">
                          <a:solidFill>
                            <a:srgbClr val="CBD5E1"/>
                          </a:solidFill>
                          <a:latin typeface="Calibri" pitchFamily="34" charset="0"/>
                          <a:ea typeface="Calibri" pitchFamily="34" charset="-122"/>
                          <a:cs typeface="Calibri" pitchFamily="34" charset="-120"/>
                        </a:rPr>
                        <a:t>Pre-training</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50" dirty="0">
                          <a:solidFill>
                            <a:srgbClr val="CBD5E1"/>
                          </a:solidFill>
                          <a:latin typeface="Calibri" pitchFamily="34" charset="0"/>
                          <a:ea typeface="Calibri" pitchFamily="34" charset="-122"/>
                          <a:cs typeface="Calibri" pitchFamily="34" charset="-120"/>
                        </a:rPr>
                        <a:t>ImageNet-1k weights</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356616">
                <a:tc>
                  <a:txBody>
                    <a:bodyPr/>
                    <a:lstStyle/>
                    <a:p>
                      <a:pPr indent="0" marL="0">
                        <a:buNone/>
                      </a:pPr>
                      <a:r>
                        <a:rPr lang="en-US" sz="1150" dirty="0">
                          <a:solidFill>
                            <a:srgbClr val="CBD5E1"/>
                          </a:solidFill>
                          <a:latin typeface="Calibri" pitchFamily="34" charset="0"/>
                          <a:ea typeface="Calibri" pitchFamily="34" charset="-122"/>
                          <a:cs typeface="Calibri" pitchFamily="34" charset="-120"/>
                        </a:rPr>
                        <a:t>Dataset</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50" dirty="0">
                          <a:solidFill>
                            <a:srgbClr val="CBD5E1"/>
                          </a:solidFill>
                          <a:latin typeface="Calibri" pitchFamily="34" charset="0"/>
                          <a:ea typeface="Calibri" pitchFamily="34" charset="-122"/>
                          <a:cs typeface="Calibri" pitchFamily="34" charset="-120"/>
                        </a:rPr>
                        <a:t>UCF-Crime 9-class merged taxonomy, stratified 70/15/15</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356616">
                <a:tc>
                  <a:txBody>
                    <a:bodyPr/>
                    <a:lstStyle/>
                    <a:p>
                      <a:pPr indent="0" marL="0">
                        <a:buNone/>
                      </a:pPr>
                      <a:r>
                        <a:rPr lang="en-US" sz="1150" dirty="0">
                          <a:solidFill>
                            <a:srgbClr val="CBD5E1"/>
                          </a:solidFill>
                          <a:latin typeface="Calibri" pitchFamily="34" charset="0"/>
                          <a:ea typeface="Calibri" pitchFamily="34" charset="-122"/>
                          <a:cs typeface="Calibri" pitchFamily="34" charset="-120"/>
                        </a:rPr>
                        <a:t>Hardware</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50" dirty="0">
                          <a:solidFill>
                            <a:srgbClr val="CBD5E1"/>
                          </a:solidFill>
                          <a:latin typeface="Calibri" pitchFamily="34" charset="0"/>
                          <a:ea typeface="Calibri" pitchFamily="34" charset="-122"/>
                          <a:cs typeface="Calibri" pitchFamily="34" charset="-120"/>
                        </a:rPr>
                        <a:t>NVIDIA RTX 4070</a:t>
                      </a:r>
                      <a:endParaRPr lang="en-US" sz="115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6 · EFFICIENTNET TRIAL</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EfficientNet Trial — Performance Results</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1440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7" name="Text 5"/>
          <p:cNvSpPr/>
          <p:nvPr/>
        </p:nvSpPr>
        <p:spPr>
          <a:xfrm>
            <a:off x="457200" y="960120"/>
            <a:ext cx="1920240" cy="548640"/>
          </a:xfrm>
          <a:prstGeom prst="rect">
            <a:avLst/>
          </a:prstGeom>
          <a:noFill/>
          <a:ln/>
        </p:spPr>
        <p:txBody>
          <a:bodyPr wrap="square" lIns="0" tIns="0" rIns="0" bIns="0" rtlCol="0" anchor="ctr"/>
          <a:lstStyle/>
          <a:p>
            <a:pPr algn="ctr" indent="0" marL="0">
              <a:buNone/>
            </a:pPr>
            <a:r>
              <a:rPr lang="en-US" sz="2800" b="1" dirty="0">
                <a:solidFill>
                  <a:srgbClr val="F59E0B"/>
                </a:solidFill>
                <a:latin typeface="Calibri" pitchFamily="34" charset="0"/>
                <a:ea typeface="Calibri" pitchFamily="34" charset="-122"/>
                <a:cs typeface="Calibri" pitchFamily="34" charset="-120"/>
              </a:rPr>
              <a:t>83.2%</a:t>
            </a:r>
            <a:endParaRPr lang="en-US" sz="2800" dirty="0"/>
          </a:p>
        </p:txBody>
      </p:sp>
      <p:sp>
        <p:nvSpPr>
          <p:cNvPr id="8" name="Text 6"/>
          <p:cNvSpPr/>
          <p:nvPr/>
        </p:nvSpPr>
        <p:spPr>
          <a:xfrm>
            <a:off x="457200" y="150876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Best Accuracy</a:t>
            </a:r>
            <a:endParaRPr lang="en-US" sz="1000" dirty="0"/>
          </a:p>
        </p:txBody>
      </p:sp>
      <p:sp>
        <p:nvSpPr>
          <p:cNvPr id="9" name="Shape 7"/>
          <p:cNvSpPr/>
          <p:nvPr/>
        </p:nvSpPr>
        <p:spPr>
          <a:xfrm>
            <a:off x="2542032" y="91440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10" name="Text 8"/>
          <p:cNvSpPr/>
          <p:nvPr/>
        </p:nvSpPr>
        <p:spPr>
          <a:xfrm>
            <a:off x="2542032" y="960120"/>
            <a:ext cx="1920240" cy="548640"/>
          </a:xfrm>
          <a:prstGeom prst="rect">
            <a:avLst/>
          </a:prstGeom>
          <a:noFill/>
          <a:ln/>
        </p:spPr>
        <p:txBody>
          <a:bodyPr wrap="square" lIns="0" tIns="0" rIns="0" bIns="0" rtlCol="0" anchor="ctr"/>
          <a:lstStyle/>
          <a:p>
            <a:pPr algn="ctr" indent="0" marL="0">
              <a:buNone/>
            </a:pPr>
            <a:r>
              <a:rPr lang="en-US" sz="2800" b="1" dirty="0">
                <a:solidFill>
                  <a:srgbClr val="F59E0B"/>
                </a:solidFill>
                <a:latin typeface="Calibri" pitchFamily="34" charset="0"/>
                <a:ea typeface="Calibri" pitchFamily="34" charset="-122"/>
                <a:cs typeface="Calibri" pitchFamily="34" charset="-120"/>
              </a:rPr>
              <a:t>82.1%</a:t>
            </a:r>
            <a:endParaRPr lang="en-US" sz="2800" dirty="0"/>
          </a:p>
        </p:txBody>
      </p:sp>
      <p:sp>
        <p:nvSpPr>
          <p:cNvPr id="11" name="Text 9"/>
          <p:cNvSpPr/>
          <p:nvPr/>
        </p:nvSpPr>
        <p:spPr>
          <a:xfrm>
            <a:off x="2542032" y="150876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Best F1 Score</a:t>
            </a:r>
            <a:endParaRPr lang="en-US" sz="1000" dirty="0"/>
          </a:p>
        </p:txBody>
      </p:sp>
      <p:sp>
        <p:nvSpPr>
          <p:cNvPr id="12" name="Shape 10"/>
          <p:cNvSpPr/>
          <p:nvPr/>
        </p:nvSpPr>
        <p:spPr>
          <a:xfrm>
            <a:off x="4626864" y="91440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13" name="Text 11"/>
          <p:cNvSpPr/>
          <p:nvPr/>
        </p:nvSpPr>
        <p:spPr>
          <a:xfrm>
            <a:off x="4626864" y="960120"/>
            <a:ext cx="1920240" cy="548640"/>
          </a:xfrm>
          <a:prstGeom prst="rect">
            <a:avLst/>
          </a:prstGeom>
          <a:noFill/>
          <a:ln/>
        </p:spPr>
        <p:txBody>
          <a:bodyPr wrap="square" lIns="0" tIns="0" rIns="0" bIns="0" rtlCol="0" anchor="ctr"/>
          <a:lstStyle/>
          <a:p>
            <a:pPr algn="ctr" indent="0" marL="0">
              <a:buNone/>
            </a:pPr>
            <a:r>
              <a:rPr lang="en-US" sz="2800" b="1" dirty="0">
                <a:solidFill>
                  <a:srgbClr val="F59E0B"/>
                </a:solidFill>
                <a:latin typeface="Calibri" pitchFamily="34" charset="0"/>
                <a:ea typeface="Calibri" pitchFamily="34" charset="-122"/>
                <a:cs typeface="Calibri" pitchFamily="34" charset="-120"/>
              </a:rPr>
              <a:t>0.871</a:t>
            </a:r>
            <a:endParaRPr lang="en-US" sz="2800" dirty="0"/>
          </a:p>
        </p:txBody>
      </p:sp>
      <p:sp>
        <p:nvSpPr>
          <p:cNvPr id="14" name="Text 12"/>
          <p:cNvSpPr/>
          <p:nvPr/>
        </p:nvSpPr>
        <p:spPr>
          <a:xfrm>
            <a:off x="4626864" y="150876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Best AUC</a:t>
            </a:r>
            <a:endParaRPr lang="en-US" sz="1000" dirty="0"/>
          </a:p>
        </p:txBody>
      </p:sp>
      <p:sp>
        <p:nvSpPr>
          <p:cNvPr id="15" name="Shape 13"/>
          <p:cNvSpPr/>
          <p:nvPr/>
        </p:nvSpPr>
        <p:spPr>
          <a:xfrm>
            <a:off x="6711696" y="91440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16" name="Text 14"/>
          <p:cNvSpPr/>
          <p:nvPr/>
        </p:nvSpPr>
        <p:spPr>
          <a:xfrm>
            <a:off x="6711696" y="960120"/>
            <a:ext cx="1920240" cy="548640"/>
          </a:xfrm>
          <a:prstGeom prst="rect">
            <a:avLst/>
          </a:prstGeom>
          <a:noFill/>
          <a:ln/>
        </p:spPr>
        <p:txBody>
          <a:bodyPr wrap="square" lIns="0" tIns="0" rIns="0" bIns="0" rtlCol="0" anchor="ctr"/>
          <a:lstStyle/>
          <a:p>
            <a:pPr algn="ctr" indent="0" marL="0">
              <a:buNone/>
            </a:pPr>
            <a:r>
              <a:rPr lang="en-US" sz="2800" b="1" dirty="0">
                <a:solidFill>
                  <a:srgbClr val="F59E0B"/>
                </a:solidFill>
                <a:latin typeface="Calibri" pitchFamily="34" charset="0"/>
                <a:ea typeface="Calibri" pitchFamily="34" charset="-122"/>
                <a:cs typeface="Calibri" pitchFamily="34" charset="-120"/>
              </a:rPr>
              <a:t>~8.1ms</a:t>
            </a:r>
            <a:endParaRPr lang="en-US" sz="2800" dirty="0"/>
          </a:p>
        </p:txBody>
      </p:sp>
      <p:sp>
        <p:nvSpPr>
          <p:cNvPr id="17" name="Text 15"/>
          <p:cNvSpPr/>
          <p:nvPr/>
        </p:nvSpPr>
        <p:spPr>
          <a:xfrm>
            <a:off x="6711696" y="150876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Inference Latency</a:t>
            </a:r>
            <a:endParaRPr lang="en-US" sz="1000" dirty="0"/>
          </a:p>
        </p:txBody>
      </p:sp>
      <p:graphicFrame>
        <p:nvGraphicFramePr>
          <p:cNvPr id="18" name="Chart 0" descr=""/>
          <p:cNvGraphicFramePr/>
          <p:nvPr/>
        </p:nvGraphicFramePr>
        <p:xfrm>
          <a:off x="457200" y="2084832"/>
          <a:ext cx="8229600" cy="2670048"/>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6 · EFFICIENTNET TRIAL</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EfficientNet Trial — Strengths &amp; Limitations</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Text 4"/>
          <p:cNvSpPr/>
          <p:nvPr/>
        </p:nvSpPr>
        <p:spPr>
          <a:xfrm>
            <a:off x="457200" y="987552"/>
            <a:ext cx="3931920" cy="292608"/>
          </a:xfrm>
          <a:prstGeom prst="rect">
            <a:avLst/>
          </a:prstGeom>
          <a:noFill/>
          <a:ln/>
        </p:spPr>
        <p:txBody>
          <a:bodyPr wrap="square" lIns="0" tIns="0" rIns="0" bIns="0" rtlCol="0" anchor="ctr"/>
          <a:lstStyle/>
          <a:p>
            <a:pPr indent="0" marL="0">
              <a:buNone/>
            </a:pPr>
            <a:r>
              <a:rPr lang="en-US" sz="1400" b="1" dirty="0">
                <a:solidFill>
                  <a:srgbClr val="10B981"/>
                </a:solidFill>
                <a:latin typeface="Calibri" pitchFamily="34" charset="0"/>
                <a:ea typeface="Calibri" pitchFamily="34" charset="-122"/>
                <a:cs typeface="Calibri" pitchFamily="34" charset="-120"/>
              </a:rPr>
              <a:t>Strengths</a:t>
            </a:r>
            <a:endParaRPr lang="en-US" sz="1400" dirty="0"/>
          </a:p>
        </p:txBody>
      </p:sp>
      <p:sp>
        <p:nvSpPr>
          <p:cNvPr id="7" name="Text 5"/>
          <p:cNvSpPr/>
          <p:nvPr/>
        </p:nvSpPr>
        <p:spPr>
          <a:xfrm>
            <a:off x="457200" y="1353312"/>
            <a:ext cx="3931920" cy="384048"/>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  Fastest inference: ~8.1ms vs 9.86ms for main model</a:t>
            </a:r>
            <a:endParaRPr lang="en-US" sz="1150" dirty="0"/>
          </a:p>
        </p:txBody>
      </p:sp>
      <p:sp>
        <p:nvSpPr>
          <p:cNvPr id="8" name="Text 6"/>
          <p:cNvSpPr/>
          <p:nvPr/>
        </p:nvSpPr>
        <p:spPr>
          <a:xfrm>
            <a:off x="457200" y="1883664"/>
            <a:ext cx="3931920" cy="384048"/>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  Efficient parameter usage — fewer FLOPs per accuracy point</a:t>
            </a:r>
            <a:endParaRPr lang="en-US" sz="1150" dirty="0"/>
          </a:p>
        </p:txBody>
      </p:sp>
      <p:sp>
        <p:nvSpPr>
          <p:cNvPr id="9" name="Text 7"/>
          <p:cNvSpPr/>
          <p:nvPr/>
        </p:nvSpPr>
        <p:spPr>
          <a:xfrm>
            <a:off x="457200" y="2414016"/>
            <a:ext cx="3931920" cy="384048"/>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  Strong on static visual anomalies (Explosion, Arson, Normal)</a:t>
            </a:r>
            <a:endParaRPr lang="en-US" sz="1150" dirty="0"/>
          </a:p>
        </p:txBody>
      </p:sp>
      <p:sp>
        <p:nvSpPr>
          <p:cNvPr id="10" name="Text 8"/>
          <p:cNvSpPr/>
          <p:nvPr/>
        </p:nvSpPr>
        <p:spPr>
          <a:xfrm>
            <a:off x="457200" y="2944368"/>
            <a:ext cx="3931920" cy="384048"/>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  Compound scaling enables systematic accuracy/speed trade-off</a:t>
            </a:r>
            <a:endParaRPr lang="en-US" sz="1150" dirty="0"/>
          </a:p>
        </p:txBody>
      </p:sp>
      <p:sp>
        <p:nvSpPr>
          <p:cNvPr id="11" name="Text 9"/>
          <p:cNvSpPr/>
          <p:nvPr/>
        </p:nvSpPr>
        <p:spPr>
          <a:xfrm>
            <a:off x="4754880" y="987552"/>
            <a:ext cx="3931920" cy="292608"/>
          </a:xfrm>
          <a:prstGeom prst="rect">
            <a:avLst/>
          </a:prstGeom>
          <a:noFill/>
          <a:ln/>
        </p:spPr>
        <p:txBody>
          <a:bodyPr wrap="square" lIns="0" tIns="0" rIns="0" bIns="0" rtlCol="0" anchor="ctr"/>
          <a:lstStyle/>
          <a:p>
            <a:pPr indent="0" marL="0">
              <a:buNone/>
            </a:pPr>
            <a:r>
              <a:rPr lang="en-US" sz="1400" b="1" dirty="0">
                <a:solidFill>
                  <a:srgbClr val="EF4444"/>
                </a:solidFill>
                <a:latin typeface="Calibri" pitchFamily="34" charset="0"/>
                <a:ea typeface="Calibri" pitchFamily="34" charset="-122"/>
                <a:cs typeface="Calibri" pitchFamily="34" charset="-120"/>
              </a:rPr>
              <a:t>Limitations</a:t>
            </a:r>
            <a:endParaRPr lang="en-US" sz="1400" dirty="0"/>
          </a:p>
        </p:txBody>
      </p:sp>
      <p:sp>
        <p:nvSpPr>
          <p:cNvPr id="12" name="Text 10"/>
          <p:cNvSpPr/>
          <p:nvPr/>
        </p:nvSpPr>
        <p:spPr>
          <a:xfrm>
            <a:off x="4754880" y="1353312"/>
            <a:ext cx="3931920" cy="384048"/>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  Spatial only — cannot model motion dynamics or sequential behavior</a:t>
            </a:r>
            <a:endParaRPr lang="en-US" sz="1150" dirty="0"/>
          </a:p>
        </p:txBody>
      </p:sp>
      <p:sp>
        <p:nvSpPr>
          <p:cNvPr id="13" name="Text 11"/>
          <p:cNvSpPr/>
          <p:nvPr/>
        </p:nvSpPr>
        <p:spPr>
          <a:xfrm>
            <a:off x="4754880" y="1883664"/>
            <a:ext cx="3931920" cy="384048"/>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  8.4% accuracy gap vs main model on 9-class evaluation</a:t>
            </a:r>
            <a:endParaRPr lang="en-US" sz="1150" dirty="0"/>
          </a:p>
        </p:txBody>
      </p:sp>
      <p:sp>
        <p:nvSpPr>
          <p:cNvPr id="14" name="Text 12"/>
          <p:cNvSpPr/>
          <p:nvPr/>
        </p:nvSpPr>
        <p:spPr>
          <a:xfrm>
            <a:off x="4754880" y="2414016"/>
            <a:ext cx="3931920" cy="384048"/>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  Weaker on motion-intensive crimes (Violence: 0.79, Theft: 0.76 AUC)</a:t>
            </a:r>
            <a:endParaRPr lang="en-US" sz="1150" dirty="0"/>
          </a:p>
        </p:txBody>
      </p:sp>
      <p:sp>
        <p:nvSpPr>
          <p:cNvPr id="15" name="Text 13"/>
          <p:cNvSpPr/>
          <p:nvPr/>
        </p:nvSpPr>
        <p:spPr>
          <a:xfrm>
            <a:off x="4754880" y="2944368"/>
            <a:ext cx="3931920" cy="384048"/>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  No temporal context — misclassifies normal-turned-violent scenarios</a:t>
            </a:r>
            <a:endParaRPr lang="en-US" sz="1150" dirty="0"/>
          </a:p>
        </p:txBody>
      </p:sp>
      <p:sp>
        <p:nvSpPr>
          <p:cNvPr id="16" name="Text 14"/>
          <p:cNvSpPr/>
          <p:nvPr/>
        </p:nvSpPr>
        <p:spPr>
          <a:xfrm>
            <a:off x="4754880" y="3474720"/>
            <a:ext cx="3931920" cy="384048"/>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  Not suitable for behavioral build-up detection (e.g. Robbery approach)</a:t>
            </a:r>
            <a:endParaRPr lang="en-US" sz="1150" dirty="0"/>
          </a:p>
        </p:txBody>
      </p:sp>
      <p:sp>
        <p:nvSpPr>
          <p:cNvPr id="17" name="Shape 15"/>
          <p:cNvSpPr/>
          <p:nvPr/>
        </p:nvSpPr>
        <p:spPr>
          <a:xfrm>
            <a:off x="4434840" y="960120"/>
            <a:ext cx="22860" cy="3474720"/>
          </a:xfrm>
          <a:prstGeom prst="rect">
            <a:avLst/>
          </a:prstGeom>
          <a:solidFill>
            <a:srgbClr val="64748B"/>
          </a:solidFill>
          <a:ln w="12700">
            <a:solidFill>
              <a:srgbClr val="64748B"/>
            </a:solidFill>
            <a:prstDash val="solid"/>
          </a:ln>
        </p:spPr>
      </p:sp>
      <p:sp>
        <p:nvSpPr>
          <p:cNvPr id="18" name="Text 16"/>
          <p:cNvSpPr/>
          <p:nvPr/>
        </p:nvSpPr>
        <p:spPr>
          <a:xfrm>
            <a:off x="457200" y="4526280"/>
            <a:ext cx="8229600" cy="274320"/>
          </a:xfrm>
          <a:prstGeom prst="rect">
            <a:avLst/>
          </a:prstGeom>
          <a:noFill/>
          <a:ln/>
        </p:spPr>
        <p:txBody>
          <a:bodyPr wrap="square" lIns="0" tIns="0" rIns="0" bIns="0" rtlCol="0" anchor="ctr"/>
          <a:lstStyle/>
          <a:p>
            <a:pPr indent="0" marL="0">
              <a:buNone/>
            </a:pPr>
            <a:r>
              <a:rPr lang="en-US" sz="1100" i="1" dirty="0">
                <a:solidFill>
                  <a:srgbClr val="F59E0B"/>
                </a:solidFill>
                <a:latin typeface="Calibri" pitchFamily="34" charset="0"/>
                <a:ea typeface="Calibri" pitchFamily="34" charset="-122"/>
                <a:cs typeface="Calibri" pitchFamily="34" charset="-120"/>
              </a:rPr>
              <a:t>Conclusion: EfficientNet is a strong image classifier but fundamentally unsuitable for video anomaly detection requiring temporal reasoning.</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7 · MODEL COMPARISON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Architecture Comparison: Hybrid vs EfficientNet</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4069080"/>
        </p:xfrm>
        <a:graphic>
          <a:graphicData uri="http://schemas.openxmlformats.org/drawingml/2006/table">
            <a:tbl>
              <a:tblPr/>
              <a:tblGrid>
                <a:gridCol w="2286000"/>
                <a:gridCol w="3200400"/>
                <a:gridCol w="2743200"/>
              </a:tblGrid>
              <a:tr h="43891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Component</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ResNet-50 + R(2+1)D + ViT</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EfficientNet-B0</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r>
              <a:tr h="438912">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Architecture Type</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Dual-stream Hybrid + Transformer</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F59E0B"/>
                          </a:solidFill>
                          <a:latin typeface="Calibri" pitchFamily="34" charset="0"/>
                          <a:ea typeface="Calibri" pitchFamily="34" charset="-122"/>
                          <a:cs typeface="Calibri" pitchFamily="34" charset="-120"/>
                        </a:rPr>
                        <a:t>Single-stream CNN</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438912">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Spatial Backbone</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ResNet-50 → 2048-D</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F59E0B"/>
                          </a:solidFill>
                          <a:latin typeface="Calibri" pitchFamily="34" charset="0"/>
                          <a:ea typeface="Calibri" pitchFamily="34" charset="-122"/>
                          <a:cs typeface="Calibri" pitchFamily="34" charset="-120"/>
                        </a:rPr>
                        <a:t>EfficientNet-B0 → 1280-D</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438912">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Temporal Backbone</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R(2+1)D → 512-D (16-frame clips)</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F59E0B"/>
                          </a:solidFill>
                          <a:latin typeface="Calibri" pitchFamily="34" charset="0"/>
                          <a:ea typeface="Calibri" pitchFamily="34" charset="-122"/>
                          <a:cs typeface="Calibri" pitchFamily="34" charset="-120"/>
                        </a:rPr>
                        <a:t>None</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438912">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Sequence Modeling</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4-block ViT, 8-clip window, MHSA</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F59E0B"/>
                          </a:solidFill>
                          <a:latin typeface="Calibri" pitchFamily="34" charset="0"/>
                          <a:ea typeface="Calibri" pitchFamily="34" charset="-122"/>
                          <a:cs typeface="Calibri" pitchFamily="34" charset="-120"/>
                        </a:rPr>
                        <a:t>None</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438912">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Output Dimension</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9×512 → CLS → softmax(9)</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F59E0B"/>
                          </a:solidFill>
                          <a:latin typeface="Calibri" pitchFamily="34" charset="0"/>
                          <a:ea typeface="Calibri" pitchFamily="34" charset="-122"/>
                          <a:cs typeface="Calibri" pitchFamily="34" charset="-120"/>
                        </a:rPr>
                        <a:t>1280 → linear → softmax(9)</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438912">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Input Requirements</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Frame (224×224) + 16-frame clip (112×112)</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F59E0B"/>
                          </a:solidFill>
                          <a:latin typeface="Calibri" pitchFamily="34" charset="0"/>
                          <a:ea typeface="Calibri" pitchFamily="34" charset="-122"/>
                          <a:cs typeface="Calibri" pitchFamily="34" charset="-120"/>
                        </a:rPr>
                        <a:t>Frame (224×224) only</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438912">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Transfer Learning</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ImageNet (both branches)</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F59E0B"/>
                          </a:solidFill>
                          <a:latin typeface="Calibri" pitchFamily="34" charset="0"/>
                          <a:ea typeface="Calibri" pitchFamily="34" charset="-122"/>
                          <a:cs typeface="Calibri" pitchFamily="34" charset="-120"/>
                        </a:rPr>
                        <a:t>ImageNet</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7 · MODEL COMPARISON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Complexity Comparison: Parameters, FLOPs, Memory</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4069080"/>
        </p:xfrm>
        <a:graphic>
          <a:graphicData uri="http://schemas.openxmlformats.org/drawingml/2006/table">
            <a:tbl>
              <a:tblPr/>
              <a:tblGrid>
                <a:gridCol w="2194560"/>
                <a:gridCol w="2011680"/>
                <a:gridCol w="2011680"/>
                <a:gridCol w="2011680"/>
              </a:tblGrid>
              <a:tr h="43891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Metric</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c>
                  <a:txBody>
                    <a:bodyPr/>
                    <a:lstStyle/>
                    <a:p>
                      <a:pPr indent="0" marL="0">
                        <a:buNone/>
                      </a:pPr>
                      <a:r>
                        <a:rPr lang="en-US" sz="1100" b="1" dirty="0">
                          <a:solidFill>
                            <a:srgbClr val="10B981"/>
                          </a:solidFill>
                          <a:latin typeface="Calibri" pitchFamily="34" charset="0"/>
                          <a:ea typeface="Calibri" pitchFamily="34" charset="-122"/>
                          <a:cs typeface="Calibri" pitchFamily="34" charset="-120"/>
                        </a:rPr>
                        <a:t>Hybrid (Ours)</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c>
                  <a:txBody>
                    <a:bodyPr/>
                    <a:lstStyle/>
                    <a:p>
                      <a:pPr indent="0" marL="0">
                        <a:buNone/>
                      </a:pPr>
                      <a:r>
                        <a:rPr lang="en-US" sz="1100" b="1" dirty="0">
                          <a:solidFill>
                            <a:srgbClr val="F59E0B"/>
                          </a:solidFill>
                          <a:latin typeface="Calibri" pitchFamily="34" charset="0"/>
                          <a:ea typeface="Calibri" pitchFamily="34" charset="-122"/>
                          <a:cs typeface="Calibri" pitchFamily="34" charset="-120"/>
                        </a:rPr>
                        <a:t>EfficientNet-B0</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Winner</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r>
              <a:tr h="438912">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Parameters</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~35M</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~5.3M</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F59E0B"/>
                          </a:solidFill>
                          <a:latin typeface="Calibri" pitchFamily="34" charset="0"/>
                          <a:ea typeface="Calibri" pitchFamily="34" charset="-122"/>
                          <a:cs typeface="Calibri" pitchFamily="34" charset="-120"/>
                        </a:rPr>
                        <a:t>EfficientNet ✔</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438912">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FLOPs (per window)</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~18.4G</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~0.39G</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F59E0B"/>
                          </a:solidFill>
                          <a:latin typeface="Calibri" pitchFamily="34" charset="0"/>
                          <a:ea typeface="Calibri" pitchFamily="34" charset="-122"/>
                          <a:cs typeface="Calibri" pitchFamily="34" charset="-120"/>
                        </a:rPr>
                        <a:t>EfficientNet ✔</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438912">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GPU Memory (inference)</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~2.8 GB</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~0.6 GB</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F59E0B"/>
                          </a:solidFill>
                          <a:latin typeface="Calibri" pitchFamily="34" charset="0"/>
                          <a:ea typeface="Calibri" pitchFamily="34" charset="-122"/>
                          <a:cs typeface="Calibri" pitchFamily="34" charset="-120"/>
                        </a:rPr>
                        <a:t>EfficientNet ✔</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438912">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Inference Latency</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9.86ms (best)</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8.1ms</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F59E0B"/>
                          </a:solidFill>
                          <a:latin typeface="Calibri" pitchFamily="34" charset="0"/>
                          <a:ea typeface="Calibri" pitchFamily="34" charset="-122"/>
                          <a:cs typeface="Calibri" pitchFamily="34" charset="-120"/>
                        </a:rPr>
                        <a:t>EfficientNet ✔</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438912">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Peak Accuracy</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91.58%</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83.2%</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Hybrid ✔</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438912">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Peak F1 Score</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91.50%</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82.1%</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Hybrid ✔</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438912">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Mean AUC</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0.895</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0.871</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Hybrid ✔</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438912">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Violence AUC</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~0.94</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0.79</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10B981"/>
                          </a:solidFill>
                          <a:latin typeface="Calibri" pitchFamily="34" charset="0"/>
                          <a:ea typeface="Calibri" pitchFamily="34" charset="-122"/>
                          <a:cs typeface="Calibri" pitchFamily="34" charset="-120"/>
                        </a:rPr>
                        <a:t>Hybrid ✔</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7 · MODEL COMPARISON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Training Behavior Comparison</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graphicFrame>
        <p:nvGraphicFramePr>
          <p:cNvPr id="6" name="Chart 0" descr=""/>
          <p:cNvGraphicFramePr/>
          <p:nvPr/>
        </p:nvGraphicFramePr>
        <p:xfrm>
          <a:off x="457200" y="960120"/>
          <a:ext cx="8229600" cy="329184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457200" y="4352544"/>
            <a:ext cx="1828800" cy="237744"/>
          </a:xfrm>
          <a:prstGeom prst="rect">
            <a:avLst/>
          </a:prstGeom>
          <a:noFill/>
          <a:ln/>
        </p:spPr>
        <p:txBody>
          <a:bodyPr wrap="square" lIns="0" tIns="0" rIns="0" bIns="0" rtlCol="0" anchor="ctr"/>
          <a:lstStyle/>
          <a:p>
            <a:pPr indent="0" marL="0">
              <a:buNone/>
            </a:pPr>
            <a:r>
              <a:rPr lang="en-US" sz="1050" b="1" dirty="0">
                <a:solidFill>
                  <a:srgbClr val="00D4FF"/>
                </a:solidFill>
                <a:latin typeface="Calibri" pitchFamily="34" charset="0"/>
                <a:ea typeface="Calibri" pitchFamily="34" charset="-122"/>
                <a:cs typeface="Calibri" pitchFamily="34" charset="-120"/>
              </a:rPr>
              <a:t>Hybrid Convergence: </a:t>
            </a:r>
            <a:endParaRPr lang="en-US" sz="1050" dirty="0"/>
          </a:p>
        </p:txBody>
      </p:sp>
      <p:sp>
        <p:nvSpPr>
          <p:cNvPr id="8" name="Text 5"/>
          <p:cNvSpPr/>
          <p:nvPr/>
        </p:nvSpPr>
        <p:spPr>
          <a:xfrm>
            <a:off x="2331720" y="4352544"/>
            <a:ext cx="6400800" cy="237744"/>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Slower initial convergence (spatial + temporal must co-adapt) but achieves higher final accuracy ceiling</a:t>
            </a:r>
            <a:endParaRPr lang="en-US" sz="1050" dirty="0"/>
          </a:p>
        </p:txBody>
      </p:sp>
      <p:sp>
        <p:nvSpPr>
          <p:cNvPr id="9" name="Text 6"/>
          <p:cNvSpPr/>
          <p:nvPr/>
        </p:nvSpPr>
        <p:spPr>
          <a:xfrm>
            <a:off x="457200" y="4608576"/>
            <a:ext cx="1828800" cy="237744"/>
          </a:xfrm>
          <a:prstGeom prst="rect">
            <a:avLst/>
          </a:prstGeom>
          <a:noFill/>
          <a:ln/>
        </p:spPr>
        <p:txBody>
          <a:bodyPr wrap="square" lIns="0" tIns="0" rIns="0" bIns="0" rtlCol="0" anchor="ctr"/>
          <a:lstStyle/>
          <a:p>
            <a:pPr indent="0" marL="0">
              <a:buNone/>
            </a:pPr>
            <a:r>
              <a:rPr lang="en-US" sz="1050" b="1" dirty="0">
                <a:solidFill>
                  <a:srgbClr val="00D4FF"/>
                </a:solidFill>
                <a:latin typeface="Calibri" pitchFamily="34" charset="0"/>
                <a:ea typeface="Calibri" pitchFamily="34" charset="-122"/>
                <a:cs typeface="Calibri" pitchFamily="34" charset="-120"/>
              </a:rPr>
              <a:t>EfficientNet Convergence: </a:t>
            </a:r>
            <a:endParaRPr lang="en-US" sz="1050" dirty="0"/>
          </a:p>
        </p:txBody>
      </p:sp>
      <p:sp>
        <p:nvSpPr>
          <p:cNvPr id="10" name="Text 7"/>
          <p:cNvSpPr/>
          <p:nvPr/>
        </p:nvSpPr>
        <p:spPr>
          <a:xfrm>
            <a:off x="2331720" y="4608576"/>
            <a:ext cx="6400800" cy="237744"/>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Faster early convergence due to simpler spatial-only learning task — plateaus at ~83% by epoch 30</a:t>
            </a:r>
            <a:endParaRPr lang="en-US" sz="1050" dirty="0"/>
          </a:p>
        </p:txBody>
      </p:sp>
      <p:sp>
        <p:nvSpPr>
          <p:cNvPr id="11" name="Text 8"/>
          <p:cNvSpPr/>
          <p:nvPr/>
        </p:nvSpPr>
        <p:spPr>
          <a:xfrm>
            <a:off x="457200" y="4864608"/>
            <a:ext cx="1828800" cy="237744"/>
          </a:xfrm>
          <a:prstGeom prst="rect">
            <a:avLst/>
          </a:prstGeom>
          <a:noFill/>
          <a:ln/>
        </p:spPr>
        <p:txBody>
          <a:bodyPr wrap="square" lIns="0" tIns="0" rIns="0" bIns="0" rtlCol="0" anchor="ctr"/>
          <a:lstStyle/>
          <a:p>
            <a:pPr indent="0" marL="0">
              <a:buNone/>
            </a:pPr>
            <a:r>
              <a:rPr lang="en-US" sz="1050" b="1" dirty="0">
                <a:solidFill>
                  <a:srgbClr val="00D4FF"/>
                </a:solidFill>
                <a:latin typeface="Calibri" pitchFamily="34" charset="0"/>
                <a:ea typeface="Calibri" pitchFamily="34" charset="-122"/>
                <a:cs typeface="Calibri" pitchFamily="34" charset="-120"/>
              </a:rPr>
              <a:t>Overfitting Resistance: </a:t>
            </a:r>
            <a:endParaRPr lang="en-US" sz="1050" dirty="0"/>
          </a:p>
        </p:txBody>
      </p:sp>
      <p:sp>
        <p:nvSpPr>
          <p:cNvPr id="12" name="Text 9"/>
          <p:cNvSpPr/>
          <p:nvPr/>
        </p:nvSpPr>
        <p:spPr>
          <a:xfrm>
            <a:off x="2331720" y="4864608"/>
            <a:ext cx="6400800" cy="237744"/>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Both models show &lt;3% train/val gap with label smoothing and early stopping — comparable regularization</a:t>
            </a:r>
            <a:endParaRPr lang="en-US" sz="10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7 · MODEL COMPARISON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Evaluation Metrics Comparison</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graphicFrame>
        <p:nvGraphicFramePr>
          <p:cNvPr id="6" name="Chart 0" descr=""/>
          <p:cNvGraphicFramePr/>
          <p:nvPr/>
        </p:nvGraphicFramePr>
        <p:xfrm>
          <a:off x="457200" y="960120"/>
          <a:ext cx="8229600" cy="393192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457200" y="4937760"/>
            <a:ext cx="8229600" cy="228600"/>
          </a:xfrm>
          <a:prstGeom prst="rect">
            <a:avLst/>
          </a:prstGeom>
          <a:noFill/>
          <a:ln/>
        </p:spPr>
        <p:txBody>
          <a:bodyPr wrap="square" lIns="0" tIns="0" rIns="0" bIns="0" rtlCol="0" anchor="ctr"/>
          <a:lstStyle/>
          <a:p>
            <a:pPr indent="0" marL="0">
              <a:buNone/>
            </a:pPr>
            <a:r>
              <a:rPr lang="en-US" sz="1050" dirty="0">
                <a:solidFill>
                  <a:srgbClr val="10B981"/>
                </a:solidFill>
                <a:latin typeface="Calibri" pitchFamily="34" charset="0"/>
                <a:ea typeface="Calibri" pitchFamily="34" charset="-122"/>
                <a:cs typeface="Calibri" pitchFamily="34" charset="-120"/>
              </a:rPr>
              <a:t>Hybrid model outperforms EfficientNet across all 5 metrics. Largest gain: F1 (+9.4 pts), Accuracy (+8.4 pts), AUC (+7.7 pts)</a:t>
            </a:r>
            <a:endParaRPr lang="en-US" sz="10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7 · MODEL COMPARISON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Why the Hybrid Architecture Outperformed EfficientNet</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1005840"/>
            <a:ext cx="8229600" cy="886968"/>
          </a:xfrm>
          <a:prstGeom prst="roundRect">
            <a:avLst>
              <a:gd name="adj" fmla="val 7216"/>
            </a:avLst>
          </a:prstGeom>
          <a:solidFill>
            <a:srgbClr val="111D2E"/>
          </a:solidFill>
          <a:ln/>
        </p:spPr>
      </p:sp>
      <p:sp>
        <p:nvSpPr>
          <p:cNvPr id="7" name="Text 5"/>
          <p:cNvSpPr/>
          <p:nvPr/>
        </p:nvSpPr>
        <p:spPr>
          <a:xfrm>
            <a:off x="566928" y="1060704"/>
            <a:ext cx="457200" cy="457200"/>
          </a:xfrm>
          <a:prstGeom prst="rect">
            <a:avLst/>
          </a:prstGeom>
          <a:noFill/>
          <a:ln/>
        </p:spPr>
        <p:txBody>
          <a:bodyPr wrap="square" lIns="0" tIns="0" rIns="0" bIns="0" rtlCol="0" anchor="ctr"/>
          <a:lstStyle/>
          <a:p>
            <a:pPr algn="ctr" indent="0" marL="0">
              <a:buNone/>
            </a:pPr>
            <a:r>
              <a:rPr lang="en-US" sz="2200" b="1" dirty="0">
                <a:solidFill>
                  <a:srgbClr val="00D4FF"/>
                </a:solidFill>
                <a:latin typeface="Calibri" pitchFamily="34" charset="0"/>
                <a:ea typeface="Calibri" pitchFamily="34" charset="-122"/>
                <a:cs typeface="Calibri" pitchFamily="34" charset="-120"/>
              </a:rPr>
              <a:t>1</a:t>
            </a:r>
            <a:endParaRPr lang="en-US" sz="2200" dirty="0"/>
          </a:p>
        </p:txBody>
      </p:sp>
      <p:sp>
        <p:nvSpPr>
          <p:cNvPr id="8" name="Text 6"/>
          <p:cNvSpPr/>
          <p:nvPr/>
        </p:nvSpPr>
        <p:spPr>
          <a:xfrm>
            <a:off x="1115568" y="1097280"/>
            <a:ext cx="155448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Temporal Modeling: </a:t>
            </a:r>
            <a:endParaRPr lang="en-US" sz="1200" dirty="0"/>
          </a:p>
        </p:txBody>
      </p:sp>
      <p:sp>
        <p:nvSpPr>
          <p:cNvPr id="9" name="Text 7"/>
          <p:cNvSpPr/>
          <p:nvPr/>
        </p:nvSpPr>
        <p:spPr>
          <a:xfrm>
            <a:off x="1115568" y="1408176"/>
            <a:ext cx="7452360" cy="420624"/>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EfficientNet classifies each frame independently. Our R(2+1)D branch processes 16-frame clips capturing velocity, direction, and kinematic patterns invisible to static frame analysis.</a:t>
            </a:r>
            <a:endParaRPr lang="en-US" sz="1100" dirty="0"/>
          </a:p>
        </p:txBody>
      </p:sp>
      <p:sp>
        <p:nvSpPr>
          <p:cNvPr id="10" name="Shape 8"/>
          <p:cNvSpPr/>
          <p:nvPr/>
        </p:nvSpPr>
        <p:spPr>
          <a:xfrm>
            <a:off x="457200" y="1993392"/>
            <a:ext cx="8229600" cy="886968"/>
          </a:xfrm>
          <a:prstGeom prst="roundRect">
            <a:avLst>
              <a:gd name="adj" fmla="val 7216"/>
            </a:avLst>
          </a:prstGeom>
          <a:solidFill>
            <a:srgbClr val="111D2E"/>
          </a:solidFill>
          <a:ln/>
        </p:spPr>
      </p:sp>
      <p:sp>
        <p:nvSpPr>
          <p:cNvPr id="11" name="Text 9"/>
          <p:cNvSpPr/>
          <p:nvPr/>
        </p:nvSpPr>
        <p:spPr>
          <a:xfrm>
            <a:off x="566928" y="2048256"/>
            <a:ext cx="457200" cy="457200"/>
          </a:xfrm>
          <a:prstGeom prst="rect">
            <a:avLst/>
          </a:prstGeom>
          <a:noFill/>
          <a:ln/>
        </p:spPr>
        <p:txBody>
          <a:bodyPr wrap="square" lIns="0" tIns="0" rIns="0" bIns="0" rtlCol="0" anchor="ctr"/>
          <a:lstStyle/>
          <a:p>
            <a:pPr algn="ctr" indent="0" marL="0">
              <a:buNone/>
            </a:pPr>
            <a:r>
              <a:rPr lang="en-US" sz="2200" b="1" dirty="0">
                <a:solidFill>
                  <a:srgbClr val="00D4FF"/>
                </a:solidFill>
                <a:latin typeface="Calibri" pitchFamily="34" charset="0"/>
                <a:ea typeface="Calibri" pitchFamily="34" charset="-122"/>
                <a:cs typeface="Calibri" pitchFamily="34" charset="-120"/>
              </a:rPr>
              <a:t>2</a:t>
            </a:r>
            <a:endParaRPr lang="en-US" sz="2200" dirty="0"/>
          </a:p>
        </p:txBody>
      </p:sp>
      <p:sp>
        <p:nvSpPr>
          <p:cNvPr id="12" name="Text 10"/>
          <p:cNvSpPr/>
          <p:nvPr/>
        </p:nvSpPr>
        <p:spPr>
          <a:xfrm>
            <a:off x="1115568" y="2084832"/>
            <a:ext cx="155448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Long-Range Context: </a:t>
            </a:r>
            <a:endParaRPr lang="en-US" sz="1200" dirty="0"/>
          </a:p>
        </p:txBody>
      </p:sp>
      <p:sp>
        <p:nvSpPr>
          <p:cNvPr id="13" name="Text 11"/>
          <p:cNvSpPr/>
          <p:nvPr/>
        </p:nvSpPr>
        <p:spPr>
          <a:xfrm>
            <a:off x="1115568" y="2395728"/>
            <a:ext cx="7452360" cy="420624"/>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ViT MHSA across 8 clips (~25 seconds) detects behavioral escalation. EfficientNet has zero mechanism to connect a suspicious entry in clip 1 with a crime in clip 7.</a:t>
            </a:r>
            <a:endParaRPr lang="en-US" sz="1100" dirty="0"/>
          </a:p>
        </p:txBody>
      </p:sp>
      <p:sp>
        <p:nvSpPr>
          <p:cNvPr id="14" name="Shape 12"/>
          <p:cNvSpPr/>
          <p:nvPr/>
        </p:nvSpPr>
        <p:spPr>
          <a:xfrm>
            <a:off x="457200" y="2980944"/>
            <a:ext cx="8229600" cy="886968"/>
          </a:xfrm>
          <a:prstGeom prst="roundRect">
            <a:avLst>
              <a:gd name="adj" fmla="val 7216"/>
            </a:avLst>
          </a:prstGeom>
          <a:solidFill>
            <a:srgbClr val="111D2E"/>
          </a:solidFill>
          <a:ln/>
        </p:spPr>
      </p:sp>
      <p:sp>
        <p:nvSpPr>
          <p:cNvPr id="15" name="Text 13"/>
          <p:cNvSpPr/>
          <p:nvPr/>
        </p:nvSpPr>
        <p:spPr>
          <a:xfrm>
            <a:off x="566928" y="3035808"/>
            <a:ext cx="457200" cy="457200"/>
          </a:xfrm>
          <a:prstGeom prst="rect">
            <a:avLst/>
          </a:prstGeom>
          <a:noFill/>
          <a:ln/>
        </p:spPr>
        <p:txBody>
          <a:bodyPr wrap="square" lIns="0" tIns="0" rIns="0" bIns="0" rtlCol="0" anchor="ctr"/>
          <a:lstStyle/>
          <a:p>
            <a:pPr algn="ctr" indent="0" marL="0">
              <a:buNone/>
            </a:pPr>
            <a:r>
              <a:rPr lang="en-US" sz="2200" b="1" dirty="0">
                <a:solidFill>
                  <a:srgbClr val="00D4FF"/>
                </a:solidFill>
                <a:latin typeface="Calibri" pitchFamily="34" charset="0"/>
                <a:ea typeface="Calibri" pitchFamily="34" charset="-122"/>
                <a:cs typeface="Calibri" pitchFamily="34" charset="-120"/>
              </a:rPr>
              <a:t>3</a:t>
            </a:r>
            <a:endParaRPr lang="en-US" sz="2200" dirty="0"/>
          </a:p>
        </p:txBody>
      </p:sp>
      <p:sp>
        <p:nvSpPr>
          <p:cNvPr id="16" name="Text 14"/>
          <p:cNvSpPr/>
          <p:nvPr/>
        </p:nvSpPr>
        <p:spPr>
          <a:xfrm>
            <a:off x="1115568" y="3072384"/>
            <a:ext cx="155448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Per-Class Evidence: </a:t>
            </a:r>
            <a:endParaRPr lang="en-US" sz="1200" dirty="0"/>
          </a:p>
        </p:txBody>
      </p:sp>
      <p:sp>
        <p:nvSpPr>
          <p:cNvPr id="17" name="Text 15"/>
          <p:cNvSpPr/>
          <p:nvPr/>
        </p:nvSpPr>
        <p:spPr>
          <a:xfrm>
            <a:off x="1115568" y="3383280"/>
            <a:ext cx="7452360" cy="420624"/>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Violence AUC: 0.94 (hybrid) vs 0.79 (EfficientNet). Motion-intensive crimes benefit most — +15 pts on Violence, +14 pts on Theft. Static crimes show smaller gaps.</a:t>
            </a:r>
            <a:endParaRPr lang="en-US" sz="1100" dirty="0"/>
          </a:p>
        </p:txBody>
      </p:sp>
      <p:sp>
        <p:nvSpPr>
          <p:cNvPr id="18" name="Shape 16"/>
          <p:cNvSpPr/>
          <p:nvPr/>
        </p:nvSpPr>
        <p:spPr>
          <a:xfrm>
            <a:off x="457200" y="3968496"/>
            <a:ext cx="8229600" cy="886968"/>
          </a:xfrm>
          <a:prstGeom prst="roundRect">
            <a:avLst>
              <a:gd name="adj" fmla="val 7216"/>
            </a:avLst>
          </a:prstGeom>
          <a:solidFill>
            <a:srgbClr val="111D2E"/>
          </a:solidFill>
          <a:ln/>
        </p:spPr>
      </p:sp>
      <p:sp>
        <p:nvSpPr>
          <p:cNvPr id="19" name="Text 17"/>
          <p:cNvSpPr/>
          <p:nvPr/>
        </p:nvSpPr>
        <p:spPr>
          <a:xfrm>
            <a:off x="566928" y="4023360"/>
            <a:ext cx="457200" cy="457200"/>
          </a:xfrm>
          <a:prstGeom prst="rect">
            <a:avLst/>
          </a:prstGeom>
          <a:noFill/>
          <a:ln/>
        </p:spPr>
        <p:txBody>
          <a:bodyPr wrap="square" lIns="0" tIns="0" rIns="0" bIns="0" rtlCol="0" anchor="ctr"/>
          <a:lstStyle/>
          <a:p>
            <a:pPr algn="ctr" indent="0" marL="0">
              <a:buNone/>
            </a:pPr>
            <a:r>
              <a:rPr lang="en-US" sz="2200" b="1" dirty="0">
                <a:solidFill>
                  <a:srgbClr val="00D4FF"/>
                </a:solidFill>
                <a:latin typeface="Calibri" pitchFamily="34" charset="0"/>
                <a:ea typeface="Calibri" pitchFamily="34" charset="-122"/>
                <a:cs typeface="Calibri" pitchFamily="34" charset="-120"/>
              </a:rPr>
              <a:t>4</a:t>
            </a:r>
            <a:endParaRPr lang="en-US" sz="2200" dirty="0"/>
          </a:p>
        </p:txBody>
      </p:sp>
      <p:sp>
        <p:nvSpPr>
          <p:cNvPr id="20" name="Text 18"/>
          <p:cNvSpPr/>
          <p:nvPr/>
        </p:nvSpPr>
        <p:spPr>
          <a:xfrm>
            <a:off x="1115568" y="4059936"/>
            <a:ext cx="155448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Complementary Features: </a:t>
            </a:r>
            <a:endParaRPr lang="en-US" sz="1200" dirty="0"/>
          </a:p>
        </p:txBody>
      </p:sp>
      <p:sp>
        <p:nvSpPr>
          <p:cNvPr id="21" name="Text 19"/>
          <p:cNvSpPr/>
          <p:nvPr/>
        </p:nvSpPr>
        <p:spPr>
          <a:xfrm>
            <a:off x="1115568" y="4370832"/>
            <a:ext cx="7452360" cy="420624"/>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2048-D appearance + 512-D motion → 2560-D joint representation provides richer discrimination surface than EfficientNet's 1280-D appearance-only embedding.</a:t>
            </a:r>
            <a:endParaRPr lang="en-US" sz="1100" dirty="0"/>
          </a:p>
        </p:txBody>
      </p:sp>
      <p:sp>
        <p:nvSpPr>
          <p:cNvPr id="22" name="Text 20"/>
          <p:cNvSpPr/>
          <p:nvPr/>
        </p:nvSpPr>
        <p:spPr>
          <a:xfrm>
            <a:off x="457200" y="4956048"/>
            <a:ext cx="8229600" cy="228600"/>
          </a:xfrm>
          <a:prstGeom prst="rect">
            <a:avLst/>
          </a:prstGeom>
          <a:noFill/>
          <a:ln/>
        </p:spPr>
        <p:txBody>
          <a:bodyPr wrap="square" lIns="0" tIns="0" rIns="0" bIns="0" rtlCol="0" anchor="ctr"/>
          <a:lstStyle/>
          <a:p>
            <a:pPr indent="0" marL="0">
              <a:buNone/>
            </a:pPr>
            <a:r>
              <a:rPr lang="en-US" sz="1100" i="1" dirty="0">
                <a:solidFill>
                  <a:srgbClr val="F59E0B"/>
                </a:solidFill>
                <a:latin typeface="Calibri" pitchFamily="34" charset="0"/>
                <a:ea typeface="Calibri" pitchFamily="34" charset="-122"/>
                <a:cs typeface="Calibri" pitchFamily="34" charset="-120"/>
              </a:rPr>
              <a:t>Conclusion: The performance gap is fundamentally architectural — temporal reasoning capabilities cannot be retrofitted into a spatial-only model.</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8 · TRAINING PROCESS</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Training Pipeline</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87552"/>
            <a:ext cx="4023360" cy="1234440"/>
          </a:xfrm>
          <a:prstGeom prst="roundRect">
            <a:avLst>
              <a:gd name="adj" fmla="val 5185"/>
            </a:avLst>
          </a:prstGeom>
          <a:solidFill>
            <a:srgbClr val="111D2E"/>
          </a:solidFill>
          <a:ln/>
        </p:spPr>
      </p:sp>
      <p:sp>
        <p:nvSpPr>
          <p:cNvPr id="7" name="Text 5"/>
          <p:cNvSpPr/>
          <p:nvPr/>
        </p:nvSpPr>
        <p:spPr>
          <a:xfrm>
            <a:off x="548640" y="1033272"/>
            <a:ext cx="384048" cy="502920"/>
          </a:xfrm>
          <a:prstGeom prst="rect">
            <a:avLst/>
          </a:prstGeom>
          <a:noFill/>
          <a:ln/>
        </p:spPr>
        <p:txBody>
          <a:bodyPr wrap="square" lIns="0" tIns="0" rIns="0" bIns="0" rtlCol="0" anchor="ctr"/>
          <a:lstStyle/>
          <a:p>
            <a:pPr algn="ctr" indent="0" marL="0">
              <a:buNone/>
            </a:pPr>
            <a:r>
              <a:rPr lang="en-US" sz="2200" b="1" dirty="0">
                <a:solidFill>
                  <a:srgbClr val="00D4FF"/>
                </a:solidFill>
                <a:latin typeface="Calibri" pitchFamily="34" charset="0"/>
                <a:ea typeface="Calibri" pitchFamily="34" charset="-122"/>
                <a:cs typeface="Calibri" pitchFamily="34" charset="-120"/>
              </a:rPr>
              <a:t>1</a:t>
            </a:r>
            <a:endParaRPr lang="en-US" sz="2200" dirty="0"/>
          </a:p>
        </p:txBody>
      </p:sp>
      <p:sp>
        <p:nvSpPr>
          <p:cNvPr id="8" name="Text 6"/>
          <p:cNvSpPr/>
          <p:nvPr/>
        </p:nvSpPr>
        <p:spPr>
          <a:xfrm>
            <a:off x="1024128" y="1060704"/>
            <a:ext cx="333756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Dataset Loading</a:t>
            </a:r>
            <a:endParaRPr lang="en-US" sz="1200" dirty="0"/>
          </a:p>
        </p:txBody>
      </p:sp>
      <p:sp>
        <p:nvSpPr>
          <p:cNvPr id="9" name="Text 7"/>
          <p:cNvSpPr/>
          <p:nvPr/>
        </p:nvSpPr>
        <p:spPr>
          <a:xfrm>
            <a:off x="1024128" y="1399032"/>
            <a:ext cx="3337560" cy="74980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Stratified UCF-Crime loader with clip-level annotations. Inverse-weight RandomSampler equalizes gradient contribution across 9 classes.</a:t>
            </a:r>
            <a:endParaRPr lang="en-US" sz="1050" dirty="0"/>
          </a:p>
        </p:txBody>
      </p:sp>
      <p:sp>
        <p:nvSpPr>
          <p:cNvPr id="10" name="Shape 8"/>
          <p:cNvSpPr/>
          <p:nvPr/>
        </p:nvSpPr>
        <p:spPr>
          <a:xfrm>
            <a:off x="4800600" y="987552"/>
            <a:ext cx="4023360" cy="1234440"/>
          </a:xfrm>
          <a:prstGeom prst="roundRect">
            <a:avLst>
              <a:gd name="adj" fmla="val 5185"/>
            </a:avLst>
          </a:prstGeom>
          <a:solidFill>
            <a:srgbClr val="111D2E"/>
          </a:solidFill>
          <a:ln/>
        </p:spPr>
      </p:sp>
      <p:sp>
        <p:nvSpPr>
          <p:cNvPr id="11" name="Text 9"/>
          <p:cNvSpPr/>
          <p:nvPr/>
        </p:nvSpPr>
        <p:spPr>
          <a:xfrm>
            <a:off x="4892040" y="1033272"/>
            <a:ext cx="384048" cy="502920"/>
          </a:xfrm>
          <a:prstGeom prst="rect">
            <a:avLst/>
          </a:prstGeom>
          <a:noFill/>
          <a:ln/>
        </p:spPr>
        <p:txBody>
          <a:bodyPr wrap="square" lIns="0" tIns="0" rIns="0" bIns="0" rtlCol="0" anchor="ctr"/>
          <a:lstStyle/>
          <a:p>
            <a:pPr algn="ctr" indent="0" marL="0">
              <a:buNone/>
            </a:pPr>
            <a:r>
              <a:rPr lang="en-US" sz="2200" b="1" dirty="0">
                <a:solidFill>
                  <a:srgbClr val="00D4FF"/>
                </a:solidFill>
                <a:latin typeface="Calibri" pitchFamily="34" charset="0"/>
                <a:ea typeface="Calibri" pitchFamily="34" charset="-122"/>
                <a:cs typeface="Calibri" pitchFamily="34" charset="-120"/>
              </a:rPr>
              <a:t>2</a:t>
            </a:r>
            <a:endParaRPr lang="en-US" sz="2200" dirty="0"/>
          </a:p>
        </p:txBody>
      </p:sp>
      <p:sp>
        <p:nvSpPr>
          <p:cNvPr id="12" name="Text 10"/>
          <p:cNvSpPr/>
          <p:nvPr/>
        </p:nvSpPr>
        <p:spPr>
          <a:xfrm>
            <a:off x="5367528" y="1060704"/>
            <a:ext cx="333756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Augmentation</a:t>
            </a:r>
            <a:endParaRPr lang="en-US" sz="1200" dirty="0"/>
          </a:p>
        </p:txBody>
      </p:sp>
      <p:sp>
        <p:nvSpPr>
          <p:cNvPr id="13" name="Text 11"/>
          <p:cNvSpPr/>
          <p:nvPr/>
        </p:nvSpPr>
        <p:spPr>
          <a:xfrm>
            <a:off x="5367528" y="1399032"/>
            <a:ext cx="3337560" cy="74980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Online spatial augmentation: random crop, H-flip, brightness jitter, temporal jitter. Applied per-batch during training only.</a:t>
            </a:r>
            <a:endParaRPr lang="en-US" sz="1050" dirty="0"/>
          </a:p>
        </p:txBody>
      </p:sp>
      <p:sp>
        <p:nvSpPr>
          <p:cNvPr id="14" name="Shape 12"/>
          <p:cNvSpPr/>
          <p:nvPr/>
        </p:nvSpPr>
        <p:spPr>
          <a:xfrm>
            <a:off x="457200" y="2359152"/>
            <a:ext cx="4023360" cy="1234440"/>
          </a:xfrm>
          <a:prstGeom prst="roundRect">
            <a:avLst>
              <a:gd name="adj" fmla="val 5185"/>
            </a:avLst>
          </a:prstGeom>
          <a:solidFill>
            <a:srgbClr val="111D2E"/>
          </a:solidFill>
          <a:ln/>
        </p:spPr>
      </p:sp>
      <p:sp>
        <p:nvSpPr>
          <p:cNvPr id="15" name="Text 13"/>
          <p:cNvSpPr/>
          <p:nvPr/>
        </p:nvSpPr>
        <p:spPr>
          <a:xfrm>
            <a:off x="548640" y="2404872"/>
            <a:ext cx="384048" cy="502920"/>
          </a:xfrm>
          <a:prstGeom prst="rect">
            <a:avLst/>
          </a:prstGeom>
          <a:noFill/>
          <a:ln/>
        </p:spPr>
        <p:txBody>
          <a:bodyPr wrap="square" lIns="0" tIns="0" rIns="0" bIns="0" rtlCol="0" anchor="ctr"/>
          <a:lstStyle/>
          <a:p>
            <a:pPr algn="ctr" indent="0" marL="0">
              <a:buNone/>
            </a:pPr>
            <a:r>
              <a:rPr lang="en-US" sz="2200" b="1" dirty="0">
                <a:solidFill>
                  <a:srgbClr val="00D4FF"/>
                </a:solidFill>
                <a:latin typeface="Calibri" pitchFamily="34" charset="0"/>
                <a:ea typeface="Calibri" pitchFamily="34" charset="-122"/>
                <a:cs typeface="Calibri" pitchFamily="34" charset="-120"/>
              </a:rPr>
              <a:t>3</a:t>
            </a:r>
            <a:endParaRPr lang="en-US" sz="2200" dirty="0"/>
          </a:p>
        </p:txBody>
      </p:sp>
      <p:sp>
        <p:nvSpPr>
          <p:cNvPr id="16" name="Text 14"/>
          <p:cNvSpPr/>
          <p:nvPr/>
        </p:nvSpPr>
        <p:spPr>
          <a:xfrm>
            <a:off x="1024128" y="2432304"/>
            <a:ext cx="333756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Dual Forward Pass</a:t>
            </a:r>
            <a:endParaRPr lang="en-US" sz="1200" dirty="0"/>
          </a:p>
        </p:txBody>
      </p:sp>
      <p:sp>
        <p:nvSpPr>
          <p:cNvPr id="17" name="Text 15"/>
          <p:cNvSpPr/>
          <p:nvPr/>
        </p:nvSpPr>
        <p:spPr>
          <a:xfrm>
            <a:off x="1024128" y="2770632"/>
            <a:ext cx="3337560" cy="74980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Parallel ResNet-50 (frame) + R(2+1)D (clip) forward passes on GPU. Outputs concatenated and projected to 512-D token.</a:t>
            </a:r>
            <a:endParaRPr lang="en-US" sz="1050" dirty="0"/>
          </a:p>
        </p:txBody>
      </p:sp>
      <p:sp>
        <p:nvSpPr>
          <p:cNvPr id="18" name="Shape 16"/>
          <p:cNvSpPr/>
          <p:nvPr/>
        </p:nvSpPr>
        <p:spPr>
          <a:xfrm>
            <a:off x="4800600" y="2359152"/>
            <a:ext cx="4023360" cy="1234440"/>
          </a:xfrm>
          <a:prstGeom prst="roundRect">
            <a:avLst>
              <a:gd name="adj" fmla="val 5185"/>
            </a:avLst>
          </a:prstGeom>
          <a:solidFill>
            <a:srgbClr val="111D2E"/>
          </a:solidFill>
          <a:ln/>
        </p:spPr>
      </p:sp>
      <p:sp>
        <p:nvSpPr>
          <p:cNvPr id="19" name="Text 17"/>
          <p:cNvSpPr/>
          <p:nvPr/>
        </p:nvSpPr>
        <p:spPr>
          <a:xfrm>
            <a:off x="4892040" y="2404872"/>
            <a:ext cx="384048" cy="502920"/>
          </a:xfrm>
          <a:prstGeom prst="rect">
            <a:avLst/>
          </a:prstGeom>
          <a:noFill/>
          <a:ln/>
        </p:spPr>
        <p:txBody>
          <a:bodyPr wrap="square" lIns="0" tIns="0" rIns="0" bIns="0" rtlCol="0" anchor="ctr"/>
          <a:lstStyle/>
          <a:p>
            <a:pPr algn="ctr" indent="0" marL="0">
              <a:buNone/>
            </a:pPr>
            <a:r>
              <a:rPr lang="en-US" sz="2200" b="1" dirty="0">
                <a:solidFill>
                  <a:srgbClr val="00D4FF"/>
                </a:solidFill>
                <a:latin typeface="Calibri" pitchFamily="34" charset="0"/>
                <a:ea typeface="Calibri" pitchFamily="34" charset="-122"/>
                <a:cs typeface="Calibri" pitchFamily="34" charset="-120"/>
              </a:rPr>
              <a:t>4</a:t>
            </a:r>
            <a:endParaRPr lang="en-US" sz="2200" dirty="0"/>
          </a:p>
        </p:txBody>
      </p:sp>
      <p:sp>
        <p:nvSpPr>
          <p:cNvPr id="20" name="Text 18"/>
          <p:cNvSpPr/>
          <p:nvPr/>
        </p:nvSpPr>
        <p:spPr>
          <a:xfrm>
            <a:off x="5367528" y="2432304"/>
            <a:ext cx="333756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ViT Sequence</a:t>
            </a:r>
            <a:endParaRPr lang="en-US" sz="1200" dirty="0"/>
          </a:p>
        </p:txBody>
      </p:sp>
      <p:sp>
        <p:nvSpPr>
          <p:cNvPr id="21" name="Text 19"/>
          <p:cNvSpPr/>
          <p:nvPr/>
        </p:nvSpPr>
        <p:spPr>
          <a:xfrm>
            <a:off x="5367528" y="2770632"/>
            <a:ext cx="3337560" cy="74980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8 tokens assembled into sliding window. [CLS] + Epos prepended. 4-block transformer encoder executed. CLS token extracted.</a:t>
            </a:r>
            <a:endParaRPr lang="en-US" sz="1050" dirty="0"/>
          </a:p>
        </p:txBody>
      </p:sp>
      <p:sp>
        <p:nvSpPr>
          <p:cNvPr id="22" name="Shape 20"/>
          <p:cNvSpPr/>
          <p:nvPr/>
        </p:nvSpPr>
        <p:spPr>
          <a:xfrm>
            <a:off x="457200" y="3730752"/>
            <a:ext cx="4023360" cy="1234440"/>
          </a:xfrm>
          <a:prstGeom prst="roundRect">
            <a:avLst>
              <a:gd name="adj" fmla="val 5185"/>
            </a:avLst>
          </a:prstGeom>
          <a:solidFill>
            <a:srgbClr val="111D2E"/>
          </a:solidFill>
          <a:ln/>
        </p:spPr>
      </p:sp>
      <p:sp>
        <p:nvSpPr>
          <p:cNvPr id="23" name="Text 21"/>
          <p:cNvSpPr/>
          <p:nvPr/>
        </p:nvSpPr>
        <p:spPr>
          <a:xfrm>
            <a:off x="548640" y="3776472"/>
            <a:ext cx="384048" cy="502920"/>
          </a:xfrm>
          <a:prstGeom prst="rect">
            <a:avLst/>
          </a:prstGeom>
          <a:noFill/>
          <a:ln/>
        </p:spPr>
        <p:txBody>
          <a:bodyPr wrap="square" lIns="0" tIns="0" rIns="0" bIns="0" rtlCol="0" anchor="ctr"/>
          <a:lstStyle/>
          <a:p>
            <a:pPr algn="ctr" indent="0" marL="0">
              <a:buNone/>
            </a:pPr>
            <a:r>
              <a:rPr lang="en-US" sz="2200" b="1" dirty="0">
                <a:solidFill>
                  <a:srgbClr val="00D4FF"/>
                </a:solidFill>
                <a:latin typeface="Calibri" pitchFamily="34" charset="0"/>
                <a:ea typeface="Calibri" pitchFamily="34" charset="-122"/>
                <a:cs typeface="Calibri" pitchFamily="34" charset="-120"/>
              </a:rPr>
              <a:t>5</a:t>
            </a:r>
            <a:endParaRPr lang="en-US" sz="2200" dirty="0"/>
          </a:p>
        </p:txBody>
      </p:sp>
      <p:sp>
        <p:nvSpPr>
          <p:cNvPr id="24" name="Text 22"/>
          <p:cNvSpPr/>
          <p:nvPr/>
        </p:nvSpPr>
        <p:spPr>
          <a:xfrm>
            <a:off x="1024128" y="3803904"/>
            <a:ext cx="333756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Loss + Backprop</a:t>
            </a:r>
            <a:endParaRPr lang="en-US" sz="1200" dirty="0"/>
          </a:p>
        </p:txBody>
      </p:sp>
      <p:sp>
        <p:nvSpPr>
          <p:cNvPr id="25" name="Text 23"/>
          <p:cNvSpPr/>
          <p:nvPr/>
        </p:nvSpPr>
        <p:spPr>
          <a:xfrm>
            <a:off x="1024128" y="4142232"/>
            <a:ext cx="3337560" cy="74980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Cross-Entropy + label smoothing (α=0.1). AdamW optimizer. Cosine LR schedule. Gradient clipping at 1.0.</a:t>
            </a:r>
            <a:endParaRPr lang="en-US" sz="1050" dirty="0"/>
          </a:p>
        </p:txBody>
      </p:sp>
      <p:sp>
        <p:nvSpPr>
          <p:cNvPr id="26" name="Shape 24"/>
          <p:cNvSpPr/>
          <p:nvPr/>
        </p:nvSpPr>
        <p:spPr>
          <a:xfrm>
            <a:off x="4800600" y="3730752"/>
            <a:ext cx="4023360" cy="1234440"/>
          </a:xfrm>
          <a:prstGeom prst="roundRect">
            <a:avLst>
              <a:gd name="adj" fmla="val 5185"/>
            </a:avLst>
          </a:prstGeom>
          <a:solidFill>
            <a:srgbClr val="111D2E"/>
          </a:solidFill>
          <a:ln/>
        </p:spPr>
      </p:sp>
      <p:sp>
        <p:nvSpPr>
          <p:cNvPr id="27" name="Text 25"/>
          <p:cNvSpPr/>
          <p:nvPr/>
        </p:nvSpPr>
        <p:spPr>
          <a:xfrm>
            <a:off x="4892040" y="3776472"/>
            <a:ext cx="384048" cy="502920"/>
          </a:xfrm>
          <a:prstGeom prst="rect">
            <a:avLst/>
          </a:prstGeom>
          <a:noFill/>
          <a:ln/>
        </p:spPr>
        <p:txBody>
          <a:bodyPr wrap="square" lIns="0" tIns="0" rIns="0" bIns="0" rtlCol="0" anchor="ctr"/>
          <a:lstStyle/>
          <a:p>
            <a:pPr algn="ctr" indent="0" marL="0">
              <a:buNone/>
            </a:pPr>
            <a:r>
              <a:rPr lang="en-US" sz="2200" b="1" dirty="0">
                <a:solidFill>
                  <a:srgbClr val="00D4FF"/>
                </a:solidFill>
                <a:latin typeface="Calibri" pitchFamily="34" charset="0"/>
                <a:ea typeface="Calibri" pitchFamily="34" charset="-122"/>
                <a:cs typeface="Calibri" pitchFamily="34" charset="-120"/>
              </a:rPr>
              <a:t>6</a:t>
            </a:r>
            <a:endParaRPr lang="en-US" sz="2200" dirty="0"/>
          </a:p>
        </p:txBody>
      </p:sp>
      <p:sp>
        <p:nvSpPr>
          <p:cNvPr id="28" name="Text 26"/>
          <p:cNvSpPr/>
          <p:nvPr/>
        </p:nvSpPr>
        <p:spPr>
          <a:xfrm>
            <a:off x="5367528" y="3803904"/>
            <a:ext cx="333756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Validation</a:t>
            </a:r>
            <a:endParaRPr lang="en-US" sz="1200" dirty="0"/>
          </a:p>
        </p:txBody>
      </p:sp>
      <p:sp>
        <p:nvSpPr>
          <p:cNvPr id="29" name="Text 27"/>
          <p:cNvSpPr/>
          <p:nvPr/>
        </p:nvSpPr>
        <p:spPr>
          <a:xfrm>
            <a:off x="5367528" y="4142232"/>
            <a:ext cx="3337560" cy="74980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Early stopping monitors val loss (patience=10). Best model checkpoint saved. LR reduces on plateau.</a:t>
            </a:r>
            <a:endParaRPr lang="en-US" sz="10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8 · TRAINING PROCESS</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Training Configuration — Best Batch (Batch 3)</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4114800"/>
        </p:xfrm>
        <a:graphic>
          <a:graphicData uri="http://schemas.openxmlformats.org/drawingml/2006/table">
            <a:tbl>
              <a:tblPr/>
              <a:tblGrid>
                <a:gridCol w="2194560"/>
                <a:gridCol w="6035040"/>
              </a:tblGrid>
              <a:tr h="34290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Parameter</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Value</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r>
              <a:tr h="342900">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Optimizer</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AdamW</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342900">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Learning Rate</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2×10⁻⁴ (best batch) | range: 5×10⁻⁵ to 2×10⁻⁴ across 5 batches</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342900">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LR Schedule</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Cosine Annealing + Plateau reduction + Early Stopping (patience=10)</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342900">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Batch Size</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64 (best batch) | tested: 32, 64, 128</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342900">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Dropout</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0.4 (best batch) | range: 0.1 to 0.4</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342900">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Weight Decay</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1×10⁻⁵</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342900">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Gradient Clipping</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342900">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Label Smoothing</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α = 0.1</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342900">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Max Epochs</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60 (early stopping typically triggers at ~35-40)</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342900">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Seed (best run)</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57 (batch 3 / run 4)</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342900">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Hardware</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100" dirty="0">
                          <a:solidFill>
                            <a:srgbClr val="CBD5E1"/>
                          </a:solidFill>
                          <a:latin typeface="Calibri" pitchFamily="34" charset="0"/>
                          <a:ea typeface="Calibri" pitchFamily="34" charset="-122"/>
                          <a:cs typeface="Calibri" pitchFamily="34" charset="-120"/>
                        </a:rPr>
                        <a:t>NVIDIA RTX 4070 GPU | PyTorch + PyTorch Lightning</a:t>
                      </a:r>
                      <a:endParaRPr lang="en-US" sz="11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8 · TRAINING PROCESS</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Loss Curve Analysis</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graphicFrame>
        <p:nvGraphicFramePr>
          <p:cNvPr id="6" name="Chart 0" descr=""/>
          <p:cNvGraphicFramePr/>
          <p:nvPr/>
        </p:nvGraphicFramePr>
        <p:xfrm>
          <a:off x="457200" y="960120"/>
          <a:ext cx="8229600" cy="32004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457200" y="4279392"/>
            <a:ext cx="1554480" cy="246888"/>
          </a:xfrm>
          <a:prstGeom prst="rect">
            <a:avLst/>
          </a:prstGeom>
          <a:noFill/>
          <a:ln/>
        </p:spPr>
        <p:txBody>
          <a:bodyPr wrap="square" lIns="0" tIns="0" rIns="0" bIns="0" rtlCol="0" anchor="ctr"/>
          <a:lstStyle/>
          <a:p>
            <a:pPr indent="0" marL="0">
              <a:buNone/>
            </a:pPr>
            <a:r>
              <a:rPr lang="en-US" sz="1100" b="1" dirty="0">
                <a:solidFill>
                  <a:srgbClr val="00D4FF"/>
                </a:solidFill>
                <a:latin typeface="Calibri" pitchFamily="34" charset="0"/>
                <a:ea typeface="Calibri" pitchFamily="34" charset="-122"/>
                <a:cs typeface="Calibri" pitchFamily="34" charset="-120"/>
              </a:rPr>
              <a:t>No Divergence: </a:t>
            </a:r>
            <a:endParaRPr lang="en-US" sz="1100" dirty="0"/>
          </a:p>
        </p:txBody>
      </p:sp>
      <p:sp>
        <p:nvSpPr>
          <p:cNvPr id="8" name="Text 5"/>
          <p:cNvSpPr/>
          <p:nvPr/>
        </p:nvSpPr>
        <p:spPr>
          <a:xfrm>
            <a:off x="2057400" y="4279392"/>
            <a:ext cx="6675120" cy="246888"/>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Train and val loss converge together — no overfitting. Label smoothing and early stopping are effective.</a:t>
            </a:r>
            <a:endParaRPr lang="en-US" sz="1100" dirty="0"/>
          </a:p>
        </p:txBody>
      </p:sp>
      <p:sp>
        <p:nvSpPr>
          <p:cNvPr id="9" name="Text 6"/>
          <p:cNvSpPr/>
          <p:nvPr/>
        </p:nvSpPr>
        <p:spPr>
          <a:xfrm>
            <a:off x="457200" y="4553712"/>
            <a:ext cx="1554480" cy="246888"/>
          </a:xfrm>
          <a:prstGeom prst="rect">
            <a:avLst/>
          </a:prstGeom>
          <a:noFill/>
          <a:ln/>
        </p:spPr>
        <p:txBody>
          <a:bodyPr wrap="square" lIns="0" tIns="0" rIns="0" bIns="0" rtlCol="0" anchor="ctr"/>
          <a:lstStyle/>
          <a:p>
            <a:pPr indent="0" marL="0">
              <a:buNone/>
            </a:pPr>
            <a:r>
              <a:rPr lang="en-US" sz="1100" b="1" dirty="0">
                <a:solidFill>
                  <a:srgbClr val="00D4FF"/>
                </a:solidFill>
                <a:latin typeface="Calibri" pitchFamily="34" charset="0"/>
                <a:ea typeface="Calibri" pitchFamily="34" charset="-122"/>
                <a:cs typeface="Calibri" pitchFamily="34" charset="-120"/>
              </a:rPr>
              <a:t>Smooth Decay: </a:t>
            </a:r>
            <a:endParaRPr lang="en-US" sz="1100" dirty="0"/>
          </a:p>
        </p:txBody>
      </p:sp>
      <p:sp>
        <p:nvSpPr>
          <p:cNvPr id="10" name="Text 7"/>
          <p:cNvSpPr/>
          <p:nvPr/>
        </p:nvSpPr>
        <p:spPr>
          <a:xfrm>
            <a:off x="2057400" y="4553712"/>
            <a:ext cx="6675120" cy="246888"/>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Cosine annealing produces smooth monotonic loss reduction without oscillations from hard LR steps.</a:t>
            </a:r>
            <a:endParaRPr lang="en-US" sz="1100" dirty="0"/>
          </a:p>
        </p:txBody>
      </p:sp>
      <p:sp>
        <p:nvSpPr>
          <p:cNvPr id="11" name="Text 8"/>
          <p:cNvSpPr/>
          <p:nvPr/>
        </p:nvSpPr>
        <p:spPr>
          <a:xfrm>
            <a:off x="457200" y="4828032"/>
            <a:ext cx="1554480" cy="246888"/>
          </a:xfrm>
          <a:prstGeom prst="rect">
            <a:avLst/>
          </a:prstGeom>
          <a:noFill/>
          <a:ln/>
        </p:spPr>
        <p:txBody>
          <a:bodyPr wrap="square" lIns="0" tIns="0" rIns="0" bIns="0" rtlCol="0" anchor="ctr"/>
          <a:lstStyle/>
          <a:p>
            <a:pPr indent="0" marL="0">
              <a:buNone/>
            </a:pPr>
            <a:r>
              <a:rPr lang="en-US" sz="1100" b="1" dirty="0">
                <a:solidFill>
                  <a:srgbClr val="00D4FF"/>
                </a:solidFill>
                <a:latin typeface="Calibri" pitchFamily="34" charset="0"/>
                <a:ea typeface="Calibri" pitchFamily="34" charset="-122"/>
                <a:cs typeface="Calibri" pitchFamily="34" charset="-120"/>
              </a:rPr>
              <a:t>Early Stopping: </a:t>
            </a:r>
            <a:endParaRPr lang="en-US" sz="1100" dirty="0"/>
          </a:p>
        </p:txBody>
      </p:sp>
      <p:sp>
        <p:nvSpPr>
          <p:cNvPr id="12" name="Text 9"/>
          <p:cNvSpPr/>
          <p:nvPr/>
        </p:nvSpPr>
        <p:spPr>
          <a:xfrm>
            <a:off x="2057400" y="4828032"/>
            <a:ext cx="6675120" cy="246888"/>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Validation loss plateaus ~epoch 35 → early stopping triggers by epoch 38-42, saving best checkpoint.</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8 · TRAINING PROCESS</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Accuracy Curve Analysis</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graphicFrame>
        <p:nvGraphicFramePr>
          <p:cNvPr id="6" name="Chart 0" descr=""/>
          <p:cNvGraphicFramePr/>
          <p:nvPr/>
        </p:nvGraphicFramePr>
        <p:xfrm>
          <a:off x="457200" y="960120"/>
          <a:ext cx="8229600" cy="32004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457200" y="4279392"/>
            <a:ext cx="1554480" cy="246888"/>
          </a:xfrm>
          <a:prstGeom prst="rect">
            <a:avLst/>
          </a:prstGeom>
          <a:noFill/>
          <a:ln/>
        </p:spPr>
        <p:txBody>
          <a:bodyPr wrap="square" lIns="0" tIns="0" rIns="0" bIns="0" rtlCol="0" anchor="ctr"/>
          <a:lstStyle/>
          <a:p>
            <a:pPr indent="0" marL="0">
              <a:buNone/>
            </a:pPr>
            <a:r>
              <a:rPr lang="en-US" sz="1100" b="1" dirty="0">
                <a:solidFill>
                  <a:srgbClr val="00D4FF"/>
                </a:solidFill>
                <a:latin typeface="Calibri" pitchFamily="34" charset="0"/>
                <a:ea typeface="Calibri" pitchFamily="34" charset="-122"/>
                <a:cs typeface="Calibri" pitchFamily="34" charset="-120"/>
              </a:rPr>
              <a:t>Generalization: </a:t>
            </a:r>
            <a:endParaRPr lang="en-US" sz="1100" dirty="0"/>
          </a:p>
        </p:txBody>
      </p:sp>
      <p:sp>
        <p:nvSpPr>
          <p:cNvPr id="8" name="Text 5"/>
          <p:cNvSpPr/>
          <p:nvPr/>
        </p:nvSpPr>
        <p:spPr>
          <a:xfrm>
            <a:off x="2057400" y="4279392"/>
            <a:ext cx="6675120" cy="246888"/>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Val accuracy tracks training accuracy closely (&lt;2% gap) throughout — strong generalization from clip-level supervision + stratified split.</a:t>
            </a:r>
            <a:endParaRPr lang="en-US" sz="1100" dirty="0"/>
          </a:p>
        </p:txBody>
      </p:sp>
      <p:sp>
        <p:nvSpPr>
          <p:cNvPr id="9" name="Text 6"/>
          <p:cNvSpPr/>
          <p:nvPr/>
        </p:nvSpPr>
        <p:spPr>
          <a:xfrm>
            <a:off x="457200" y="4553712"/>
            <a:ext cx="1554480" cy="246888"/>
          </a:xfrm>
          <a:prstGeom prst="rect">
            <a:avLst/>
          </a:prstGeom>
          <a:noFill/>
          <a:ln/>
        </p:spPr>
        <p:txBody>
          <a:bodyPr wrap="square" lIns="0" tIns="0" rIns="0" bIns="0" rtlCol="0" anchor="ctr"/>
          <a:lstStyle/>
          <a:p>
            <a:pPr indent="0" marL="0">
              <a:buNone/>
            </a:pPr>
            <a:r>
              <a:rPr lang="en-US" sz="1100" b="1" dirty="0">
                <a:solidFill>
                  <a:srgbClr val="00D4FF"/>
                </a:solidFill>
                <a:latin typeface="Calibri" pitchFamily="34" charset="0"/>
                <a:ea typeface="Calibri" pitchFamily="34" charset="-122"/>
                <a:cs typeface="Calibri" pitchFamily="34" charset="-120"/>
              </a:rPr>
              <a:t>Convergence Rate: </a:t>
            </a:r>
            <a:endParaRPr lang="en-US" sz="1100" dirty="0"/>
          </a:p>
        </p:txBody>
      </p:sp>
      <p:sp>
        <p:nvSpPr>
          <p:cNvPr id="10" name="Text 7"/>
          <p:cNvSpPr/>
          <p:nvPr/>
        </p:nvSpPr>
        <p:spPr>
          <a:xfrm>
            <a:off x="2057400" y="4553712"/>
            <a:ext cx="6675120" cy="246888"/>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Rapid initial gain (epochs 1-20) followed by slower refinement (epochs 20-40). ViT temporal modeling drives the later gains.</a:t>
            </a:r>
            <a:endParaRPr lang="en-US" sz="1100" dirty="0"/>
          </a:p>
        </p:txBody>
      </p:sp>
      <p:sp>
        <p:nvSpPr>
          <p:cNvPr id="11" name="Text 8"/>
          <p:cNvSpPr/>
          <p:nvPr/>
        </p:nvSpPr>
        <p:spPr>
          <a:xfrm>
            <a:off x="457200" y="4828032"/>
            <a:ext cx="1554480" cy="246888"/>
          </a:xfrm>
          <a:prstGeom prst="rect">
            <a:avLst/>
          </a:prstGeom>
          <a:noFill/>
          <a:ln/>
        </p:spPr>
        <p:txBody>
          <a:bodyPr wrap="square" lIns="0" tIns="0" rIns="0" bIns="0" rtlCol="0" anchor="ctr"/>
          <a:lstStyle/>
          <a:p>
            <a:pPr indent="0" marL="0">
              <a:buNone/>
            </a:pPr>
            <a:r>
              <a:rPr lang="en-US" sz="1100" b="1" dirty="0">
                <a:solidFill>
                  <a:srgbClr val="00D4FF"/>
                </a:solidFill>
                <a:latin typeface="Calibri" pitchFamily="34" charset="0"/>
                <a:ea typeface="Calibri" pitchFamily="34" charset="-122"/>
                <a:cs typeface="Calibri" pitchFamily="34" charset="-120"/>
              </a:rPr>
              <a:t>Final Performance: </a:t>
            </a:r>
            <a:endParaRPr lang="en-US" sz="1100" dirty="0"/>
          </a:p>
        </p:txBody>
      </p:sp>
      <p:sp>
        <p:nvSpPr>
          <p:cNvPr id="12" name="Text 9"/>
          <p:cNvSpPr/>
          <p:nvPr/>
        </p:nvSpPr>
        <p:spPr>
          <a:xfrm>
            <a:off x="2057400" y="4828032"/>
            <a:ext cx="6675120" cy="246888"/>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Best val accuracy: 91.58% (batch 3, run 4). Global mean across all 25 runs: 88.25% — demonstrating consistent performance.</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9 · RESULTS &amp; EVALUATION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Evaluation Methodology</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87552"/>
            <a:ext cx="4023360" cy="1170432"/>
          </a:xfrm>
          <a:prstGeom prst="roundRect">
            <a:avLst>
              <a:gd name="adj" fmla="val 5469"/>
            </a:avLst>
          </a:prstGeom>
          <a:solidFill>
            <a:srgbClr val="111D2E"/>
          </a:solidFill>
          <a:ln/>
        </p:spPr>
      </p:sp>
      <p:sp>
        <p:nvSpPr>
          <p:cNvPr id="7" name="Text 5"/>
          <p:cNvSpPr/>
          <p:nvPr/>
        </p:nvSpPr>
        <p:spPr>
          <a:xfrm>
            <a:off x="566928" y="1060704"/>
            <a:ext cx="3794760" cy="274320"/>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5 Hyperparameter Batches</a:t>
            </a:r>
            <a:endParaRPr lang="en-US" sz="1200" dirty="0"/>
          </a:p>
        </p:txBody>
      </p:sp>
      <p:sp>
        <p:nvSpPr>
          <p:cNvPr id="8" name="Text 6"/>
          <p:cNvSpPr/>
          <p:nvPr/>
        </p:nvSpPr>
        <p:spPr>
          <a:xfrm>
            <a:off x="566928" y="1389888"/>
            <a:ext cx="3794760" cy="713232"/>
          </a:xfrm>
          <a:prstGeom prst="rect">
            <a:avLst/>
          </a:prstGeom>
          <a:noFill/>
          <a:ln/>
        </p:spPr>
        <p:txBody>
          <a:bodyPr wrap="square" lIns="0" tIns="0" rIns="0" bIns="0" rtlCol="0" anchor="t"/>
          <a:lstStyle/>
          <a:p>
            <a:pPr indent="0" marL="0">
              <a:buNone/>
            </a:pPr>
            <a:r>
              <a:rPr lang="en-US" sz="1050" dirty="0">
                <a:solidFill>
                  <a:srgbClr val="CBD5E1"/>
                </a:solidFill>
                <a:latin typeface="Calibric" pitchFamily="34" charset="0"/>
                <a:ea typeface="Calibric" pitchFamily="34" charset="-122"/>
                <a:cs typeface="Calibric" pitchFamily="34" charset="-120"/>
              </a:rPr>
              <a:t>25 total runs across 5 distinct hyperparameter configurations. Each batch: 5 runs with different random seeds for statistical robustness.</a:t>
            </a:r>
            <a:endParaRPr lang="en-US" sz="1050" dirty="0"/>
          </a:p>
        </p:txBody>
      </p:sp>
      <p:sp>
        <p:nvSpPr>
          <p:cNvPr id="9" name="Shape 7"/>
          <p:cNvSpPr/>
          <p:nvPr/>
        </p:nvSpPr>
        <p:spPr>
          <a:xfrm>
            <a:off x="4800600" y="987552"/>
            <a:ext cx="4023360" cy="1170432"/>
          </a:xfrm>
          <a:prstGeom prst="roundRect">
            <a:avLst>
              <a:gd name="adj" fmla="val 5469"/>
            </a:avLst>
          </a:prstGeom>
          <a:solidFill>
            <a:srgbClr val="111D2E"/>
          </a:solidFill>
          <a:ln/>
        </p:spPr>
      </p:sp>
      <p:sp>
        <p:nvSpPr>
          <p:cNvPr id="10" name="Text 8"/>
          <p:cNvSpPr/>
          <p:nvPr/>
        </p:nvSpPr>
        <p:spPr>
          <a:xfrm>
            <a:off x="4910328" y="1060704"/>
            <a:ext cx="3794760" cy="274320"/>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Metrics Tracked</a:t>
            </a:r>
            <a:endParaRPr lang="en-US" sz="1200" dirty="0"/>
          </a:p>
        </p:txBody>
      </p:sp>
      <p:sp>
        <p:nvSpPr>
          <p:cNvPr id="11" name="Text 9"/>
          <p:cNvSpPr/>
          <p:nvPr/>
        </p:nvSpPr>
        <p:spPr>
          <a:xfrm>
            <a:off x="4910328" y="1389888"/>
            <a:ext cx="3794760" cy="713232"/>
          </a:xfrm>
          <a:prstGeom prst="rect">
            <a:avLst/>
          </a:prstGeom>
          <a:noFill/>
          <a:ln/>
        </p:spPr>
        <p:txBody>
          <a:bodyPr wrap="square" lIns="0" tIns="0" rIns="0" bIns="0" rtlCol="0" anchor="t"/>
          <a:lstStyle/>
          <a:p>
            <a:pPr indent="0" marL="0">
              <a:buNone/>
            </a:pPr>
            <a:r>
              <a:rPr lang="en-US" sz="1050" dirty="0">
                <a:solidFill>
                  <a:srgbClr val="CBD5E1"/>
                </a:solidFill>
                <a:latin typeface="Calibric" pitchFamily="34" charset="0"/>
                <a:ea typeface="Calibric" pitchFamily="34" charset="-122"/>
                <a:cs typeface="Calibric" pitchFamily="34" charset="-120"/>
              </a:rPr>
              <a:t>Accuracy, Precision, Recall, F1-score (macro), AUC-ROC (per-class + macro), Inference Latency (ms per batch).</a:t>
            </a:r>
            <a:endParaRPr lang="en-US" sz="1050" dirty="0"/>
          </a:p>
        </p:txBody>
      </p:sp>
      <p:sp>
        <p:nvSpPr>
          <p:cNvPr id="12" name="Shape 10"/>
          <p:cNvSpPr/>
          <p:nvPr/>
        </p:nvSpPr>
        <p:spPr>
          <a:xfrm>
            <a:off x="457200" y="2313432"/>
            <a:ext cx="4023360" cy="1170432"/>
          </a:xfrm>
          <a:prstGeom prst="roundRect">
            <a:avLst>
              <a:gd name="adj" fmla="val 5469"/>
            </a:avLst>
          </a:prstGeom>
          <a:solidFill>
            <a:srgbClr val="111D2E"/>
          </a:solidFill>
          <a:ln/>
        </p:spPr>
      </p:sp>
      <p:sp>
        <p:nvSpPr>
          <p:cNvPr id="13" name="Text 11"/>
          <p:cNvSpPr/>
          <p:nvPr/>
        </p:nvSpPr>
        <p:spPr>
          <a:xfrm>
            <a:off x="566928" y="2386584"/>
            <a:ext cx="3794760" cy="274320"/>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Statistical Analysis</a:t>
            </a:r>
            <a:endParaRPr lang="en-US" sz="1200" dirty="0"/>
          </a:p>
        </p:txBody>
      </p:sp>
      <p:sp>
        <p:nvSpPr>
          <p:cNvPr id="14" name="Text 12"/>
          <p:cNvSpPr/>
          <p:nvPr/>
        </p:nvSpPr>
        <p:spPr>
          <a:xfrm>
            <a:off x="566928" y="2715768"/>
            <a:ext cx="3794760" cy="713232"/>
          </a:xfrm>
          <a:prstGeom prst="rect">
            <a:avLst/>
          </a:prstGeom>
          <a:noFill/>
          <a:ln/>
        </p:spPr>
        <p:txBody>
          <a:bodyPr wrap="square" lIns="0" tIns="0" rIns="0" bIns="0" rtlCol="0" anchor="t"/>
          <a:lstStyle/>
          <a:p>
            <a:pPr indent="0" marL="0">
              <a:buNone/>
            </a:pPr>
            <a:r>
              <a:rPr lang="en-US" sz="1050" dirty="0">
                <a:solidFill>
                  <a:srgbClr val="CBD5E1"/>
                </a:solidFill>
                <a:latin typeface="Calibric" pitchFamily="34" charset="0"/>
                <a:ea typeface="Calibric" pitchFamily="34" charset="-122"/>
                <a:cs typeface="Calibric" pitchFamily="34" charset="-120"/>
              </a:rPr>
              <a:t>Mean ± std, 95% confidence intervals, stability scores, and correlation matrix across all metric pairs for all 25 runs.</a:t>
            </a:r>
            <a:endParaRPr lang="en-US" sz="1050" dirty="0"/>
          </a:p>
        </p:txBody>
      </p:sp>
      <p:sp>
        <p:nvSpPr>
          <p:cNvPr id="15" name="Shape 13"/>
          <p:cNvSpPr/>
          <p:nvPr/>
        </p:nvSpPr>
        <p:spPr>
          <a:xfrm>
            <a:off x="4800600" y="2313432"/>
            <a:ext cx="4023360" cy="1170432"/>
          </a:xfrm>
          <a:prstGeom prst="roundRect">
            <a:avLst>
              <a:gd name="adj" fmla="val 5469"/>
            </a:avLst>
          </a:prstGeom>
          <a:solidFill>
            <a:srgbClr val="111D2E"/>
          </a:solidFill>
          <a:ln/>
        </p:spPr>
      </p:sp>
      <p:sp>
        <p:nvSpPr>
          <p:cNvPr id="16" name="Text 14"/>
          <p:cNvSpPr/>
          <p:nvPr/>
        </p:nvSpPr>
        <p:spPr>
          <a:xfrm>
            <a:off x="4910328" y="2386584"/>
            <a:ext cx="3794760" cy="274320"/>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Test Set Isolation</a:t>
            </a:r>
            <a:endParaRPr lang="en-US" sz="1200" dirty="0"/>
          </a:p>
        </p:txBody>
      </p:sp>
      <p:sp>
        <p:nvSpPr>
          <p:cNvPr id="17" name="Text 15"/>
          <p:cNvSpPr/>
          <p:nvPr/>
        </p:nvSpPr>
        <p:spPr>
          <a:xfrm>
            <a:off x="4910328" y="2715768"/>
            <a:ext cx="3794760" cy="713232"/>
          </a:xfrm>
          <a:prstGeom prst="rect">
            <a:avLst/>
          </a:prstGeom>
          <a:noFill/>
          <a:ln/>
        </p:spPr>
        <p:txBody>
          <a:bodyPr wrap="square" lIns="0" tIns="0" rIns="0" bIns="0" rtlCol="0" anchor="t"/>
          <a:lstStyle/>
          <a:p>
            <a:pPr indent="0" marL="0">
              <a:buNone/>
            </a:pPr>
            <a:r>
              <a:rPr lang="en-US" sz="1050" dirty="0">
                <a:solidFill>
                  <a:srgbClr val="CBD5E1"/>
                </a:solidFill>
                <a:latin typeface="Calibric" pitchFamily="34" charset="0"/>
                <a:ea typeface="Calibric" pitchFamily="34" charset="-122"/>
                <a:cs typeface="Calibric" pitchFamily="34" charset="-120"/>
              </a:rPr>
              <a:t>15% stratified test set held out throughout all training. Used only for final evaluation — no hyperparameter tuning on test set.</a:t>
            </a:r>
            <a:endParaRPr lang="en-US" sz="1050" dirty="0"/>
          </a:p>
        </p:txBody>
      </p:sp>
      <p:sp>
        <p:nvSpPr>
          <p:cNvPr id="18" name="Shape 16"/>
          <p:cNvSpPr/>
          <p:nvPr/>
        </p:nvSpPr>
        <p:spPr>
          <a:xfrm>
            <a:off x="457200" y="3639312"/>
            <a:ext cx="4023360" cy="1170432"/>
          </a:xfrm>
          <a:prstGeom prst="roundRect">
            <a:avLst>
              <a:gd name="adj" fmla="val 5469"/>
            </a:avLst>
          </a:prstGeom>
          <a:solidFill>
            <a:srgbClr val="111D2E"/>
          </a:solidFill>
          <a:ln/>
        </p:spPr>
      </p:sp>
      <p:sp>
        <p:nvSpPr>
          <p:cNvPr id="19" name="Text 17"/>
          <p:cNvSpPr/>
          <p:nvPr/>
        </p:nvSpPr>
        <p:spPr>
          <a:xfrm>
            <a:off x="566928" y="3712464"/>
            <a:ext cx="3794760" cy="274320"/>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Latency Measurement</a:t>
            </a:r>
            <a:endParaRPr lang="en-US" sz="1200" dirty="0"/>
          </a:p>
        </p:txBody>
      </p:sp>
      <p:sp>
        <p:nvSpPr>
          <p:cNvPr id="20" name="Text 18"/>
          <p:cNvSpPr/>
          <p:nvPr/>
        </p:nvSpPr>
        <p:spPr>
          <a:xfrm>
            <a:off x="566928" y="4041648"/>
            <a:ext cx="3794760" cy="713232"/>
          </a:xfrm>
          <a:prstGeom prst="rect">
            <a:avLst/>
          </a:prstGeom>
          <a:noFill/>
          <a:ln/>
        </p:spPr>
        <p:txBody>
          <a:bodyPr wrap="square" lIns="0" tIns="0" rIns="0" bIns="0" rtlCol="0" anchor="t"/>
          <a:lstStyle/>
          <a:p>
            <a:pPr indent="0" marL="0">
              <a:buNone/>
            </a:pPr>
            <a:r>
              <a:rPr lang="en-US" sz="1050" dirty="0">
                <a:solidFill>
                  <a:srgbClr val="CBD5E1"/>
                </a:solidFill>
                <a:latin typeface="Calibric" pitchFamily="34" charset="0"/>
                <a:ea typeface="Calibric" pitchFamily="34" charset="-122"/>
                <a:cs typeface="Calibric" pitchFamily="34" charset="-120"/>
              </a:rPr>
              <a:t>End-to-end inference time measured per spatiotemporal window on NVIDIA RTX 4070 under live stream simulation conditions.</a:t>
            </a:r>
            <a:endParaRPr lang="en-US" sz="1050" dirty="0"/>
          </a:p>
        </p:txBody>
      </p:sp>
      <p:sp>
        <p:nvSpPr>
          <p:cNvPr id="21" name="Shape 19"/>
          <p:cNvSpPr/>
          <p:nvPr/>
        </p:nvSpPr>
        <p:spPr>
          <a:xfrm>
            <a:off x="4800600" y="3639312"/>
            <a:ext cx="4023360" cy="1170432"/>
          </a:xfrm>
          <a:prstGeom prst="roundRect">
            <a:avLst>
              <a:gd name="adj" fmla="val 5469"/>
            </a:avLst>
          </a:prstGeom>
          <a:solidFill>
            <a:srgbClr val="111D2E"/>
          </a:solidFill>
          <a:ln/>
        </p:spPr>
      </p:sp>
      <p:sp>
        <p:nvSpPr>
          <p:cNvPr id="22" name="Text 20"/>
          <p:cNvSpPr/>
          <p:nvPr/>
        </p:nvSpPr>
        <p:spPr>
          <a:xfrm>
            <a:off x="4910328" y="3712464"/>
            <a:ext cx="3794760" cy="274320"/>
          </a:xfrm>
          <a:prstGeom prst="rect">
            <a:avLst/>
          </a:prstGeom>
          <a:noFill/>
          <a:ln/>
        </p:spPr>
        <p:txBody>
          <a:bodyPr wrap="square" lIns="0" tIns="0" rIns="0" bIns="0"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Deployment Criterion</a:t>
            </a:r>
            <a:endParaRPr lang="en-US" sz="1200" dirty="0"/>
          </a:p>
        </p:txBody>
      </p:sp>
      <p:sp>
        <p:nvSpPr>
          <p:cNvPr id="23" name="Text 21"/>
          <p:cNvSpPr/>
          <p:nvPr/>
        </p:nvSpPr>
        <p:spPr>
          <a:xfrm>
            <a:off x="4910328" y="4041648"/>
            <a:ext cx="3794760" cy="713232"/>
          </a:xfrm>
          <a:prstGeom prst="rect">
            <a:avLst/>
          </a:prstGeom>
          <a:noFill/>
          <a:ln/>
        </p:spPr>
        <p:txBody>
          <a:bodyPr wrap="square" lIns="0" tIns="0" rIns="0" bIns="0" rtlCol="0" anchor="t"/>
          <a:lstStyle/>
          <a:p>
            <a:pPr indent="0" marL="0">
              <a:buNone/>
            </a:pPr>
            <a:r>
              <a:rPr lang="en-US" sz="1050" dirty="0">
                <a:solidFill>
                  <a:srgbClr val="CBD5E1"/>
                </a:solidFill>
                <a:latin typeface="Calibric" pitchFamily="34" charset="0"/>
                <a:ea typeface="Calibric" pitchFamily="34" charset="-122"/>
                <a:cs typeface="Calibric" pitchFamily="34" charset="-120"/>
              </a:rPr>
              <a:t>Production candidate: highest F1 score. Batch 3 / Run 4 selected (F1=0.9150, Acc=0.9158, Latency=9.86ms).</a:t>
            </a:r>
            <a:endParaRPr lang="en-US" sz="10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9 · RESULTS &amp; EVALUATION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Overall Evaluation Results</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1440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7" name="Text 5"/>
          <p:cNvSpPr/>
          <p:nvPr/>
        </p:nvSpPr>
        <p:spPr>
          <a:xfrm>
            <a:off x="457200" y="960120"/>
            <a:ext cx="1920240" cy="548640"/>
          </a:xfrm>
          <a:prstGeom prst="rect">
            <a:avLst/>
          </a:prstGeom>
          <a:noFill/>
          <a:ln/>
        </p:spPr>
        <p:txBody>
          <a:bodyPr wrap="square" lIns="0" tIns="0" rIns="0" bIns="0" rtlCol="0" anchor="ctr"/>
          <a:lstStyle/>
          <a:p>
            <a:pPr algn="ctr" indent="0" marL="0">
              <a:buNone/>
            </a:pPr>
            <a:r>
              <a:rPr lang="en-US" sz="2800" b="1" dirty="0">
                <a:solidFill>
                  <a:srgbClr val="00D4FF"/>
                </a:solidFill>
                <a:latin typeface="Calibri" pitchFamily="34" charset="0"/>
                <a:ea typeface="Calibri" pitchFamily="34" charset="-122"/>
                <a:cs typeface="Calibri" pitchFamily="34" charset="-120"/>
              </a:rPr>
              <a:t>91.58%</a:t>
            </a:r>
            <a:endParaRPr lang="en-US" sz="2800" dirty="0"/>
          </a:p>
        </p:txBody>
      </p:sp>
      <p:sp>
        <p:nvSpPr>
          <p:cNvPr id="8" name="Text 6"/>
          <p:cNvSpPr/>
          <p:nvPr/>
        </p:nvSpPr>
        <p:spPr>
          <a:xfrm>
            <a:off x="457200" y="150876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Peak Accuracy</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(Batch 3 / Run 4)</a:t>
            </a:r>
            <a:endParaRPr lang="en-US" sz="1000" dirty="0"/>
          </a:p>
        </p:txBody>
      </p:sp>
      <p:sp>
        <p:nvSpPr>
          <p:cNvPr id="9" name="Shape 7"/>
          <p:cNvSpPr/>
          <p:nvPr/>
        </p:nvSpPr>
        <p:spPr>
          <a:xfrm>
            <a:off x="2542032" y="91440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10" name="Text 8"/>
          <p:cNvSpPr/>
          <p:nvPr/>
        </p:nvSpPr>
        <p:spPr>
          <a:xfrm>
            <a:off x="2542032" y="960120"/>
            <a:ext cx="1920240" cy="548640"/>
          </a:xfrm>
          <a:prstGeom prst="rect">
            <a:avLst/>
          </a:prstGeom>
          <a:noFill/>
          <a:ln/>
        </p:spPr>
        <p:txBody>
          <a:bodyPr wrap="square" lIns="0" tIns="0" rIns="0" bIns="0" rtlCol="0" anchor="ctr"/>
          <a:lstStyle/>
          <a:p>
            <a:pPr algn="ctr" indent="0" marL="0">
              <a:buNone/>
            </a:pPr>
            <a:r>
              <a:rPr lang="en-US" sz="2800" b="1" dirty="0">
                <a:solidFill>
                  <a:srgbClr val="0EA5E9"/>
                </a:solidFill>
                <a:latin typeface="Calibri" pitchFamily="34" charset="0"/>
                <a:ea typeface="Calibri" pitchFamily="34" charset="-122"/>
                <a:cs typeface="Calibri" pitchFamily="34" charset="-120"/>
              </a:rPr>
              <a:t>91.50%</a:t>
            </a:r>
            <a:endParaRPr lang="en-US" sz="2800" dirty="0"/>
          </a:p>
        </p:txBody>
      </p:sp>
      <p:sp>
        <p:nvSpPr>
          <p:cNvPr id="11" name="Text 9"/>
          <p:cNvSpPr/>
          <p:nvPr/>
        </p:nvSpPr>
        <p:spPr>
          <a:xfrm>
            <a:off x="2542032" y="150876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Peak F1 Score</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(Batch 3 / Run 4)</a:t>
            </a:r>
            <a:endParaRPr lang="en-US" sz="1000" dirty="0"/>
          </a:p>
        </p:txBody>
      </p:sp>
      <p:sp>
        <p:nvSpPr>
          <p:cNvPr id="12" name="Shape 10"/>
          <p:cNvSpPr/>
          <p:nvPr/>
        </p:nvSpPr>
        <p:spPr>
          <a:xfrm>
            <a:off x="4626864" y="91440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13" name="Text 11"/>
          <p:cNvSpPr/>
          <p:nvPr/>
        </p:nvSpPr>
        <p:spPr>
          <a:xfrm>
            <a:off x="4626864" y="960120"/>
            <a:ext cx="1920240" cy="548640"/>
          </a:xfrm>
          <a:prstGeom prst="rect">
            <a:avLst/>
          </a:prstGeom>
          <a:noFill/>
          <a:ln/>
        </p:spPr>
        <p:txBody>
          <a:bodyPr wrap="square" lIns="0" tIns="0" rIns="0" bIns="0" rtlCol="0" anchor="ctr"/>
          <a:lstStyle/>
          <a:p>
            <a:pPr algn="ctr" indent="0" marL="0">
              <a:buNone/>
            </a:pPr>
            <a:r>
              <a:rPr lang="en-US" sz="2800" b="1" dirty="0">
                <a:solidFill>
                  <a:srgbClr val="10B981"/>
                </a:solidFill>
                <a:latin typeface="Calibri" pitchFamily="34" charset="0"/>
                <a:ea typeface="Calibri" pitchFamily="34" charset="-122"/>
                <a:cs typeface="Calibri" pitchFamily="34" charset="-120"/>
              </a:rPr>
              <a:t>94.83%</a:t>
            </a:r>
            <a:endParaRPr lang="en-US" sz="2800" dirty="0"/>
          </a:p>
        </p:txBody>
      </p:sp>
      <p:sp>
        <p:nvSpPr>
          <p:cNvPr id="14" name="Text 12"/>
          <p:cNvSpPr/>
          <p:nvPr/>
        </p:nvSpPr>
        <p:spPr>
          <a:xfrm>
            <a:off x="4626864" y="150876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Peak AUC</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(Batch 3 / Run 4)</a:t>
            </a:r>
            <a:endParaRPr lang="en-US" sz="1000" dirty="0"/>
          </a:p>
        </p:txBody>
      </p:sp>
      <p:sp>
        <p:nvSpPr>
          <p:cNvPr id="15" name="Shape 13"/>
          <p:cNvSpPr/>
          <p:nvPr/>
        </p:nvSpPr>
        <p:spPr>
          <a:xfrm>
            <a:off x="6711696" y="91440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16" name="Text 14"/>
          <p:cNvSpPr/>
          <p:nvPr/>
        </p:nvSpPr>
        <p:spPr>
          <a:xfrm>
            <a:off x="6711696" y="960120"/>
            <a:ext cx="1920240" cy="548640"/>
          </a:xfrm>
          <a:prstGeom prst="rect">
            <a:avLst/>
          </a:prstGeom>
          <a:noFill/>
          <a:ln/>
        </p:spPr>
        <p:txBody>
          <a:bodyPr wrap="square" lIns="0" tIns="0" rIns="0" bIns="0" rtlCol="0" anchor="ctr"/>
          <a:lstStyle/>
          <a:p>
            <a:pPr algn="ctr" indent="0" marL="0">
              <a:buNone/>
            </a:pPr>
            <a:r>
              <a:rPr lang="en-US" sz="2800" b="1" dirty="0">
                <a:solidFill>
                  <a:srgbClr val="F59E0B"/>
                </a:solidFill>
                <a:latin typeface="Calibri" pitchFamily="34" charset="0"/>
                <a:ea typeface="Calibri" pitchFamily="34" charset="-122"/>
                <a:cs typeface="Calibri" pitchFamily="34" charset="-120"/>
              </a:rPr>
              <a:t>9.86ms</a:t>
            </a:r>
            <a:endParaRPr lang="en-US" sz="2800" dirty="0"/>
          </a:p>
        </p:txBody>
      </p:sp>
      <p:sp>
        <p:nvSpPr>
          <p:cNvPr id="17" name="Text 15"/>
          <p:cNvSpPr/>
          <p:nvPr/>
        </p:nvSpPr>
        <p:spPr>
          <a:xfrm>
            <a:off x="6711696" y="150876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Best Latency</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(Batch 3 / Run 4)</a:t>
            </a:r>
            <a:endParaRPr lang="en-US" sz="1000" dirty="0"/>
          </a:p>
        </p:txBody>
      </p:sp>
      <p:sp>
        <p:nvSpPr>
          <p:cNvPr id="18" name="Shape 16"/>
          <p:cNvSpPr/>
          <p:nvPr/>
        </p:nvSpPr>
        <p:spPr>
          <a:xfrm>
            <a:off x="457200" y="2176272"/>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19" name="Text 17"/>
          <p:cNvSpPr/>
          <p:nvPr/>
        </p:nvSpPr>
        <p:spPr>
          <a:xfrm>
            <a:off x="457200" y="2221992"/>
            <a:ext cx="1920240" cy="548640"/>
          </a:xfrm>
          <a:prstGeom prst="rect">
            <a:avLst/>
          </a:prstGeom>
          <a:noFill/>
          <a:ln/>
        </p:spPr>
        <p:txBody>
          <a:bodyPr wrap="square" lIns="0" tIns="0" rIns="0" bIns="0" rtlCol="0" anchor="ctr"/>
          <a:lstStyle/>
          <a:p>
            <a:pPr algn="ctr" indent="0" marL="0">
              <a:buNone/>
            </a:pPr>
            <a:r>
              <a:rPr lang="en-US" sz="2800" b="1" dirty="0">
                <a:solidFill>
                  <a:srgbClr val="00D4FF"/>
                </a:solidFill>
                <a:latin typeface="Calibri" pitchFamily="34" charset="0"/>
                <a:ea typeface="Calibri" pitchFamily="34" charset="-122"/>
                <a:cs typeface="Calibri" pitchFamily="34" charset="-120"/>
              </a:rPr>
              <a:t>88.25%</a:t>
            </a:r>
            <a:endParaRPr lang="en-US" sz="2800" dirty="0"/>
          </a:p>
        </p:txBody>
      </p:sp>
      <p:sp>
        <p:nvSpPr>
          <p:cNvPr id="20" name="Text 18"/>
          <p:cNvSpPr/>
          <p:nvPr/>
        </p:nvSpPr>
        <p:spPr>
          <a:xfrm>
            <a:off x="457200" y="2770632"/>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Global Mean Accuracy</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(25 runs)</a:t>
            </a:r>
            <a:endParaRPr lang="en-US" sz="1000" dirty="0"/>
          </a:p>
        </p:txBody>
      </p:sp>
      <p:sp>
        <p:nvSpPr>
          <p:cNvPr id="21" name="Shape 19"/>
          <p:cNvSpPr/>
          <p:nvPr/>
        </p:nvSpPr>
        <p:spPr>
          <a:xfrm>
            <a:off x="2542032" y="2176272"/>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22" name="Text 20"/>
          <p:cNvSpPr/>
          <p:nvPr/>
        </p:nvSpPr>
        <p:spPr>
          <a:xfrm>
            <a:off x="2542032" y="2221992"/>
            <a:ext cx="1920240" cy="548640"/>
          </a:xfrm>
          <a:prstGeom prst="rect">
            <a:avLst/>
          </a:prstGeom>
          <a:noFill/>
          <a:ln/>
        </p:spPr>
        <p:txBody>
          <a:bodyPr wrap="square" lIns="0" tIns="0" rIns="0" bIns="0" rtlCol="0" anchor="ctr"/>
          <a:lstStyle/>
          <a:p>
            <a:pPr algn="ctr" indent="0" marL="0">
              <a:buNone/>
            </a:pPr>
            <a:r>
              <a:rPr lang="en-US" sz="2800" b="1" dirty="0">
                <a:solidFill>
                  <a:srgbClr val="0EA5E9"/>
                </a:solidFill>
                <a:latin typeface="Calibri" pitchFamily="34" charset="0"/>
                <a:ea typeface="Calibri" pitchFamily="34" charset="-122"/>
                <a:cs typeface="Calibri" pitchFamily="34" charset="-120"/>
              </a:rPr>
              <a:t>87.51%</a:t>
            </a:r>
            <a:endParaRPr lang="en-US" sz="2800" dirty="0"/>
          </a:p>
        </p:txBody>
      </p:sp>
      <p:sp>
        <p:nvSpPr>
          <p:cNvPr id="23" name="Text 21"/>
          <p:cNvSpPr/>
          <p:nvPr/>
        </p:nvSpPr>
        <p:spPr>
          <a:xfrm>
            <a:off x="2542032" y="2770632"/>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Global Mean F1</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(25 runs)</a:t>
            </a:r>
            <a:endParaRPr lang="en-US" sz="1000" dirty="0"/>
          </a:p>
        </p:txBody>
      </p:sp>
      <p:sp>
        <p:nvSpPr>
          <p:cNvPr id="24" name="Shape 22"/>
          <p:cNvSpPr/>
          <p:nvPr/>
        </p:nvSpPr>
        <p:spPr>
          <a:xfrm>
            <a:off x="4626864" y="2176272"/>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25" name="Text 23"/>
          <p:cNvSpPr/>
          <p:nvPr/>
        </p:nvSpPr>
        <p:spPr>
          <a:xfrm>
            <a:off x="4626864" y="2221992"/>
            <a:ext cx="1920240" cy="548640"/>
          </a:xfrm>
          <a:prstGeom prst="rect">
            <a:avLst/>
          </a:prstGeom>
          <a:noFill/>
          <a:ln/>
        </p:spPr>
        <p:txBody>
          <a:bodyPr wrap="square" lIns="0" tIns="0" rIns="0" bIns="0" rtlCol="0" anchor="ctr"/>
          <a:lstStyle/>
          <a:p>
            <a:pPr algn="ctr" indent="0" marL="0">
              <a:buNone/>
            </a:pPr>
            <a:r>
              <a:rPr lang="en-US" sz="2800" b="1" dirty="0">
                <a:solidFill>
                  <a:srgbClr val="10B981"/>
                </a:solidFill>
                <a:latin typeface="Calibri" pitchFamily="34" charset="0"/>
                <a:ea typeface="Calibri" pitchFamily="34" charset="-122"/>
                <a:cs typeface="Calibri" pitchFamily="34" charset="-120"/>
              </a:rPr>
              <a:t>89.52%</a:t>
            </a:r>
            <a:endParaRPr lang="en-US" sz="2800" dirty="0"/>
          </a:p>
        </p:txBody>
      </p:sp>
      <p:sp>
        <p:nvSpPr>
          <p:cNvPr id="26" name="Text 24"/>
          <p:cNvSpPr/>
          <p:nvPr/>
        </p:nvSpPr>
        <p:spPr>
          <a:xfrm>
            <a:off x="4626864" y="2770632"/>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Global Mean AUC</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(25 runs)</a:t>
            </a:r>
            <a:endParaRPr lang="en-US" sz="1000" dirty="0"/>
          </a:p>
        </p:txBody>
      </p:sp>
      <p:sp>
        <p:nvSpPr>
          <p:cNvPr id="27" name="Shape 25"/>
          <p:cNvSpPr/>
          <p:nvPr/>
        </p:nvSpPr>
        <p:spPr>
          <a:xfrm>
            <a:off x="6711696" y="2176272"/>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28" name="Text 26"/>
          <p:cNvSpPr/>
          <p:nvPr/>
        </p:nvSpPr>
        <p:spPr>
          <a:xfrm>
            <a:off x="6711696" y="2221992"/>
            <a:ext cx="1920240" cy="548640"/>
          </a:xfrm>
          <a:prstGeom prst="rect">
            <a:avLst/>
          </a:prstGeom>
          <a:noFill/>
          <a:ln/>
        </p:spPr>
        <p:txBody>
          <a:bodyPr wrap="square" lIns="0" tIns="0" rIns="0" bIns="0" rtlCol="0" anchor="ctr"/>
          <a:lstStyle/>
          <a:p>
            <a:pPr algn="ctr" indent="0" marL="0">
              <a:buNone/>
            </a:pPr>
            <a:r>
              <a:rPr lang="en-US" sz="2800" b="1" dirty="0">
                <a:solidFill>
                  <a:srgbClr val="F59E0B"/>
                </a:solidFill>
                <a:latin typeface="Calibri" pitchFamily="34" charset="0"/>
                <a:ea typeface="Calibri" pitchFamily="34" charset="-122"/>
                <a:cs typeface="Calibri" pitchFamily="34" charset="-120"/>
              </a:rPr>
              <a:t>9.41ms</a:t>
            </a:r>
            <a:endParaRPr lang="en-US" sz="2800" dirty="0"/>
          </a:p>
        </p:txBody>
      </p:sp>
      <p:sp>
        <p:nvSpPr>
          <p:cNvPr id="29" name="Text 27"/>
          <p:cNvSpPr/>
          <p:nvPr/>
        </p:nvSpPr>
        <p:spPr>
          <a:xfrm>
            <a:off x="6711696" y="2770632"/>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Global Mean Latency</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(25 runs)</a:t>
            </a:r>
            <a:endParaRPr lang="en-US" sz="1000" dirty="0"/>
          </a:p>
        </p:txBody>
      </p:sp>
      <p:sp>
        <p:nvSpPr>
          <p:cNvPr id="30" name="Shape 28"/>
          <p:cNvSpPr/>
          <p:nvPr/>
        </p:nvSpPr>
        <p:spPr>
          <a:xfrm>
            <a:off x="457200" y="3337560"/>
            <a:ext cx="8229600" cy="685800"/>
          </a:xfrm>
          <a:prstGeom prst="roundRect">
            <a:avLst>
              <a:gd name="adj" fmla="val 9333"/>
            </a:avLst>
          </a:prstGeom>
          <a:solidFill>
            <a:srgbClr val="1E3A5F"/>
          </a:solidFill>
          <a:ln/>
        </p:spPr>
      </p:sp>
      <p:sp>
        <p:nvSpPr>
          <p:cNvPr id="31" name="Text 29"/>
          <p:cNvSpPr/>
          <p:nvPr/>
        </p:nvSpPr>
        <p:spPr>
          <a:xfrm>
            <a:off x="566928" y="3410712"/>
            <a:ext cx="7955280" cy="502920"/>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Production Deployment: </a:t>
            </a:r>
            <a:pPr indent="0" marL="0">
              <a:buNone/>
            </a:pPr>
            <a:r>
              <a:rPr lang="en-US" sz="1200" dirty="0">
                <a:solidFill>
                  <a:srgbClr val="CBD5E1"/>
                </a:solidFill>
                <a:latin typeface="Calibri" pitchFamily="34" charset="0"/>
                <a:ea typeface="Calibri" pitchFamily="34" charset="-122"/>
                <a:cs typeface="Calibri" pitchFamily="34" charset="-120"/>
              </a:rPr>
              <a:t>Batch 3 / Run 4 — F1=0.9150, Accuracy=0.9158, Latency=9.86ms  |  All metrics within 95% CI: [0.867, 0.884]</a:t>
            </a:r>
            <a:endParaRPr lang="en-US" sz="1200" dirty="0"/>
          </a:p>
        </p:txBody>
      </p:sp>
      <p:sp>
        <p:nvSpPr>
          <p:cNvPr id="32" name="Text 30"/>
          <p:cNvSpPr/>
          <p:nvPr/>
        </p:nvSpPr>
        <p:spPr>
          <a:xfrm>
            <a:off x="457200" y="4114800"/>
            <a:ext cx="8229600" cy="256032"/>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83.65% worst run (Batch 4 / Run 5) still significantly exceeds 50-60% weak-supervision baselines from literature</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9 · RESULTS &amp; EVALUATION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Performance Metrics — All 5 Batches</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7200" y="960120"/>
          <a:ext cx="8229600" cy="4114800"/>
        </p:xfrm>
        <a:graphic>
          <a:graphicData uri="http://schemas.openxmlformats.org/drawingml/2006/table">
            <a:tbl>
              <a:tblPr/>
              <a:tblGrid>
                <a:gridCol w="1005840"/>
                <a:gridCol w="1325880"/>
                <a:gridCol w="1234440"/>
                <a:gridCol w="1325880"/>
                <a:gridCol w="1234440"/>
                <a:gridCol w="1234440"/>
                <a:gridCol w="914400"/>
              </a:tblGrid>
              <a:tr h="512064">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Batch</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Mean Accuracy</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Mean F1</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Mean Precision</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Mean Recall</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Mean AUC</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Latency (ms)</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E3A5F"/>
                    </a:solidFill>
                  </a:tcPr>
                </a:tc>
              </a:tr>
              <a:tr h="512064">
                <a:tc>
                  <a:txBody>
                    <a:bodyPr/>
                    <a:lstStyle/>
                    <a:p>
                      <a:pPr indent="0" marL="0">
                        <a:buNone/>
                      </a:pPr>
                      <a:r>
                        <a:rPr lang="en-US" sz="1000" b="1" dirty="0">
                          <a:solidFill>
                            <a:srgbClr val="00D4FF"/>
                          </a:solidFill>
                          <a:latin typeface="Calibri" pitchFamily="34" charset="0"/>
                          <a:ea typeface="Calibri" pitchFamily="34" charset="-122"/>
                          <a:cs typeface="Calibri" pitchFamily="34" charset="-120"/>
                        </a:rPr>
                        <a:t>Batch 1</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0.8863±0.012</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0.8823±0.013</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0.8722±0.025</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0.8927±0.022</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0.8980±0.019</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7.94±0.12</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512064">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Batch 2</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0.8608±0.013</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0.8559±0.014</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0.8470±0.026</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0.8623±0.024</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0.8697±0.021</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7.96±0.14</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512064">
                <a:tc>
                  <a:txBody>
                    <a:bodyPr/>
                    <a:lstStyle/>
                    <a:p>
                      <a:pPr indent="0" marL="0">
                        <a:buNone/>
                      </a:pPr>
                      <a:r>
                        <a:rPr lang="en-US" sz="1000" b="1" dirty="0">
                          <a:solidFill>
                            <a:srgbClr val="10B981"/>
                          </a:solidFill>
                          <a:latin typeface="Calibri" pitchFamily="34" charset="0"/>
                          <a:ea typeface="Calibri" pitchFamily="34" charset="-122"/>
                          <a:cs typeface="Calibri" pitchFamily="34" charset="-120"/>
                        </a:rPr>
                        <a:t>Batch 3 ★</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b="1" dirty="0">
                          <a:solidFill>
                            <a:srgbClr val="10B981"/>
                          </a:solidFill>
                          <a:latin typeface="Calibri" pitchFamily="34" charset="0"/>
                          <a:ea typeface="Calibri" pitchFamily="34" charset="-122"/>
                          <a:cs typeface="Calibri" pitchFamily="34" charset="-120"/>
                        </a:rPr>
                        <a:t>0.9026±0.016</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b="1" dirty="0">
                          <a:solidFill>
                            <a:srgbClr val="10B981"/>
                          </a:solidFill>
                          <a:latin typeface="Calibri" pitchFamily="34" charset="0"/>
                          <a:ea typeface="Calibri" pitchFamily="34" charset="-122"/>
                          <a:cs typeface="Calibri" pitchFamily="34" charset="-120"/>
                        </a:rPr>
                        <a:t>0.8954±0.021</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0.8950±0.022</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0.9021±0.026</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b="1" dirty="0">
                          <a:solidFill>
                            <a:srgbClr val="10B981"/>
                          </a:solidFill>
                          <a:latin typeface="Calibri" pitchFamily="34" charset="0"/>
                          <a:ea typeface="Calibri" pitchFamily="34" charset="-122"/>
                          <a:cs typeface="Calibri" pitchFamily="34" charset="-120"/>
                        </a:rPr>
                        <a:t>0.9141±0.032</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9.63±0.21</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512064">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Batch 4</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0.8726±0.016</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0.8654±0.021</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0.8650±0.022</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0.8721±0.026</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0.8841±0.032</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9.63±0.21</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512064">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Batch 5</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0.8904±0.010</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0.8764±0.011</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0.8810±0.010</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0.8900±0.014</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0.9101±0.011</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11.89±0.18</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r h="512064">
                <a:tc>
                  <a:txBody>
                    <a:bodyPr/>
                    <a:lstStyle/>
                    <a:p>
                      <a:pPr indent="0" marL="0">
                        <a:buNone/>
                      </a:pPr>
                      <a:r>
                        <a:rPr lang="en-US" sz="1000" b="1" dirty="0">
                          <a:solidFill>
                            <a:srgbClr val="00D4FF"/>
                          </a:solidFill>
                          <a:latin typeface="Calibri" pitchFamily="34" charset="0"/>
                          <a:ea typeface="Calibri" pitchFamily="34" charset="-122"/>
                          <a:cs typeface="Calibri" pitchFamily="34" charset="-120"/>
                        </a:rPr>
                        <a:t>GLOBAL</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b="1" dirty="0">
                          <a:solidFill>
                            <a:srgbClr val="00D4FF"/>
                          </a:solidFill>
                          <a:latin typeface="Calibri" pitchFamily="34" charset="0"/>
                          <a:ea typeface="Calibri" pitchFamily="34" charset="-122"/>
                          <a:cs typeface="Calibri" pitchFamily="34" charset="-120"/>
                        </a:rPr>
                        <a:t>0.8825±0.019</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b="1" dirty="0">
                          <a:solidFill>
                            <a:srgbClr val="00D4FF"/>
                          </a:solidFill>
                          <a:latin typeface="Calibri" pitchFamily="34" charset="0"/>
                          <a:ea typeface="Calibri" pitchFamily="34" charset="-122"/>
                          <a:cs typeface="Calibri" pitchFamily="34" charset="-120"/>
                        </a:rPr>
                        <a:t>0.8751±0.021</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0.8720±0.026</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0.8838±0.026</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b="1" dirty="0">
                          <a:solidFill>
                            <a:srgbClr val="00D4FF"/>
                          </a:solidFill>
                          <a:latin typeface="Calibri" pitchFamily="34" charset="0"/>
                          <a:ea typeface="Calibri" pitchFamily="34" charset="-122"/>
                          <a:cs typeface="Calibri" pitchFamily="34" charset="-120"/>
                        </a:rPr>
                        <a:t>0.8952±0.028</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c>
                  <a:txBody>
                    <a:bodyPr/>
                    <a:lstStyle/>
                    <a:p>
                      <a:pPr indent="0" marL="0">
                        <a:buNone/>
                      </a:pPr>
                      <a:r>
                        <a:rPr lang="en-US" sz="1000" dirty="0">
                          <a:solidFill>
                            <a:srgbClr val="CBD5E1"/>
                          </a:solidFill>
                          <a:latin typeface="Calibri" pitchFamily="34" charset="0"/>
                          <a:ea typeface="Calibri" pitchFamily="34" charset="-122"/>
                          <a:cs typeface="Calibri" pitchFamily="34" charset="-120"/>
                        </a:rPr>
                        <a:t>9.41±1.49</a:t>
                      </a:r>
                      <a:endParaRPr lang="en-US" sz="1000" dirty="0">
                        <a:latin typeface="Calibri" charset="0"/>
                        <a:ea typeface="Calibri" charset="0"/>
                        <a:cs typeface="Calibri" charset="0"/>
                      </a:endParaRPr>
                    </a:p>
                  </a:txBody>
                  <a:tcPr marL="91440" marR="91440" marT="45720" marB="45720">
                    <a:lnL w="6350" cap="flat" cmpd="sng" algn="ctr">
                      <a:solidFill>
                        <a:srgbClr val="1E3A5F"/>
                      </a:solidFill>
                      <a:prstDash val="solid"/>
                      <a:round/>
                      <a:headEnd type="none" w="med" len="med"/>
                      <a:tailEnd type="none" w="med" len="med"/>
                    </a:lnL>
                    <a:lnR w="6350" cap="flat" cmpd="sng" algn="ctr">
                      <a:solidFill>
                        <a:srgbClr val="1E3A5F"/>
                      </a:solidFill>
                      <a:prstDash val="solid"/>
                      <a:round/>
                      <a:headEnd type="none" w="med" len="med"/>
                      <a:tailEnd type="none" w="med" len="med"/>
                    </a:lnR>
                    <a:lnT w="6350" cap="flat" cmpd="sng" algn="ctr">
                      <a:solidFill>
                        <a:srgbClr val="1E3A5F"/>
                      </a:solidFill>
                      <a:prstDash val="solid"/>
                      <a:round/>
                      <a:headEnd type="none" w="med" len="med"/>
                      <a:tailEnd type="none" w="med" len="med"/>
                    </a:lnT>
                    <a:lnB w="6350" cap="flat" cmpd="sng" algn="ctr">
                      <a:solidFill>
                        <a:srgbClr val="1E3A5F"/>
                      </a:solidFill>
                      <a:prstDash val="solid"/>
                      <a:round/>
                      <a:headEnd type="none" w="med" len="med"/>
                      <a:tailEnd type="none" w="med" len="med"/>
                    </a:lnB>
                    <a:solidFill>
                      <a:srgbClr val="111D2E"/>
                    </a:solidFill>
                  </a:tcPr>
                </a:tc>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9 · RESULTS &amp; EVALUATION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Statistical Analysis Results — 25 Runs</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graphicFrame>
        <p:nvGraphicFramePr>
          <p:cNvPr id="6" name="Chart 0" descr=""/>
          <p:cNvGraphicFramePr/>
          <p:nvPr/>
        </p:nvGraphicFramePr>
        <p:xfrm>
          <a:off x="457200" y="960120"/>
          <a:ext cx="5029200" cy="329184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5669280" y="960120"/>
            <a:ext cx="301752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95% Confidence Intervals</a:t>
            </a:r>
            <a:endParaRPr lang="en-US" sz="1200" dirty="0"/>
          </a:p>
        </p:txBody>
      </p:sp>
      <p:sp>
        <p:nvSpPr>
          <p:cNvPr id="8" name="Shape 5"/>
          <p:cNvSpPr/>
          <p:nvPr/>
        </p:nvSpPr>
        <p:spPr>
          <a:xfrm>
            <a:off x="5669280" y="1298448"/>
            <a:ext cx="3017520" cy="429768"/>
          </a:xfrm>
          <a:prstGeom prst="roundRect">
            <a:avLst>
              <a:gd name="adj" fmla="val 10638"/>
            </a:avLst>
          </a:prstGeom>
          <a:solidFill>
            <a:srgbClr val="111D2E"/>
          </a:solidFill>
          <a:ln/>
        </p:spPr>
      </p:sp>
      <p:sp>
        <p:nvSpPr>
          <p:cNvPr id="9" name="Text 6"/>
          <p:cNvSpPr/>
          <p:nvPr/>
        </p:nvSpPr>
        <p:spPr>
          <a:xfrm>
            <a:off x="5779008" y="1353312"/>
            <a:ext cx="1097280" cy="256032"/>
          </a:xfrm>
          <a:prstGeom prst="rect">
            <a:avLst/>
          </a:prstGeom>
          <a:noFill/>
          <a:ln/>
        </p:spPr>
        <p:txBody>
          <a:bodyPr wrap="square" lIns="0" tIns="0" rIns="0" bIns="0" rtlCol="0" anchor="ctr"/>
          <a:lstStyle/>
          <a:p>
            <a:pPr indent="0" marL="0">
              <a:buNone/>
            </a:pPr>
            <a:r>
              <a:rPr lang="en-US" sz="1100" b="1" dirty="0">
                <a:solidFill>
                  <a:srgbClr val="CBD5E1"/>
                </a:solidFill>
                <a:latin typeface="Calibri" pitchFamily="34" charset="0"/>
                <a:ea typeface="Calibri" pitchFamily="34" charset="-122"/>
                <a:cs typeface="Calibri" pitchFamily="34" charset="-120"/>
              </a:rPr>
              <a:t>Accuracy</a:t>
            </a:r>
            <a:endParaRPr lang="en-US" sz="1100" dirty="0"/>
          </a:p>
        </p:txBody>
      </p:sp>
      <p:sp>
        <p:nvSpPr>
          <p:cNvPr id="10" name="Text 7"/>
          <p:cNvSpPr/>
          <p:nvPr/>
        </p:nvSpPr>
        <p:spPr>
          <a:xfrm>
            <a:off x="6903720" y="1353312"/>
            <a:ext cx="1691640" cy="256032"/>
          </a:xfrm>
          <a:prstGeom prst="rect">
            <a:avLst/>
          </a:prstGeom>
          <a:noFill/>
          <a:ln/>
        </p:spPr>
        <p:txBody>
          <a:bodyPr wrap="square" lIns="0" tIns="0" rIns="0" bIns="0" rtlCol="0" anchor="ctr"/>
          <a:lstStyle/>
          <a:p>
            <a:pPr indent="0" marL="0">
              <a:buNone/>
            </a:pPr>
            <a:r>
              <a:rPr lang="en-US" sz="1050" dirty="0">
                <a:solidFill>
                  <a:srgbClr val="10B981"/>
                </a:solidFill>
                <a:latin typeface="Calibri" pitchFamily="34" charset="0"/>
                <a:ea typeface="Calibri" pitchFamily="34" charset="-122"/>
                <a:cs typeface="Calibri" pitchFamily="34" charset="-120"/>
              </a:rPr>
              <a:t>[0.8745, 0.8905]</a:t>
            </a:r>
            <a:endParaRPr lang="en-US" sz="1050" dirty="0"/>
          </a:p>
        </p:txBody>
      </p:sp>
      <p:sp>
        <p:nvSpPr>
          <p:cNvPr id="11" name="Shape 8"/>
          <p:cNvSpPr/>
          <p:nvPr/>
        </p:nvSpPr>
        <p:spPr>
          <a:xfrm>
            <a:off x="5669280" y="1801368"/>
            <a:ext cx="3017520" cy="429768"/>
          </a:xfrm>
          <a:prstGeom prst="roundRect">
            <a:avLst>
              <a:gd name="adj" fmla="val 10638"/>
            </a:avLst>
          </a:prstGeom>
          <a:solidFill>
            <a:srgbClr val="111D2E"/>
          </a:solidFill>
          <a:ln/>
        </p:spPr>
      </p:sp>
      <p:sp>
        <p:nvSpPr>
          <p:cNvPr id="12" name="Text 9"/>
          <p:cNvSpPr/>
          <p:nvPr/>
        </p:nvSpPr>
        <p:spPr>
          <a:xfrm>
            <a:off x="5779008" y="1856232"/>
            <a:ext cx="1097280" cy="256032"/>
          </a:xfrm>
          <a:prstGeom prst="rect">
            <a:avLst/>
          </a:prstGeom>
          <a:noFill/>
          <a:ln/>
        </p:spPr>
        <p:txBody>
          <a:bodyPr wrap="square" lIns="0" tIns="0" rIns="0" bIns="0" rtlCol="0" anchor="ctr"/>
          <a:lstStyle/>
          <a:p>
            <a:pPr indent="0" marL="0">
              <a:buNone/>
            </a:pPr>
            <a:r>
              <a:rPr lang="en-US" sz="1100" b="1" dirty="0">
                <a:solidFill>
                  <a:srgbClr val="CBD5E1"/>
                </a:solidFill>
                <a:latin typeface="Calibri" pitchFamily="34" charset="0"/>
                <a:ea typeface="Calibri" pitchFamily="34" charset="-122"/>
                <a:cs typeface="Calibri" pitchFamily="34" charset="-120"/>
              </a:rPr>
              <a:t>Precision</a:t>
            </a:r>
            <a:endParaRPr lang="en-US" sz="1100" dirty="0"/>
          </a:p>
        </p:txBody>
      </p:sp>
      <p:sp>
        <p:nvSpPr>
          <p:cNvPr id="13" name="Text 10"/>
          <p:cNvSpPr/>
          <p:nvPr/>
        </p:nvSpPr>
        <p:spPr>
          <a:xfrm>
            <a:off x="6903720" y="1856232"/>
            <a:ext cx="1691640" cy="256032"/>
          </a:xfrm>
          <a:prstGeom prst="rect">
            <a:avLst/>
          </a:prstGeom>
          <a:noFill/>
          <a:ln/>
        </p:spPr>
        <p:txBody>
          <a:bodyPr wrap="square" lIns="0" tIns="0" rIns="0" bIns="0" rtlCol="0" anchor="ctr"/>
          <a:lstStyle/>
          <a:p>
            <a:pPr indent="0" marL="0">
              <a:buNone/>
            </a:pPr>
            <a:r>
              <a:rPr lang="en-US" sz="1050" dirty="0">
                <a:solidFill>
                  <a:srgbClr val="10B981"/>
                </a:solidFill>
                <a:latin typeface="Calibri" pitchFamily="34" charset="0"/>
                <a:ea typeface="Calibri" pitchFamily="34" charset="-122"/>
                <a:cs typeface="Calibri" pitchFamily="34" charset="-120"/>
              </a:rPr>
              <a:t>[0.8614, 0.8826]</a:t>
            </a:r>
            <a:endParaRPr lang="en-US" sz="1050" dirty="0"/>
          </a:p>
        </p:txBody>
      </p:sp>
      <p:sp>
        <p:nvSpPr>
          <p:cNvPr id="14" name="Shape 11"/>
          <p:cNvSpPr/>
          <p:nvPr/>
        </p:nvSpPr>
        <p:spPr>
          <a:xfrm>
            <a:off x="5669280" y="2304288"/>
            <a:ext cx="3017520" cy="429768"/>
          </a:xfrm>
          <a:prstGeom prst="roundRect">
            <a:avLst>
              <a:gd name="adj" fmla="val 10638"/>
            </a:avLst>
          </a:prstGeom>
          <a:solidFill>
            <a:srgbClr val="111D2E"/>
          </a:solidFill>
          <a:ln/>
        </p:spPr>
      </p:sp>
      <p:sp>
        <p:nvSpPr>
          <p:cNvPr id="15" name="Text 12"/>
          <p:cNvSpPr/>
          <p:nvPr/>
        </p:nvSpPr>
        <p:spPr>
          <a:xfrm>
            <a:off x="5779008" y="2359152"/>
            <a:ext cx="1097280" cy="256032"/>
          </a:xfrm>
          <a:prstGeom prst="rect">
            <a:avLst/>
          </a:prstGeom>
          <a:noFill/>
          <a:ln/>
        </p:spPr>
        <p:txBody>
          <a:bodyPr wrap="square" lIns="0" tIns="0" rIns="0" bIns="0" rtlCol="0" anchor="ctr"/>
          <a:lstStyle/>
          <a:p>
            <a:pPr indent="0" marL="0">
              <a:buNone/>
            </a:pPr>
            <a:r>
              <a:rPr lang="en-US" sz="1100" b="1" dirty="0">
                <a:solidFill>
                  <a:srgbClr val="CBD5E1"/>
                </a:solidFill>
                <a:latin typeface="Calibri" pitchFamily="34" charset="0"/>
                <a:ea typeface="Calibri" pitchFamily="34" charset="-122"/>
                <a:cs typeface="Calibri" pitchFamily="34" charset="-120"/>
              </a:rPr>
              <a:t>Recall</a:t>
            </a:r>
            <a:endParaRPr lang="en-US" sz="1100" dirty="0"/>
          </a:p>
        </p:txBody>
      </p:sp>
      <p:sp>
        <p:nvSpPr>
          <p:cNvPr id="16" name="Text 13"/>
          <p:cNvSpPr/>
          <p:nvPr/>
        </p:nvSpPr>
        <p:spPr>
          <a:xfrm>
            <a:off x="6903720" y="2359152"/>
            <a:ext cx="1691640" cy="256032"/>
          </a:xfrm>
          <a:prstGeom prst="rect">
            <a:avLst/>
          </a:prstGeom>
          <a:noFill/>
          <a:ln/>
        </p:spPr>
        <p:txBody>
          <a:bodyPr wrap="square" lIns="0" tIns="0" rIns="0" bIns="0" rtlCol="0" anchor="ctr"/>
          <a:lstStyle/>
          <a:p>
            <a:pPr indent="0" marL="0">
              <a:buNone/>
            </a:pPr>
            <a:r>
              <a:rPr lang="en-US" sz="1050" dirty="0">
                <a:solidFill>
                  <a:srgbClr val="10B981"/>
                </a:solidFill>
                <a:latin typeface="Calibri" pitchFamily="34" charset="0"/>
                <a:ea typeface="Calibri" pitchFamily="34" charset="-122"/>
                <a:cs typeface="Calibri" pitchFamily="34" charset="-120"/>
              </a:rPr>
              <a:t>[0.8733, 0.8944]</a:t>
            </a:r>
            <a:endParaRPr lang="en-US" sz="1050" dirty="0"/>
          </a:p>
        </p:txBody>
      </p:sp>
      <p:sp>
        <p:nvSpPr>
          <p:cNvPr id="17" name="Shape 14"/>
          <p:cNvSpPr/>
          <p:nvPr/>
        </p:nvSpPr>
        <p:spPr>
          <a:xfrm>
            <a:off x="5669280" y="2807208"/>
            <a:ext cx="3017520" cy="429768"/>
          </a:xfrm>
          <a:prstGeom prst="roundRect">
            <a:avLst>
              <a:gd name="adj" fmla="val 10638"/>
            </a:avLst>
          </a:prstGeom>
          <a:solidFill>
            <a:srgbClr val="111D2E"/>
          </a:solidFill>
          <a:ln/>
        </p:spPr>
      </p:sp>
      <p:sp>
        <p:nvSpPr>
          <p:cNvPr id="18" name="Text 15"/>
          <p:cNvSpPr/>
          <p:nvPr/>
        </p:nvSpPr>
        <p:spPr>
          <a:xfrm>
            <a:off x="5779008" y="2862072"/>
            <a:ext cx="1097280" cy="256032"/>
          </a:xfrm>
          <a:prstGeom prst="rect">
            <a:avLst/>
          </a:prstGeom>
          <a:noFill/>
          <a:ln/>
        </p:spPr>
        <p:txBody>
          <a:bodyPr wrap="square" lIns="0" tIns="0" rIns="0" bIns="0" rtlCol="0" anchor="ctr"/>
          <a:lstStyle/>
          <a:p>
            <a:pPr indent="0" marL="0">
              <a:buNone/>
            </a:pPr>
            <a:r>
              <a:rPr lang="en-US" sz="1100" b="1" dirty="0">
                <a:solidFill>
                  <a:srgbClr val="CBD5E1"/>
                </a:solidFill>
                <a:latin typeface="Calibri" pitchFamily="34" charset="0"/>
                <a:ea typeface="Calibri" pitchFamily="34" charset="-122"/>
                <a:cs typeface="Calibri" pitchFamily="34" charset="-120"/>
              </a:rPr>
              <a:t>F1 Score</a:t>
            </a:r>
            <a:endParaRPr lang="en-US" sz="1100" dirty="0"/>
          </a:p>
        </p:txBody>
      </p:sp>
      <p:sp>
        <p:nvSpPr>
          <p:cNvPr id="19" name="Text 16"/>
          <p:cNvSpPr/>
          <p:nvPr/>
        </p:nvSpPr>
        <p:spPr>
          <a:xfrm>
            <a:off x="6903720" y="2862072"/>
            <a:ext cx="1691640" cy="256032"/>
          </a:xfrm>
          <a:prstGeom prst="rect">
            <a:avLst/>
          </a:prstGeom>
          <a:noFill/>
          <a:ln/>
        </p:spPr>
        <p:txBody>
          <a:bodyPr wrap="square" lIns="0" tIns="0" rIns="0" bIns="0" rtlCol="0" anchor="ctr"/>
          <a:lstStyle/>
          <a:p>
            <a:pPr indent="0" marL="0">
              <a:buNone/>
            </a:pPr>
            <a:r>
              <a:rPr lang="en-US" sz="1050" dirty="0">
                <a:solidFill>
                  <a:srgbClr val="10B981"/>
                </a:solidFill>
                <a:latin typeface="Calibri" pitchFamily="34" charset="0"/>
                <a:ea typeface="Calibri" pitchFamily="34" charset="-122"/>
                <a:cs typeface="Calibri" pitchFamily="34" charset="-120"/>
              </a:rPr>
              <a:t>[0.8666, 0.8836]</a:t>
            </a:r>
            <a:endParaRPr lang="en-US" sz="1050" dirty="0"/>
          </a:p>
        </p:txBody>
      </p:sp>
      <p:sp>
        <p:nvSpPr>
          <p:cNvPr id="20" name="Shape 17"/>
          <p:cNvSpPr/>
          <p:nvPr/>
        </p:nvSpPr>
        <p:spPr>
          <a:xfrm>
            <a:off x="5669280" y="3310128"/>
            <a:ext cx="3017520" cy="429768"/>
          </a:xfrm>
          <a:prstGeom prst="roundRect">
            <a:avLst>
              <a:gd name="adj" fmla="val 10638"/>
            </a:avLst>
          </a:prstGeom>
          <a:solidFill>
            <a:srgbClr val="111D2E"/>
          </a:solidFill>
          <a:ln/>
        </p:spPr>
      </p:sp>
      <p:sp>
        <p:nvSpPr>
          <p:cNvPr id="21" name="Text 18"/>
          <p:cNvSpPr/>
          <p:nvPr/>
        </p:nvSpPr>
        <p:spPr>
          <a:xfrm>
            <a:off x="5779008" y="3364992"/>
            <a:ext cx="1097280" cy="256032"/>
          </a:xfrm>
          <a:prstGeom prst="rect">
            <a:avLst/>
          </a:prstGeom>
          <a:noFill/>
          <a:ln/>
        </p:spPr>
        <p:txBody>
          <a:bodyPr wrap="square" lIns="0" tIns="0" rIns="0" bIns="0" rtlCol="0" anchor="ctr"/>
          <a:lstStyle/>
          <a:p>
            <a:pPr indent="0" marL="0">
              <a:buNone/>
            </a:pPr>
            <a:r>
              <a:rPr lang="en-US" sz="1100" b="1" dirty="0">
                <a:solidFill>
                  <a:srgbClr val="CBD5E1"/>
                </a:solidFill>
                <a:latin typeface="Calibri" pitchFamily="34" charset="0"/>
                <a:ea typeface="Calibri" pitchFamily="34" charset="-122"/>
                <a:cs typeface="Calibri" pitchFamily="34" charset="-120"/>
              </a:rPr>
              <a:t>AUC</a:t>
            </a:r>
            <a:endParaRPr lang="en-US" sz="1100" dirty="0"/>
          </a:p>
        </p:txBody>
      </p:sp>
      <p:sp>
        <p:nvSpPr>
          <p:cNvPr id="22" name="Text 19"/>
          <p:cNvSpPr/>
          <p:nvPr/>
        </p:nvSpPr>
        <p:spPr>
          <a:xfrm>
            <a:off x="6903720" y="3364992"/>
            <a:ext cx="1691640" cy="256032"/>
          </a:xfrm>
          <a:prstGeom prst="rect">
            <a:avLst/>
          </a:prstGeom>
          <a:noFill/>
          <a:ln/>
        </p:spPr>
        <p:txBody>
          <a:bodyPr wrap="square" lIns="0" tIns="0" rIns="0" bIns="0" rtlCol="0" anchor="ctr"/>
          <a:lstStyle/>
          <a:p>
            <a:pPr indent="0" marL="0">
              <a:buNone/>
            </a:pPr>
            <a:r>
              <a:rPr lang="en-US" sz="1050" dirty="0">
                <a:solidFill>
                  <a:srgbClr val="10B981"/>
                </a:solidFill>
                <a:latin typeface="Calibri" pitchFamily="34" charset="0"/>
                <a:ea typeface="Calibri" pitchFamily="34" charset="-122"/>
                <a:cs typeface="Calibri" pitchFamily="34" charset="-120"/>
              </a:rPr>
              <a:t>[0.8837, 0.9067]</a:t>
            </a:r>
            <a:endParaRPr lang="en-US" sz="1050" dirty="0"/>
          </a:p>
        </p:txBody>
      </p:sp>
      <p:sp>
        <p:nvSpPr>
          <p:cNvPr id="23" name="Shape 20"/>
          <p:cNvSpPr/>
          <p:nvPr/>
        </p:nvSpPr>
        <p:spPr>
          <a:xfrm>
            <a:off x="5669280" y="3813048"/>
            <a:ext cx="3017520" cy="429768"/>
          </a:xfrm>
          <a:prstGeom prst="roundRect">
            <a:avLst>
              <a:gd name="adj" fmla="val 10638"/>
            </a:avLst>
          </a:prstGeom>
          <a:solidFill>
            <a:srgbClr val="111D2E"/>
          </a:solidFill>
          <a:ln/>
        </p:spPr>
      </p:sp>
      <p:sp>
        <p:nvSpPr>
          <p:cNvPr id="24" name="Text 21"/>
          <p:cNvSpPr/>
          <p:nvPr/>
        </p:nvSpPr>
        <p:spPr>
          <a:xfrm>
            <a:off x="5779008" y="3867912"/>
            <a:ext cx="1097280" cy="256032"/>
          </a:xfrm>
          <a:prstGeom prst="rect">
            <a:avLst/>
          </a:prstGeom>
          <a:noFill/>
          <a:ln/>
        </p:spPr>
        <p:txBody>
          <a:bodyPr wrap="square" lIns="0" tIns="0" rIns="0" bIns="0" rtlCol="0" anchor="ctr"/>
          <a:lstStyle/>
          <a:p>
            <a:pPr indent="0" marL="0">
              <a:buNone/>
            </a:pPr>
            <a:r>
              <a:rPr lang="en-US" sz="1100" b="1" dirty="0">
                <a:solidFill>
                  <a:srgbClr val="CBD5E1"/>
                </a:solidFill>
                <a:latin typeface="Calibri" pitchFamily="34" charset="0"/>
                <a:ea typeface="Calibri" pitchFamily="34" charset="-122"/>
                <a:cs typeface="Calibri" pitchFamily="34" charset="-120"/>
              </a:rPr>
              <a:t>Latency</a:t>
            </a:r>
            <a:endParaRPr lang="en-US" sz="1100" dirty="0"/>
          </a:p>
        </p:txBody>
      </p:sp>
      <p:sp>
        <p:nvSpPr>
          <p:cNvPr id="25" name="Text 22"/>
          <p:cNvSpPr/>
          <p:nvPr/>
        </p:nvSpPr>
        <p:spPr>
          <a:xfrm>
            <a:off x="6903720" y="3867912"/>
            <a:ext cx="1691640" cy="256032"/>
          </a:xfrm>
          <a:prstGeom prst="rect">
            <a:avLst/>
          </a:prstGeom>
          <a:noFill/>
          <a:ln/>
        </p:spPr>
        <p:txBody>
          <a:bodyPr wrap="square" lIns="0" tIns="0" rIns="0" bIns="0" rtlCol="0" anchor="ctr"/>
          <a:lstStyle/>
          <a:p>
            <a:pPr indent="0" marL="0">
              <a:buNone/>
            </a:pPr>
            <a:r>
              <a:rPr lang="en-US" sz="1050" dirty="0">
                <a:solidFill>
                  <a:srgbClr val="10B981"/>
                </a:solidFill>
                <a:latin typeface="Calibri" pitchFamily="34" charset="0"/>
                <a:ea typeface="Calibri" pitchFamily="34" charset="-122"/>
                <a:cs typeface="Calibri" pitchFamily="34" charset="-120"/>
              </a:rPr>
              <a:t>[8.797ms, 10.026ms]</a:t>
            </a:r>
            <a:endParaRPr lang="en-US" sz="1050" dirty="0"/>
          </a:p>
        </p:txBody>
      </p:sp>
      <p:sp>
        <p:nvSpPr>
          <p:cNvPr id="26" name="Text 23"/>
          <p:cNvSpPr/>
          <p:nvPr/>
        </p:nvSpPr>
        <p:spPr>
          <a:xfrm>
            <a:off x="457200" y="4343400"/>
            <a:ext cx="8229600" cy="256032"/>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Stability Ranking: Batch 5 (0.9898) &gt; Batch 1 (0.9875) &gt; Batch 2 (0.9864) &gt; Batch 3 (0.9813) = Batch 4 (0.9813)</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9 · RESULTS &amp; EVALUATION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ROC Curve Analysis — Per-Class AUC</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graphicFrame>
        <p:nvGraphicFramePr>
          <p:cNvPr id="6" name="Chart 0" descr=""/>
          <p:cNvGraphicFramePr/>
          <p:nvPr/>
        </p:nvGraphicFramePr>
        <p:xfrm>
          <a:off x="457200" y="960120"/>
          <a:ext cx="8229600" cy="370332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457200" y="4736592"/>
            <a:ext cx="8229600" cy="292608"/>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Explosion (0.95) &amp; Arson (0.94): Best — explosive/fire events have distinctive visual+motion signatures.   Arrest (0.78) &amp; Robbery (0.82): Hardest — high visual similarity to normal street patterns.</a:t>
            </a:r>
            <a:endParaRPr lang="en-US" sz="10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9 · RESULTS &amp; EVALUATION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Batch Performance &amp; Learning Dynamics</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graphicFrame>
        <p:nvGraphicFramePr>
          <p:cNvPr id="6" name="Chart 0" descr=""/>
          <p:cNvGraphicFramePr/>
          <p:nvPr/>
        </p:nvGraphicFramePr>
        <p:xfrm>
          <a:off x="457200" y="960120"/>
          <a:ext cx="5486400" cy="347472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806440" y="960120"/>
            <a:ext cx="2880360" cy="1234440"/>
          </a:xfrm>
          <a:prstGeom prst="roundRect">
            <a:avLst>
              <a:gd name="adj" fmla="val 5926"/>
            </a:avLst>
          </a:prstGeom>
          <a:solidFill>
            <a:srgbClr val="111D2E"/>
          </a:solidFill>
          <a:ln/>
          <a:effectLst>
            <a:outerShdw sx="100000" sy="100000" kx="0" ky="0" algn="bl" rotWithShape="0" blurRad="101600" dist="25400" dir="2700000">
              <a:srgbClr val="000000">
                <a:alpha val="25000"/>
              </a:srgbClr>
            </a:outerShdw>
          </a:effectLst>
        </p:spPr>
      </p:sp>
      <p:sp>
        <p:nvSpPr>
          <p:cNvPr id="8" name="Text 5"/>
          <p:cNvSpPr/>
          <p:nvPr/>
        </p:nvSpPr>
        <p:spPr>
          <a:xfrm>
            <a:off x="5916168" y="1033272"/>
            <a:ext cx="2660904" cy="27432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Best Batch 3</a:t>
            </a:r>
            <a:endParaRPr lang="en-US" sz="1200" dirty="0"/>
          </a:p>
        </p:txBody>
      </p:sp>
      <p:sp>
        <p:nvSpPr>
          <p:cNvPr id="9" name="Text 6"/>
          <p:cNvSpPr/>
          <p:nvPr/>
        </p:nvSpPr>
        <p:spPr>
          <a:xfrm>
            <a:off x="5916168" y="1344168"/>
            <a:ext cx="2660904" cy="731520"/>
          </a:xfrm>
          <a:prstGeom prst="rect">
            <a:avLst/>
          </a:prstGeom>
          <a:noFill/>
          <a:ln/>
        </p:spPr>
        <p:txBody>
          <a:bodyPr wrap="square" lIns="0" tIns="0" rIns="0" bIns="0" rtlCol="0" anchor="t"/>
          <a:lstStyle/>
          <a:p>
            <a:pPr indent="0" marL="0">
              <a:buNone/>
            </a:pPr>
            <a:r>
              <a:rPr lang="en-US" sz="1000" dirty="0">
                <a:solidFill>
                  <a:srgbClr val="CBD5E1"/>
                </a:solidFill>
                <a:latin typeface="Calibri" pitchFamily="34" charset="0"/>
                <a:ea typeface="Calibri" pitchFamily="34" charset="-122"/>
                <a:cs typeface="Calibri" pitchFamily="34" charset="-120"/>
              </a:rPr>
              <a:t>lr=2e-4, batch=64, dropout=0.4 → highest accuracy and F1. Higher dropout regularization benefits the ViT encoder.</a:t>
            </a:r>
            <a:endParaRPr lang="en-US" sz="1000" dirty="0"/>
          </a:p>
        </p:txBody>
      </p:sp>
      <p:sp>
        <p:nvSpPr>
          <p:cNvPr id="10" name="Shape 7"/>
          <p:cNvSpPr/>
          <p:nvPr/>
        </p:nvSpPr>
        <p:spPr>
          <a:xfrm>
            <a:off x="5806440" y="2331720"/>
            <a:ext cx="2880360" cy="1234440"/>
          </a:xfrm>
          <a:prstGeom prst="roundRect">
            <a:avLst>
              <a:gd name="adj" fmla="val 5926"/>
            </a:avLst>
          </a:prstGeom>
          <a:solidFill>
            <a:srgbClr val="111D2E"/>
          </a:solidFill>
          <a:ln/>
          <a:effectLst>
            <a:outerShdw sx="100000" sy="100000" kx="0" ky="0" algn="bl" rotWithShape="0" blurRad="101600" dist="25400" dir="2700000">
              <a:srgbClr val="000000">
                <a:alpha val="25000"/>
              </a:srgbClr>
            </a:outerShdw>
          </a:effectLst>
        </p:spPr>
      </p:sp>
      <p:sp>
        <p:nvSpPr>
          <p:cNvPr id="11" name="Text 8"/>
          <p:cNvSpPr/>
          <p:nvPr/>
        </p:nvSpPr>
        <p:spPr>
          <a:xfrm>
            <a:off x="5916168" y="2404872"/>
            <a:ext cx="2660904" cy="27432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Worst Batch 2</a:t>
            </a:r>
            <a:endParaRPr lang="en-US" sz="1200" dirty="0"/>
          </a:p>
        </p:txBody>
      </p:sp>
      <p:sp>
        <p:nvSpPr>
          <p:cNvPr id="12" name="Text 9"/>
          <p:cNvSpPr/>
          <p:nvPr/>
        </p:nvSpPr>
        <p:spPr>
          <a:xfrm>
            <a:off x="5916168" y="2715768"/>
            <a:ext cx="2660904" cy="731520"/>
          </a:xfrm>
          <a:prstGeom prst="rect">
            <a:avLst/>
          </a:prstGeom>
          <a:noFill/>
          <a:ln/>
        </p:spPr>
        <p:txBody>
          <a:bodyPr wrap="square" lIns="0" tIns="0" rIns="0" bIns="0" rtlCol="0" anchor="t"/>
          <a:lstStyle/>
          <a:p>
            <a:pPr indent="0" marL="0">
              <a:buNone/>
            </a:pPr>
            <a:r>
              <a:rPr lang="en-US" sz="1000" dirty="0">
                <a:solidFill>
                  <a:srgbClr val="CBD5E1"/>
                </a:solidFill>
                <a:latin typeface="Calibri" pitchFamily="34" charset="0"/>
                <a:ea typeface="Calibri" pitchFamily="34" charset="-122"/>
                <a:cs typeface="Calibri" pitchFamily="34" charset="-120"/>
              </a:rPr>
              <a:t>lr=5e-5, batch=32, dropout=0.2 → underfitting signs. LR too low for large batch convergence.</a:t>
            </a:r>
            <a:endParaRPr lang="en-US" sz="1000" dirty="0"/>
          </a:p>
        </p:txBody>
      </p:sp>
      <p:sp>
        <p:nvSpPr>
          <p:cNvPr id="13" name="Shape 10"/>
          <p:cNvSpPr/>
          <p:nvPr/>
        </p:nvSpPr>
        <p:spPr>
          <a:xfrm>
            <a:off x="5806440" y="3703320"/>
            <a:ext cx="2880360" cy="1234440"/>
          </a:xfrm>
          <a:prstGeom prst="roundRect">
            <a:avLst>
              <a:gd name="adj" fmla="val 5926"/>
            </a:avLst>
          </a:prstGeom>
          <a:solidFill>
            <a:srgbClr val="111D2E"/>
          </a:solidFill>
          <a:ln/>
          <a:effectLst>
            <a:outerShdw sx="100000" sy="100000" kx="0" ky="0" algn="bl" rotWithShape="0" blurRad="101600" dist="25400" dir="2700000">
              <a:srgbClr val="000000">
                <a:alpha val="25000"/>
              </a:srgbClr>
            </a:outerShdw>
          </a:effectLst>
        </p:spPr>
      </p:sp>
      <p:sp>
        <p:nvSpPr>
          <p:cNvPr id="14" name="Text 11"/>
          <p:cNvSpPr/>
          <p:nvPr/>
        </p:nvSpPr>
        <p:spPr>
          <a:xfrm>
            <a:off x="5916168" y="3776472"/>
            <a:ext cx="2660904" cy="27432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Stability Leader</a:t>
            </a:r>
            <a:endParaRPr lang="en-US" sz="1200" dirty="0"/>
          </a:p>
        </p:txBody>
      </p:sp>
      <p:sp>
        <p:nvSpPr>
          <p:cNvPr id="15" name="Text 12"/>
          <p:cNvSpPr/>
          <p:nvPr/>
        </p:nvSpPr>
        <p:spPr>
          <a:xfrm>
            <a:off x="5916168" y="4087368"/>
            <a:ext cx="2660904" cy="731520"/>
          </a:xfrm>
          <a:prstGeom prst="rect">
            <a:avLst/>
          </a:prstGeom>
          <a:noFill/>
          <a:ln/>
        </p:spPr>
        <p:txBody>
          <a:bodyPr wrap="square" lIns="0" tIns="0" rIns="0" bIns="0" rtlCol="0" anchor="t"/>
          <a:lstStyle/>
          <a:p>
            <a:pPr indent="0" marL="0">
              <a:buNone/>
            </a:pPr>
            <a:r>
              <a:rPr lang="en-US" sz="1000" dirty="0">
                <a:solidFill>
                  <a:srgbClr val="CBD5E1"/>
                </a:solidFill>
                <a:latin typeface="Calibri" pitchFamily="34" charset="0"/>
                <a:ea typeface="Calibri" pitchFamily="34" charset="-122"/>
                <a:cs typeface="Calibri" pitchFamily="34" charset="-120"/>
              </a:rPr>
              <a:t>Batch 5 (std=0.0098 acc) most stable, but batch 3 peaks 1.2% higher despite higher variance.</a:t>
            </a:r>
            <a:endParaRPr lang="en-US"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9 · RESULTS &amp; EVALUATION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Class-wise Performance Analysis</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graphicFrame>
        <p:nvGraphicFramePr>
          <p:cNvPr id="6" name="Chart 0" descr=""/>
          <p:cNvGraphicFramePr/>
          <p:nvPr/>
        </p:nvGraphicFramePr>
        <p:xfrm>
          <a:off x="457200" y="960120"/>
          <a:ext cx="8229600" cy="384048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457200" y="4864608"/>
            <a:ext cx="8229600" cy="256032"/>
          </a:xfrm>
          <a:prstGeom prst="rect">
            <a:avLst/>
          </a:prstGeom>
          <a:noFill/>
          <a:ln/>
        </p:spPr>
        <p:txBody>
          <a:bodyPr wrap="square" lIns="0" tIns="0" rIns="0" bIns="0" rtlCol="0" anchor="ctr"/>
          <a:lstStyle/>
          <a:p>
            <a:pPr indent="0" marL="0">
              <a:buNone/>
            </a:pPr>
            <a:r>
              <a:rPr lang="en-US" sz="1050" dirty="0">
                <a:solidFill>
                  <a:srgbClr val="CBD5E1"/>
                </a:solidFill>
                <a:latin typeface="Calibri" pitchFamily="34" charset="0"/>
                <a:ea typeface="Calibri" pitchFamily="34" charset="-122"/>
                <a:cs typeface="Calibri" pitchFamily="34" charset="-120"/>
              </a:rPr>
              <a:t>Arrest &amp; Robbery are hardest due to visual ambiguity with Normal activity. Explosion &amp; Arson easiest due to distinctive visual + motion signatures.</a:t>
            </a:r>
            <a:endParaRPr lang="en-US" sz="10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10 · DEPLOYMENT</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System Integration</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87552"/>
            <a:ext cx="4023360" cy="1234440"/>
          </a:xfrm>
          <a:prstGeom prst="roundRect">
            <a:avLst>
              <a:gd name="adj" fmla="val 5185"/>
            </a:avLst>
          </a:prstGeom>
          <a:solidFill>
            <a:srgbClr val="111D2E"/>
          </a:solidFill>
          <a:ln/>
        </p:spPr>
      </p:sp>
      <p:sp>
        <p:nvSpPr>
          <p:cNvPr id="7" name="Text 5"/>
          <p:cNvSpPr/>
          <p:nvPr/>
        </p:nvSpPr>
        <p:spPr>
          <a:xfrm>
            <a:off x="566928" y="1060704"/>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Flask + PyTorch Server</a:t>
            </a:r>
            <a:endParaRPr lang="en-US" sz="1200" dirty="0"/>
          </a:p>
        </p:txBody>
      </p:sp>
      <p:sp>
        <p:nvSpPr>
          <p:cNvPr id="8" name="Text 6"/>
          <p:cNvSpPr/>
          <p:nvPr/>
        </p:nvSpPr>
        <p:spPr>
          <a:xfrm>
            <a:off x="566928" y="1389888"/>
            <a:ext cx="3794760" cy="749808"/>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Persistent GPU-loaded inference service. Maintains model weights in VRAM. Exposes HTTP POST endpoint for tensor payloads.</a:t>
            </a:r>
            <a:endParaRPr lang="en-US" sz="1100" dirty="0"/>
          </a:p>
        </p:txBody>
      </p:sp>
      <p:sp>
        <p:nvSpPr>
          <p:cNvPr id="9" name="Shape 7"/>
          <p:cNvSpPr/>
          <p:nvPr/>
        </p:nvSpPr>
        <p:spPr>
          <a:xfrm>
            <a:off x="4800600" y="987552"/>
            <a:ext cx="4023360" cy="1234440"/>
          </a:xfrm>
          <a:prstGeom prst="roundRect">
            <a:avLst>
              <a:gd name="adj" fmla="val 5185"/>
            </a:avLst>
          </a:prstGeom>
          <a:solidFill>
            <a:srgbClr val="111D2E"/>
          </a:solidFill>
          <a:ln/>
        </p:spPr>
      </p:sp>
      <p:sp>
        <p:nvSpPr>
          <p:cNvPr id="10" name="Text 8"/>
          <p:cNvSpPr/>
          <p:nvPr/>
        </p:nvSpPr>
        <p:spPr>
          <a:xfrm>
            <a:off x="4910328" y="1060704"/>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Express / Node.js Gateway</a:t>
            </a:r>
            <a:endParaRPr lang="en-US" sz="1200" dirty="0"/>
          </a:p>
        </p:txBody>
      </p:sp>
      <p:sp>
        <p:nvSpPr>
          <p:cNvPr id="11" name="Text 9"/>
          <p:cNvSpPr/>
          <p:nvPr/>
        </p:nvSpPr>
        <p:spPr>
          <a:xfrm>
            <a:off x="4910328" y="1389888"/>
            <a:ext cx="3794760" cy="749808"/>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Central API routing authentication, camera management, alert logging. 1s TTL memory cache with immediate invalidation on anomaly.</a:t>
            </a:r>
            <a:endParaRPr lang="en-US" sz="1100" dirty="0"/>
          </a:p>
        </p:txBody>
      </p:sp>
      <p:sp>
        <p:nvSpPr>
          <p:cNvPr id="12" name="Shape 10"/>
          <p:cNvSpPr/>
          <p:nvPr/>
        </p:nvSpPr>
        <p:spPr>
          <a:xfrm>
            <a:off x="457200" y="2359152"/>
            <a:ext cx="4023360" cy="1234440"/>
          </a:xfrm>
          <a:prstGeom prst="roundRect">
            <a:avLst>
              <a:gd name="adj" fmla="val 5185"/>
            </a:avLst>
          </a:prstGeom>
          <a:solidFill>
            <a:srgbClr val="111D2E"/>
          </a:solidFill>
          <a:ln/>
        </p:spPr>
      </p:sp>
      <p:sp>
        <p:nvSpPr>
          <p:cNvPr id="13" name="Text 11"/>
          <p:cNvSpPr/>
          <p:nvPr/>
        </p:nvSpPr>
        <p:spPr>
          <a:xfrm>
            <a:off x="566928" y="2432304"/>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MySQL Database</a:t>
            </a:r>
            <a:endParaRPr lang="en-US" sz="1200" dirty="0"/>
          </a:p>
        </p:txBody>
      </p:sp>
      <p:sp>
        <p:nvSpPr>
          <p:cNvPr id="14" name="Text 12"/>
          <p:cNvSpPr/>
          <p:nvPr/>
        </p:nvSpPr>
        <p:spPr>
          <a:xfrm>
            <a:off x="566928" y="2761488"/>
            <a:ext cx="3794760" cy="749808"/>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Connection-pooled relational storage. Stores: user profiles, camera configs, alert logs, event thumbnails (anomaly-only).</a:t>
            </a:r>
            <a:endParaRPr lang="en-US" sz="1100" dirty="0"/>
          </a:p>
        </p:txBody>
      </p:sp>
      <p:sp>
        <p:nvSpPr>
          <p:cNvPr id="15" name="Shape 13"/>
          <p:cNvSpPr/>
          <p:nvPr/>
        </p:nvSpPr>
        <p:spPr>
          <a:xfrm>
            <a:off x="4800600" y="2359152"/>
            <a:ext cx="4023360" cy="1234440"/>
          </a:xfrm>
          <a:prstGeom prst="roundRect">
            <a:avLst>
              <a:gd name="adj" fmla="val 5185"/>
            </a:avLst>
          </a:prstGeom>
          <a:solidFill>
            <a:srgbClr val="111D2E"/>
          </a:solidFill>
          <a:ln/>
        </p:spPr>
      </p:sp>
      <p:sp>
        <p:nvSpPr>
          <p:cNvPr id="16" name="Text 14"/>
          <p:cNvSpPr/>
          <p:nvPr/>
        </p:nvSpPr>
        <p:spPr>
          <a:xfrm>
            <a:off x="4910328" y="2432304"/>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React + Vite Frontend</a:t>
            </a:r>
            <a:endParaRPr lang="en-US" sz="1200" dirty="0"/>
          </a:p>
        </p:txBody>
      </p:sp>
      <p:sp>
        <p:nvSpPr>
          <p:cNvPr id="17" name="Text 15"/>
          <p:cNvSpPr/>
          <p:nvPr/>
        </p:nvSpPr>
        <p:spPr>
          <a:xfrm>
            <a:off x="4910328" y="2761488"/>
            <a:ext cx="3794760" cy="749808"/>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Live dashboard with continuous long-polling loop (1s intervals). Color-coded alert feed. Demo and live camera modes.</a:t>
            </a:r>
            <a:endParaRPr lang="en-US" sz="1100" dirty="0"/>
          </a:p>
        </p:txBody>
      </p:sp>
      <p:sp>
        <p:nvSpPr>
          <p:cNvPr id="18" name="Shape 16"/>
          <p:cNvSpPr/>
          <p:nvPr/>
        </p:nvSpPr>
        <p:spPr>
          <a:xfrm>
            <a:off x="457200" y="3730752"/>
            <a:ext cx="4023360" cy="1234440"/>
          </a:xfrm>
          <a:prstGeom prst="roundRect">
            <a:avLst>
              <a:gd name="adj" fmla="val 5185"/>
            </a:avLst>
          </a:prstGeom>
          <a:solidFill>
            <a:srgbClr val="111D2E"/>
          </a:solidFill>
          <a:ln/>
        </p:spPr>
      </p:sp>
      <p:sp>
        <p:nvSpPr>
          <p:cNvPr id="19" name="Text 17"/>
          <p:cNvSpPr/>
          <p:nvPr/>
        </p:nvSpPr>
        <p:spPr>
          <a:xfrm>
            <a:off x="566928" y="3803904"/>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MQTT Alert Router</a:t>
            </a:r>
            <a:endParaRPr lang="en-US" sz="1200" dirty="0"/>
          </a:p>
        </p:txBody>
      </p:sp>
      <p:sp>
        <p:nvSpPr>
          <p:cNvPr id="20" name="Text 18"/>
          <p:cNvSpPr/>
          <p:nvPr/>
        </p:nvSpPr>
        <p:spPr>
          <a:xfrm>
            <a:off x="566928" y="4133088"/>
            <a:ext cx="3794760" cy="749808"/>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Asynchronous JSON payload routing to Police, EMS, and Fire channels. Offline local buffer ensures zero alert loss on network failure.</a:t>
            </a:r>
            <a:endParaRPr lang="en-US" sz="1100" dirty="0"/>
          </a:p>
        </p:txBody>
      </p:sp>
      <p:sp>
        <p:nvSpPr>
          <p:cNvPr id="21" name="Shape 19"/>
          <p:cNvSpPr/>
          <p:nvPr/>
        </p:nvSpPr>
        <p:spPr>
          <a:xfrm>
            <a:off x="4800600" y="3730752"/>
            <a:ext cx="4023360" cy="1234440"/>
          </a:xfrm>
          <a:prstGeom prst="roundRect">
            <a:avLst>
              <a:gd name="adj" fmla="val 5185"/>
            </a:avLst>
          </a:prstGeom>
          <a:solidFill>
            <a:srgbClr val="111D2E"/>
          </a:solidFill>
          <a:ln/>
        </p:spPr>
      </p:sp>
      <p:sp>
        <p:nvSpPr>
          <p:cNvPr id="22" name="Text 20"/>
          <p:cNvSpPr/>
          <p:nvPr/>
        </p:nvSpPr>
        <p:spPr>
          <a:xfrm>
            <a:off x="4910328" y="3803904"/>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Edge Buffer (Offline)</a:t>
            </a:r>
            <a:endParaRPr lang="en-US" sz="1200" dirty="0"/>
          </a:p>
        </p:txBody>
      </p:sp>
      <p:sp>
        <p:nvSpPr>
          <p:cNvPr id="23" name="Text 21"/>
          <p:cNvSpPr/>
          <p:nvPr/>
        </p:nvSpPr>
        <p:spPr>
          <a:xfrm>
            <a:off x="4910328" y="4133088"/>
            <a:ext cx="3794760" cy="749808"/>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When network drops, alerts queue locally and flush on reconnection. Fault-tolerance tested with intentional network interruptions.</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10 · DEPLOYMENT</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User Interface Design</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87552"/>
            <a:ext cx="2606040" cy="1664208"/>
          </a:xfrm>
          <a:prstGeom prst="roundRect">
            <a:avLst>
              <a:gd name="adj" fmla="val 3846"/>
            </a:avLst>
          </a:prstGeom>
          <a:solidFill>
            <a:srgbClr val="111D2E"/>
          </a:solidFill>
          <a:ln/>
        </p:spPr>
      </p:sp>
      <p:sp>
        <p:nvSpPr>
          <p:cNvPr id="7" name="Text 5"/>
          <p:cNvSpPr/>
          <p:nvPr/>
        </p:nvSpPr>
        <p:spPr>
          <a:xfrm>
            <a:off x="566928" y="1078992"/>
            <a:ext cx="2377440" cy="274320"/>
          </a:xfrm>
          <a:prstGeom prst="rect">
            <a:avLst/>
          </a:prstGeom>
          <a:noFill/>
          <a:ln/>
        </p:spPr>
        <p:txBody>
          <a:bodyPr wrap="square" lIns="0" tIns="0" rIns="0" bIns="0" rtlCol="0" anchor="ctr"/>
          <a:lstStyle/>
          <a:p>
            <a:pPr indent="0" marL="0">
              <a:buNone/>
            </a:pPr>
            <a:r>
              <a:rPr lang="en-US" sz="1150" b="1" dirty="0">
                <a:solidFill>
                  <a:srgbClr val="0EA5E9"/>
                </a:solidFill>
                <a:latin typeface="Calibri" pitchFamily="34" charset="0"/>
                <a:ea typeface="Calibri" pitchFamily="34" charset="-122"/>
                <a:cs typeface="Calibri" pitchFamily="34" charset="-120"/>
              </a:rPr>
              <a:t>Live Dashboard</a:t>
            </a:r>
            <a:endParaRPr lang="en-US" sz="1150" dirty="0"/>
          </a:p>
        </p:txBody>
      </p:sp>
      <p:sp>
        <p:nvSpPr>
          <p:cNvPr id="8" name="Text 6"/>
          <p:cNvSpPr/>
          <p:nvPr/>
        </p:nvSpPr>
        <p:spPr>
          <a:xfrm>
            <a:off x="566928" y="1408176"/>
            <a:ext cx="2377440" cy="1170432"/>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Real-time camera feed display with active classification status. Confidence bar, detected class badge, and 70% threshold rule displayed.</a:t>
            </a:r>
            <a:endParaRPr lang="en-US" sz="1050" dirty="0"/>
          </a:p>
        </p:txBody>
      </p:sp>
      <p:sp>
        <p:nvSpPr>
          <p:cNvPr id="9" name="Shape 7"/>
          <p:cNvSpPr/>
          <p:nvPr/>
        </p:nvSpPr>
        <p:spPr>
          <a:xfrm>
            <a:off x="3273552" y="987552"/>
            <a:ext cx="2606040" cy="1664208"/>
          </a:xfrm>
          <a:prstGeom prst="roundRect">
            <a:avLst>
              <a:gd name="adj" fmla="val 3846"/>
            </a:avLst>
          </a:prstGeom>
          <a:solidFill>
            <a:srgbClr val="111D2E"/>
          </a:solidFill>
          <a:ln/>
        </p:spPr>
      </p:sp>
      <p:sp>
        <p:nvSpPr>
          <p:cNvPr id="10" name="Text 8"/>
          <p:cNvSpPr/>
          <p:nvPr/>
        </p:nvSpPr>
        <p:spPr>
          <a:xfrm>
            <a:off x="3383280" y="1078992"/>
            <a:ext cx="2377440" cy="274320"/>
          </a:xfrm>
          <a:prstGeom prst="rect">
            <a:avLst/>
          </a:prstGeom>
          <a:noFill/>
          <a:ln/>
        </p:spPr>
        <p:txBody>
          <a:bodyPr wrap="square" lIns="0" tIns="0" rIns="0" bIns="0" rtlCol="0" anchor="ctr"/>
          <a:lstStyle/>
          <a:p>
            <a:pPr indent="0" marL="0">
              <a:buNone/>
            </a:pPr>
            <a:r>
              <a:rPr lang="en-US" sz="1150" b="1" dirty="0">
                <a:solidFill>
                  <a:srgbClr val="0EA5E9"/>
                </a:solidFill>
                <a:latin typeface="Calibri" pitchFamily="34" charset="0"/>
                <a:ea typeface="Calibri" pitchFamily="34" charset="-122"/>
                <a:cs typeface="Calibri" pitchFamily="34" charset="-120"/>
              </a:rPr>
              <a:t>Demo Mode</a:t>
            </a:r>
            <a:endParaRPr lang="en-US" sz="1150" dirty="0"/>
          </a:p>
        </p:txBody>
      </p:sp>
      <p:sp>
        <p:nvSpPr>
          <p:cNvPr id="11" name="Text 9"/>
          <p:cNvSpPr/>
          <p:nvPr/>
        </p:nvSpPr>
        <p:spPr>
          <a:xfrm>
            <a:off x="3383280" y="1408176"/>
            <a:ext cx="2377440" cy="1170432"/>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Test video upload and playback for offline evaluation. Dropdown for UCF-Crime test videos. AI model checking status indicator.</a:t>
            </a:r>
            <a:endParaRPr lang="en-US" sz="1050" dirty="0"/>
          </a:p>
        </p:txBody>
      </p:sp>
      <p:sp>
        <p:nvSpPr>
          <p:cNvPr id="12" name="Shape 10"/>
          <p:cNvSpPr/>
          <p:nvPr/>
        </p:nvSpPr>
        <p:spPr>
          <a:xfrm>
            <a:off x="6089904" y="987552"/>
            <a:ext cx="2606040" cy="1664208"/>
          </a:xfrm>
          <a:prstGeom prst="roundRect">
            <a:avLst>
              <a:gd name="adj" fmla="val 3846"/>
            </a:avLst>
          </a:prstGeom>
          <a:solidFill>
            <a:srgbClr val="111D2E"/>
          </a:solidFill>
          <a:ln/>
        </p:spPr>
      </p:sp>
      <p:sp>
        <p:nvSpPr>
          <p:cNvPr id="13" name="Text 11"/>
          <p:cNvSpPr/>
          <p:nvPr/>
        </p:nvSpPr>
        <p:spPr>
          <a:xfrm>
            <a:off x="6199632" y="1078992"/>
            <a:ext cx="2377440" cy="274320"/>
          </a:xfrm>
          <a:prstGeom prst="rect">
            <a:avLst/>
          </a:prstGeom>
          <a:noFill/>
          <a:ln/>
        </p:spPr>
        <p:txBody>
          <a:bodyPr wrap="square" lIns="0" tIns="0" rIns="0" bIns="0" rtlCol="0" anchor="ctr"/>
          <a:lstStyle/>
          <a:p>
            <a:pPr indent="0" marL="0">
              <a:buNone/>
            </a:pPr>
            <a:r>
              <a:rPr lang="en-US" sz="1150" b="1" dirty="0">
                <a:solidFill>
                  <a:srgbClr val="0EA5E9"/>
                </a:solidFill>
                <a:latin typeface="Calibri" pitchFamily="34" charset="0"/>
                <a:ea typeface="Calibri" pitchFamily="34" charset="-122"/>
                <a:cs typeface="Calibri" pitchFamily="34" charset="-120"/>
              </a:rPr>
              <a:t>Alert Feed</a:t>
            </a:r>
            <a:endParaRPr lang="en-US" sz="1150" dirty="0"/>
          </a:p>
        </p:txBody>
      </p:sp>
      <p:sp>
        <p:nvSpPr>
          <p:cNvPr id="14" name="Text 12"/>
          <p:cNvSpPr/>
          <p:nvPr/>
        </p:nvSpPr>
        <p:spPr>
          <a:xfrm>
            <a:off x="6199632" y="1408176"/>
            <a:ext cx="2377440" cy="1170432"/>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Color-coded incident log: Red = Violence/Shooting, Orange = Theft/Arson, Yellow = Vandalism. Timestamps and confidence scores.</a:t>
            </a:r>
            <a:endParaRPr lang="en-US" sz="1050" dirty="0"/>
          </a:p>
        </p:txBody>
      </p:sp>
      <p:sp>
        <p:nvSpPr>
          <p:cNvPr id="15" name="Shape 13"/>
          <p:cNvSpPr/>
          <p:nvPr/>
        </p:nvSpPr>
        <p:spPr>
          <a:xfrm>
            <a:off x="457200" y="2798064"/>
            <a:ext cx="2606040" cy="1664208"/>
          </a:xfrm>
          <a:prstGeom prst="roundRect">
            <a:avLst>
              <a:gd name="adj" fmla="val 3846"/>
            </a:avLst>
          </a:prstGeom>
          <a:solidFill>
            <a:srgbClr val="111D2E"/>
          </a:solidFill>
          <a:ln/>
        </p:spPr>
      </p:sp>
      <p:sp>
        <p:nvSpPr>
          <p:cNvPr id="16" name="Text 14"/>
          <p:cNvSpPr/>
          <p:nvPr/>
        </p:nvSpPr>
        <p:spPr>
          <a:xfrm>
            <a:off x="566928" y="2889504"/>
            <a:ext cx="2377440" cy="274320"/>
          </a:xfrm>
          <a:prstGeom prst="rect">
            <a:avLst/>
          </a:prstGeom>
          <a:noFill/>
          <a:ln/>
        </p:spPr>
        <p:txBody>
          <a:bodyPr wrap="square" lIns="0" tIns="0" rIns="0" bIns="0" rtlCol="0" anchor="ctr"/>
          <a:lstStyle/>
          <a:p>
            <a:pPr indent="0" marL="0">
              <a:buNone/>
            </a:pPr>
            <a:r>
              <a:rPr lang="en-US" sz="1150" b="1" dirty="0">
                <a:solidFill>
                  <a:srgbClr val="0EA5E9"/>
                </a:solidFill>
                <a:latin typeface="Calibri" pitchFamily="34" charset="0"/>
                <a:ea typeface="Calibri" pitchFamily="34" charset="-122"/>
                <a:cs typeface="Calibri" pitchFamily="34" charset="-120"/>
              </a:rPr>
              <a:t>Camera Link</a:t>
            </a:r>
            <a:endParaRPr lang="en-US" sz="1150" dirty="0"/>
          </a:p>
        </p:txBody>
      </p:sp>
      <p:sp>
        <p:nvSpPr>
          <p:cNvPr id="17" name="Text 15"/>
          <p:cNvSpPr/>
          <p:nvPr/>
        </p:nvSpPr>
        <p:spPr>
          <a:xfrm>
            <a:off x="566928" y="3218688"/>
            <a:ext cx="2377440" cy="1170432"/>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Operator links RTSP stream URL. Multi-camera management for production deployments.</a:t>
            </a:r>
            <a:endParaRPr lang="en-US" sz="1050" dirty="0"/>
          </a:p>
        </p:txBody>
      </p:sp>
      <p:sp>
        <p:nvSpPr>
          <p:cNvPr id="18" name="Shape 16"/>
          <p:cNvSpPr/>
          <p:nvPr/>
        </p:nvSpPr>
        <p:spPr>
          <a:xfrm>
            <a:off x="3273552" y="2798064"/>
            <a:ext cx="2606040" cy="1664208"/>
          </a:xfrm>
          <a:prstGeom prst="roundRect">
            <a:avLst>
              <a:gd name="adj" fmla="val 3846"/>
            </a:avLst>
          </a:prstGeom>
          <a:solidFill>
            <a:srgbClr val="111D2E"/>
          </a:solidFill>
          <a:ln/>
        </p:spPr>
      </p:sp>
      <p:sp>
        <p:nvSpPr>
          <p:cNvPr id="19" name="Text 17"/>
          <p:cNvSpPr/>
          <p:nvPr/>
        </p:nvSpPr>
        <p:spPr>
          <a:xfrm>
            <a:off x="3383280" y="2889504"/>
            <a:ext cx="2377440" cy="274320"/>
          </a:xfrm>
          <a:prstGeom prst="rect">
            <a:avLst/>
          </a:prstGeom>
          <a:noFill/>
          <a:ln/>
        </p:spPr>
        <p:txBody>
          <a:bodyPr wrap="square" lIns="0" tIns="0" rIns="0" bIns="0" rtlCol="0" anchor="ctr"/>
          <a:lstStyle/>
          <a:p>
            <a:pPr indent="0" marL="0">
              <a:buNone/>
            </a:pPr>
            <a:r>
              <a:rPr lang="en-US" sz="1150" b="1" dirty="0">
                <a:solidFill>
                  <a:srgbClr val="0EA5E9"/>
                </a:solidFill>
                <a:latin typeface="Calibri" pitchFamily="34" charset="0"/>
                <a:ea typeface="Calibri" pitchFamily="34" charset="-122"/>
                <a:cs typeface="Calibri" pitchFamily="34" charset="-120"/>
              </a:rPr>
              <a:t>Security Operations</a:t>
            </a:r>
            <a:endParaRPr lang="en-US" sz="1150" dirty="0"/>
          </a:p>
        </p:txBody>
      </p:sp>
      <p:sp>
        <p:nvSpPr>
          <p:cNvPr id="20" name="Text 18"/>
          <p:cNvSpPr/>
          <p:nvPr/>
        </p:nvSpPr>
        <p:spPr>
          <a:xfrm>
            <a:off x="3383280" y="3218688"/>
            <a:ext cx="2377440" cy="1170432"/>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Secure login/logout. Role-based access for Admin vs System Operator. Audit logging of all user actions.</a:t>
            </a:r>
            <a:endParaRPr lang="en-US" sz="1050" dirty="0"/>
          </a:p>
        </p:txBody>
      </p:sp>
      <p:sp>
        <p:nvSpPr>
          <p:cNvPr id="21" name="Shape 19"/>
          <p:cNvSpPr/>
          <p:nvPr/>
        </p:nvSpPr>
        <p:spPr>
          <a:xfrm>
            <a:off x="6089904" y="2798064"/>
            <a:ext cx="2606040" cy="1664208"/>
          </a:xfrm>
          <a:prstGeom prst="roundRect">
            <a:avLst>
              <a:gd name="adj" fmla="val 3846"/>
            </a:avLst>
          </a:prstGeom>
          <a:solidFill>
            <a:srgbClr val="111D2E"/>
          </a:solidFill>
          <a:ln/>
        </p:spPr>
      </p:sp>
      <p:sp>
        <p:nvSpPr>
          <p:cNvPr id="22" name="Text 20"/>
          <p:cNvSpPr/>
          <p:nvPr/>
        </p:nvSpPr>
        <p:spPr>
          <a:xfrm>
            <a:off x="6199632" y="2889504"/>
            <a:ext cx="2377440" cy="274320"/>
          </a:xfrm>
          <a:prstGeom prst="rect">
            <a:avLst/>
          </a:prstGeom>
          <a:noFill/>
          <a:ln/>
        </p:spPr>
        <p:txBody>
          <a:bodyPr wrap="square" lIns="0" tIns="0" rIns="0" bIns="0" rtlCol="0" anchor="ctr"/>
          <a:lstStyle/>
          <a:p>
            <a:pPr indent="0" marL="0">
              <a:buNone/>
            </a:pPr>
            <a:r>
              <a:rPr lang="en-US" sz="1150" b="1" dirty="0">
                <a:solidFill>
                  <a:srgbClr val="0EA5E9"/>
                </a:solidFill>
                <a:latin typeface="Calibri" pitchFamily="34" charset="0"/>
                <a:ea typeface="Calibri" pitchFamily="34" charset="-122"/>
                <a:cs typeface="Calibri" pitchFamily="34" charset="-120"/>
              </a:rPr>
              <a:t>Privacy Mode</a:t>
            </a:r>
            <a:endParaRPr lang="en-US" sz="1150" dirty="0"/>
          </a:p>
        </p:txBody>
      </p:sp>
      <p:sp>
        <p:nvSpPr>
          <p:cNvPr id="23" name="Text 21"/>
          <p:cNvSpPr/>
          <p:nvPr/>
        </p:nvSpPr>
        <p:spPr>
          <a:xfrm>
            <a:off x="6199632" y="3218688"/>
            <a:ext cx="2377440" cy="1170432"/>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'Normal' classification produces no log entry. Only confirmed anomalies persist to DB — enforcing citizen privacy by design.</a:t>
            </a:r>
            <a:endParaRPr lang="en-US" sz="10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10 · DEPLOYMENT</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Real-Time Processing Pipeline</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1440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7" name="Text 5"/>
          <p:cNvSpPr/>
          <p:nvPr/>
        </p:nvSpPr>
        <p:spPr>
          <a:xfrm>
            <a:off x="457200" y="960120"/>
            <a:ext cx="1920240" cy="548640"/>
          </a:xfrm>
          <a:prstGeom prst="rect">
            <a:avLst/>
          </a:prstGeom>
          <a:noFill/>
          <a:ln/>
        </p:spPr>
        <p:txBody>
          <a:bodyPr wrap="square" lIns="0" tIns="0" rIns="0" bIns="0" rtlCol="0" anchor="ctr"/>
          <a:lstStyle/>
          <a:p>
            <a:pPr algn="ctr" indent="0" marL="0">
              <a:buNone/>
            </a:pPr>
            <a:r>
              <a:rPr lang="en-US" sz="2800" b="1" dirty="0">
                <a:solidFill>
                  <a:srgbClr val="10B981"/>
                </a:solidFill>
                <a:latin typeface="Calibri" pitchFamily="34" charset="0"/>
                <a:ea typeface="Calibri" pitchFamily="34" charset="-122"/>
                <a:cs typeface="Calibri" pitchFamily="34" charset="-120"/>
              </a:rPr>
              <a:t>42.45ms</a:t>
            </a:r>
            <a:endParaRPr lang="en-US" sz="2800" dirty="0"/>
          </a:p>
        </p:txBody>
      </p:sp>
      <p:sp>
        <p:nvSpPr>
          <p:cNvPr id="8" name="Text 6"/>
          <p:cNvSpPr/>
          <p:nvPr/>
        </p:nvSpPr>
        <p:spPr>
          <a:xfrm>
            <a:off x="457200" y="150876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Per-window</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latency</a:t>
            </a:r>
            <a:endParaRPr lang="en-US" sz="1000" dirty="0"/>
          </a:p>
        </p:txBody>
      </p:sp>
      <p:sp>
        <p:nvSpPr>
          <p:cNvPr id="9" name="Shape 7"/>
          <p:cNvSpPr/>
          <p:nvPr/>
        </p:nvSpPr>
        <p:spPr>
          <a:xfrm>
            <a:off x="2542032" y="91440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10" name="Text 8"/>
          <p:cNvSpPr/>
          <p:nvPr/>
        </p:nvSpPr>
        <p:spPr>
          <a:xfrm>
            <a:off x="2542032" y="960120"/>
            <a:ext cx="1920240" cy="548640"/>
          </a:xfrm>
          <a:prstGeom prst="rect">
            <a:avLst/>
          </a:prstGeom>
          <a:noFill/>
          <a:ln/>
        </p:spPr>
        <p:txBody>
          <a:bodyPr wrap="square" lIns="0" tIns="0" rIns="0" bIns="0" rtlCol="0" anchor="ctr"/>
          <a:lstStyle/>
          <a:p>
            <a:pPr algn="ctr" indent="0" marL="0">
              <a:buNone/>
            </a:pPr>
            <a:r>
              <a:rPr lang="en-US" sz="2800" b="1" dirty="0">
                <a:solidFill>
                  <a:srgbClr val="10B981"/>
                </a:solidFill>
                <a:latin typeface="Calibri" pitchFamily="34" charset="0"/>
                <a:ea typeface="Calibri" pitchFamily="34" charset="-122"/>
                <a:cs typeface="Calibri" pitchFamily="34" charset="-120"/>
              </a:rPr>
              <a:t>6.76</a:t>
            </a:r>
            <a:endParaRPr lang="en-US" sz="2800" dirty="0"/>
          </a:p>
        </p:txBody>
      </p:sp>
      <p:sp>
        <p:nvSpPr>
          <p:cNvPr id="11" name="Text 9"/>
          <p:cNvSpPr/>
          <p:nvPr/>
        </p:nvSpPr>
        <p:spPr>
          <a:xfrm>
            <a:off x="2542032" y="150876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Windows</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per second</a:t>
            </a:r>
            <a:endParaRPr lang="en-US" sz="1000" dirty="0"/>
          </a:p>
        </p:txBody>
      </p:sp>
      <p:sp>
        <p:nvSpPr>
          <p:cNvPr id="12" name="Shape 10"/>
          <p:cNvSpPr/>
          <p:nvPr/>
        </p:nvSpPr>
        <p:spPr>
          <a:xfrm>
            <a:off x="4626864" y="91440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13" name="Text 11"/>
          <p:cNvSpPr/>
          <p:nvPr/>
        </p:nvSpPr>
        <p:spPr>
          <a:xfrm>
            <a:off x="4626864" y="960120"/>
            <a:ext cx="1920240" cy="548640"/>
          </a:xfrm>
          <a:prstGeom prst="rect">
            <a:avLst/>
          </a:prstGeom>
          <a:noFill/>
          <a:ln/>
        </p:spPr>
        <p:txBody>
          <a:bodyPr wrap="square" lIns="0" tIns="0" rIns="0" bIns="0" rtlCol="0" anchor="ctr"/>
          <a:lstStyle/>
          <a:p>
            <a:pPr algn="ctr" indent="0" marL="0">
              <a:buNone/>
            </a:pPr>
            <a:r>
              <a:rPr lang="en-US" sz="2800" b="1" dirty="0">
                <a:solidFill>
                  <a:srgbClr val="10B981"/>
                </a:solidFill>
                <a:latin typeface="Calibri" pitchFamily="34" charset="0"/>
                <a:ea typeface="Calibri" pitchFamily="34" charset="-122"/>
                <a:cs typeface="Calibri" pitchFamily="34" charset="-120"/>
              </a:rPr>
              <a:t>100%</a:t>
            </a:r>
            <a:endParaRPr lang="en-US" sz="2800" dirty="0"/>
          </a:p>
        </p:txBody>
      </p:sp>
      <p:sp>
        <p:nvSpPr>
          <p:cNvPr id="14" name="Text 12"/>
          <p:cNvSpPr/>
          <p:nvPr/>
        </p:nvSpPr>
        <p:spPr>
          <a:xfrm>
            <a:off x="4626864" y="150876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Uptime during</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stress tests</a:t>
            </a:r>
            <a:endParaRPr lang="en-US" sz="1000" dirty="0"/>
          </a:p>
        </p:txBody>
      </p:sp>
      <p:sp>
        <p:nvSpPr>
          <p:cNvPr id="15" name="Shape 13"/>
          <p:cNvSpPr/>
          <p:nvPr/>
        </p:nvSpPr>
        <p:spPr>
          <a:xfrm>
            <a:off x="6711696" y="914400"/>
            <a:ext cx="1920240" cy="1005840"/>
          </a:xfrm>
          <a:prstGeom prst="roundRect">
            <a:avLst>
              <a:gd name="adj" fmla="val 7273"/>
            </a:avLst>
          </a:prstGeom>
          <a:solidFill>
            <a:srgbClr val="111D2E"/>
          </a:solidFill>
          <a:ln/>
          <a:effectLst>
            <a:outerShdw sx="100000" sy="100000" kx="0" ky="0" algn="bl" rotWithShape="0" blurRad="76200" dist="25400" dir="2700000">
              <a:srgbClr val="000000">
                <a:alpha val="20000"/>
              </a:srgbClr>
            </a:outerShdw>
          </a:effectLst>
        </p:spPr>
      </p:sp>
      <p:sp>
        <p:nvSpPr>
          <p:cNvPr id="16" name="Text 14"/>
          <p:cNvSpPr/>
          <p:nvPr/>
        </p:nvSpPr>
        <p:spPr>
          <a:xfrm>
            <a:off x="6711696" y="960120"/>
            <a:ext cx="1920240" cy="548640"/>
          </a:xfrm>
          <a:prstGeom prst="rect">
            <a:avLst/>
          </a:prstGeom>
          <a:noFill/>
          <a:ln/>
        </p:spPr>
        <p:txBody>
          <a:bodyPr wrap="square" lIns="0" tIns="0" rIns="0" bIns="0" rtlCol="0" anchor="ctr"/>
          <a:lstStyle/>
          <a:p>
            <a:pPr algn="ctr" indent="0" marL="0">
              <a:buNone/>
            </a:pPr>
            <a:r>
              <a:rPr lang="en-US" sz="2800" b="1" dirty="0">
                <a:solidFill>
                  <a:srgbClr val="10B981"/>
                </a:solidFill>
                <a:latin typeface="Calibri" pitchFamily="34" charset="0"/>
                <a:ea typeface="Calibri" pitchFamily="34" charset="-122"/>
                <a:cs typeface="Calibri" pitchFamily="34" charset="-120"/>
              </a:rPr>
              <a:t>0</a:t>
            </a:r>
            <a:endParaRPr lang="en-US" sz="2800" dirty="0"/>
          </a:p>
        </p:txBody>
      </p:sp>
      <p:sp>
        <p:nvSpPr>
          <p:cNvPr id="17" name="Text 15"/>
          <p:cNvSpPr/>
          <p:nvPr/>
        </p:nvSpPr>
        <p:spPr>
          <a:xfrm>
            <a:off x="6711696" y="1508760"/>
            <a:ext cx="1920240" cy="347472"/>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Alerts lost</a:t>
            </a:r>
            <a:endParaRPr lang="en-US" sz="1000" dirty="0"/>
          </a:p>
          <a:p>
            <a:pPr algn="ctr" indent="0" marL="0">
              <a:buNone/>
            </a:pPr>
            <a:r>
              <a:rPr lang="en-US" sz="1000" dirty="0">
                <a:solidFill>
                  <a:srgbClr val="64748B"/>
                </a:solidFill>
                <a:latin typeface="Calibri" pitchFamily="34" charset="0"/>
                <a:ea typeface="Calibri" pitchFamily="34" charset="-122"/>
                <a:cs typeface="Calibri" pitchFamily="34" charset="-120"/>
              </a:rPr>
              <a:t>on reconnection</a:t>
            </a:r>
            <a:endParaRPr lang="en-US" sz="1000" dirty="0"/>
          </a:p>
        </p:txBody>
      </p:sp>
      <p:sp>
        <p:nvSpPr>
          <p:cNvPr id="18" name="Shape 16"/>
          <p:cNvSpPr/>
          <p:nvPr/>
        </p:nvSpPr>
        <p:spPr>
          <a:xfrm>
            <a:off x="457200" y="2148840"/>
            <a:ext cx="4023360" cy="1170432"/>
          </a:xfrm>
          <a:prstGeom prst="roundRect">
            <a:avLst>
              <a:gd name="adj" fmla="val 5469"/>
            </a:avLst>
          </a:prstGeom>
          <a:solidFill>
            <a:srgbClr val="111D2E"/>
          </a:solidFill>
          <a:ln/>
        </p:spPr>
      </p:sp>
      <p:sp>
        <p:nvSpPr>
          <p:cNvPr id="19" name="Text 17"/>
          <p:cNvSpPr/>
          <p:nvPr/>
        </p:nvSpPr>
        <p:spPr>
          <a:xfrm>
            <a:off x="566928" y="2221992"/>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CPU-GPU Parallelism</a:t>
            </a:r>
            <a:endParaRPr lang="en-US" sz="1200" dirty="0"/>
          </a:p>
        </p:txBody>
      </p:sp>
      <p:sp>
        <p:nvSpPr>
          <p:cNvPr id="20" name="Text 18"/>
          <p:cNvSpPr/>
          <p:nvPr/>
        </p:nvSpPr>
        <p:spPr>
          <a:xfrm>
            <a:off x="566928" y="2551176"/>
            <a:ext cx="3794760" cy="713232"/>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CPU preprocessing overlaps with GPU inference. Frame resize/normalize happens while GPU processes the previous batch — eliminating CPU idle time.</a:t>
            </a:r>
            <a:endParaRPr lang="en-US" sz="1100" dirty="0"/>
          </a:p>
        </p:txBody>
      </p:sp>
      <p:sp>
        <p:nvSpPr>
          <p:cNvPr id="21" name="Shape 19"/>
          <p:cNvSpPr/>
          <p:nvPr/>
        </p:nvSpPr>
        <p:spPr>
          <a:xfrm>
            <a:off x="4800600" y="2148840"/>
            <a:ext cx="4023360" cy="1170432"/>
          </a:xfrm>
          <a:prstGeom prst="roundRect">
            <a:avLst>
              <a:gd name="adj" fmla="val 5469"/>
            </a:avLst>
          </a:prstGeom>
          <a:solidFill>
            <a:srgbClr val="111D2E"/>
          </a:solidFill>
          <a:ln/>
        </p:spPr>
      </p:sp>
      <p:sp>
        <p:nvSpPr>
          <p:cNvPr id="22" name="Text 20"/>
          <p:cNvSpPr/>
          <p:nvPr/>
        </p:nvSpPr>
        <p:spPr>
          <a:xfrm>
            <a:off x="4910328" y="2221992"/>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9-Class Compression</a:t>
            </a:r>
            <a:endParaRPr lang="en-US" sz="1200" dirty="0"/>
          </a:p>
        </p:txBody>
      </p:sp>
      <p:sp>
        <p:nvSpPr>
          <p:cNvPr id="23" name="Text 21"/>
          <p:cNvSpPr/>
          <p:nvPr/>
        </p:nvSpPr>
        <p:spPr>
          <a:xfrm>
            <a:off x="4910328" y="2551176"/>
            <a:ext cx="3794760" cy="713232"/>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Reducing from 14 to 9 output classes compresses the classification head tensor dimensions, reducing final layer latency.</a:t>
            </a:r>
            <a:endParaRPr lang="en-US" sz="1100" dirty="0"/>
          </a:p>
        </p:txBody>
      </p:sp>
      <p:sp>
        <p:nvSpPr>
          <p:cNvPr id="24" name="Shape 22"/>
          <p:cNvSpPr/>
          <p:nvPr/>
        </p:nvSpPr>
        <p:spPr>
          <a:xfrm>
            <a:off x="457200" y="3474720"/>
            <a:ext cx="4023360" cy="1170432"/>
          </a:xfrm>
          <a:prstGeom prst="roundRect">
            <a:avLst>
              <a:gd name="adj" fmla="val 5469"/>
            </a:avLst>
          </a:prstGeom>
          <a:solidFill>
            <a:srgbClr val="111D2E"/>
          </a:solidFill>
          <a:ln/>
        </p:spPr>
      </p:sp>
      <p:sp>
        <p:nvSpPr>
          <p:cNvPr id="25" name="Text 23"/>
          <p:cNvSpPr/>
          <p:nvPr/>
        </p:nvSpPr>
        <p:spPr>
          <a:xfrm>
            <a:off x="566928" y="3547872"/>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VRAM Persistence</a:t>
            </a:r>
            <a:endParaRPr lang="en-US" sz="1200" dirty="0"/>
          </a:p>
        </p:txBody>
      </p:sp>
      <p:sp>
        <p:nvSpPr>
          <p:cNvPr id="26" name="Text 24"/>
          <p:cNvSpPr/>
          <p:nvPr/>
        </p:nvSpPr>
        <p:spPr>
          <a:xfrm>
            <a:off x="566928" y="3877056"/>
            <a:ext cx="3794760" cy="713232"/>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Model weights stay in GPU VRAM — no loading overhead per window. Flask server maintains warm inference context.</a:t>
            </a:r>
            <a:endParaRPr lang="en-US" sz="1100" dirty="0"/>
          </a:p>
        </p:txBody>
      </p:sp>
      <p:sp>
        <p:nvSpPr>
          <p:cNvPr id="27" name="Shape 25"/>
          <p:cNvSpPr/>
          <p:nvPr/>
        </p:nvSpPr>
        <p:spPr>
          <a:xfrm>
            <a:off x="4800600" y="3474720"/>
            <a:ext cx="4023360" cy="1170432"/>
          </a:xfrm>
          <a:prstGeom prst="roundRect">
            <a:avLst>
              <a:gd name="adj" fmla="val 5469"/>
            </a:avLst>
          </a:prstGeom>
          <a:solidFill>
            <a:srgbClr val="111D2E"/>
          </a:solidFill>
          <a:ln/>
        </p:spPr>
      </p:sp>
      <p:sp>
        <p:nvSpPr>
          <p:cNvPr id="28" name="Text 26"/>
          <p:cNvSpPr/>
          <p:nvPr/>
        </p:nvSpPr>
        <p:spPr>
          <a:xfrm>
            <a:off x="4910328" y="3547872"/>
            <a:ext cx="3794760" cy="274320"/>
          </a:xfrm>
          <a:prstGeom prst="rect">
            <a:avLst/>
          </a:prstGeom>
          <a:noFill/>
          <a:ln/>
        </p:spPr>
        <p:txBody>
          <a:bodyPr wrap="square" lIns="0" tIns="0" rIns="0" bIns="0" rtlCol="0" anchor="ctr"/>
          <a:lstStyle/>
          <a:p>
            <a:pPr indent="0" marL="0">
              <a:buNone/>
            </a:pPr>
            <a:r>
              <a:rPr lang="en-US" sz="1200" b="1" dirty="0">
                <a:solidFill>
                  <a:srgbClr val="00D4FF"/>
                </a:solidFill>
                <a:latin typeface="Calibri" pitchFamily="34" charset="0"/>
                <a:ea typeface="Calibri" pitchFamily="34" charset="-122"/>
                <a:cs typeface="Calibri" pitchFamily="34" charset="-120"/>
              </a:rPr>
              <a:t>Connection Pooling</a:t>
            </a:r>
            <a:endParaRPr lang="en-US" sz="1200" dirty="0"/>
          </a:p>
        </p:txBody>
      </p:sp>
      <p:sp>
        <p:nvSpPr>
          <p:cNvPr id="29" name="Text 27"/>
          <p:cNvSpPr/>
          <p:nvPr/>
        </p:nvSpPr>
        <p:spPr>
          <a:xfrm>
            <a:off x="4910328" y="3877056"/>
            <a:ext cx="3794760" cy="713232"/>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MySQL connection pool prevents per-request connection overhead. Memory cache (1s TTL) eliminates DB reads for normal frames.</a:t>
            </a:r>
            <a:endParaRPr lang="en-US" sz="1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10 · DEPLOYMENT</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Ethical, Privacy &amp; Regulatory Design</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87552"/>
            <a:ext cx="4023360" cy="1234440"/>
          </a:xfrm>
          <a:prstGeom prst="roundRect">
            <a:avLst>
              <a:gd name="adj" fmla="val 5185"/>
            </a:avLst>
          </a:prstGeom>
          <a:solidFill>
            <a:srgbClr val="111D2E"/>
          </a:solidFill>
          <a:ln/>
        </p:spPr>
      </p:sp>
      <p:sp>
        <p:nvSpPr>
          <p:cNvPr id="7" name="Text 5"/>
          <p:cNvSpPr/>
          <p:nvPr/>
        </p:nvSpPr>
        <p:spPr>
          <a:xfrm>
            <a:off x="566928" y="1060704"/>
            <a:ext cx="3794760" cy="274320"/>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  Ephemeral Memory Processing</a:t>
            </a:r>
            <a:endParaRPr lang="en-US" sz="1200" dirty="0"/>
          </a:p>
        </p:txBody>
      </p:sp>
      <p:sp>
        <p:nvSpPr>
          <p:cNvPr id="8" name="Text 6"/>
          <p:cNvSpPr/>
          <p:nvPr/>
        </p:nvSpPr>
        <p:spPr>
          <a:xfrm>
            <a:off x="566928" y="1389888"/>
            <a:ext cx="3794760" cy="749808"/>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Raw video frames processed in volatile RAM/VRAM only. Immediately flushed after ViT inference pass — zero permanent storage of normal footage.</a:t>
            </a:r>
            <a:endParaRPr lang="en-US" sz="1100" dirty="0"/>
          </a:p>
        </p:txBody>
      </p:sp>
      <p:sp>
        <p:nvSpPr>
          <p:cNvPr id="9" name="Shape 7"/>
          <p:cNvSpPr/>
          <p:nvPr/>
        </p:nvSpPr>
        <p:spPr>
          <a:xfrm>
            <a:off x="4800600" y="987552"/>
            <a:ext cx="4023360" cy="1234440"/>
          </a:xfrm>
          <a:prstGeom prst="roundRect">
            <a:avLst>
              <a:gd name="adj" fmla="val 5185"/>
            </a:avLst>
          </a:prstGeom>
          <a:solidFill>
            <a:srgbClr val="111D2E"/>
          </a:solidFill>
          <a:ln/>
        </p:spPr>
      </p:sp>
      <p:sp>
        <p:nvSpPr>
          <p:cNvPr id="10" name="Text 8"/>
          <p:cNvSpPr/>
          <p:nvPr/>
        </p:nvSpPr>
        <p:spPr>
          <a:xfrm>
            <a:off x="4910328" y="1060704"/>
            <a:ext cx="3794760" cy="274320"/>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  Conditional Event Logging</a:t>
            </a:r>
            <a:endParaRPr lang="en-US" sz="1200" dirty="0"/>
          </a:p>
        </p:txBody>
      </p:sp>
      <p:sp>
        <p:nvSpPr>
          <p:cNvPr id="11" name="Text 9"/>
          <p:cNvSpPr/>
          <p:nvPr/>
        </p:nvSpPr>
        <p:spPr>
          <a:xfrm>
            <a:off x="4910328" y="1389888"/>
            <a:ext cx="3794760" cy="749808"/>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Only anomalies passing 60% confidence AND 5-sec temporal stability are written to DB. Normal citizen behavior leaves zero digital footprint.</a:t>
            </a:r>
            <a:endParaRPr lang="en-US" sz="1100" dirty="0"/>
          </a:p>
        </p:txBody>
      </p:sp>
      <p:sp>
        <p:nvSpPr>
          <p:cNvPr id="12" name="Shape 10"/>
          <p:cNvSpPr/>
          <p:nvPr/>
        </p:nvSpPr>
        <p:spPr>
          <a:xfrm>
            <a:off x="457200" y="2359152"/>
            <a:ext cx="4023360" cy="1234440"/>
          </a:xfrm>
          <a:prstGeom prst="roundRect">
            <a:avLst>
              <a:gd name="adj" fmla="val 5185"/>
            </a:avLst>
          </a:prstGeom>
          <a:solidFill>
            <a:srgbClr val="111D2E"/>
          </a:solidFill>
          <a:ln/>
        </p:spPr>
      </p:sp>
      <p:sp>
        <p:nvSpPr>
          <p:cNvPr id="13" name="Text 11"/>
          <p:cNvSpPr/>
          <p:nvPr/>
        </p:nvSpPr>
        <p:spPr>
          <a:xfrm>
            <a:off x="566928" y="2432304"/>
            <a:ext cx="3794760" cy="274320"/>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  Normality Bias Mitigation</a:t>
            </a:r>
            <a:endParaRPr lang="en-US" sz="1200" dirty="0"/>
          </a:p>
        </p:txBody>
      </p:sp>
      <p:sp>
        <p:nvSpPr>
          <p:cNvPr id="14" name="Text 12"/>
          <p:cNvSpPr/>
          <p:nvPr/>
        </p:nvSpPr>
        <p:spPr>
          <a:xfrm>
            <a:off x="566928" y="2761488"/>
            <a:ext cx="3794760" cy="749808"/>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Inverse-weight training prevents the model from learning to label everything Normal. Ensures fair detection across all crime categories.</a:t>
            </a:r>
            <a:endParaRPr lang="en-US" sz="1100" dirty="0"/>
          </a:p>
        </p:txBody>
      </p:sp>
      <p:sp>
        <p:nvSpPr>
          <p:cNvPr id="15" name="Shape 13"/>
          <p:cNvSpPr/>
          <p:nvPr/>
        </p:nvSpPr>
        <p:spPr>
          <a:xfrm>
            <a:off x="4800600" y="2359152"/>
            <a:ext cx="4023360" cy="1234440"/>
          </a:xfrm>
          <a:prstGeom prst="roundRect">
            <a:avLst>
              <a:gd name="adj" fmla="val 5185"/>
            </a:avLst>
          </a:prstGeom>
          <a:solidFill>
            <a:srgbClr val="111D2E"/>
          </a:solidFill>
          <a:ln/>
        </p:spPr>
      </p:sp>
      <p:sp>
        <p:nvSpPr>
          <p:cNvPr id="16" name="Text 14"/>
          <p:cNvSpPr/>
          <p:nvPr/>
        </p:nvSpPr>
        <p:spPr>
          <a:xfrm>
            <a:off x="4910328" y="2432304"/>
            <a:ext cx="3794760" cy="274320"/>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  Role-Based Access Control</a:t>
            </a:r>
            <a:endParaRPr lang="en-US" sz="1200" dirty="0"/>
          </a:p>
        </p:txBody>
      </p:sp>
      <p:sp>
        <p:nvSpPr>
          <p:cNvPr id="17" name="Text 15"/>
          <p:cNvSpPr/>
          <p:nvPr/>
        </p:nvSpPr>
        <p:spPr>
          <a:xfrm>
            <a:off x="4910328" y="2761488"/>
            <a:ext cx="3794760" cy="749808"/>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Admin vs System Operator roles. Audit logging of all actions. Secure authentication with JWT sessions.</a:t>
            </a:r>
            <a:endParaRPr lang="en-US" sz="1100" dirty="0"/>
          </a:p>
        </p:txBody>
      </p:sp>
      <p:sp>
        <p:nvSpPr>
          <p:cNvPr id="18" name="Shape 16"/>
          <p:cNvSpPr/>
          <p:nvPr/>
        </p:nvSpPr>
        <p:spPr>
          <a:xfrm>
            <a:off x="457200" y="3730752"/>
            <a:ext cx="4023360" cy="1234440"/>
          </a:xfrm>
          <a:prstGeom prst="roundRect">
            <a:avLst>
              <a:gd name="adj" fmla="val 5185"/>
            </a:avLst>
          </a:prstGeom>
          <a:solidFill>
            <a:srgbClr val="111D2E"/>
          </a:solidFill>
          <a:ln/>
        </p:spPr>
      </p:sp>
      <p:sp>
        <p:nvSpPr>
          <p:cNvPr id="19" name="Text 17"/>
          <p:cNvSpPr/>
          <p:nvPr/>
        </p:nvSpPr>
        <p:spPr>
          <a:xfrm>
            <a:off x="566928" y="3803904"/>
            <a:ext cx="3794760" cy="274320"/>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  Ephemeral vs Legacy Comparison</a:t>
            </a:r>
            <a:endParaRPr lang="en-US" sz="1200" dirty="0"/>
          </a:p>
        </p:txBody>
      </p:sp>
      <p:sp>
        <p:nvSpPr>
          <p:cNvPr id="20" name="Text 18"/>
          <p:cNvSpPr/>
          <p:nvPr/>
        </p:nvSpPr>
        <p:spPr>
          <a:xfrm>
            <a:off x="566928" y="4133088"/>
            <a:ext cx="3794760" cy="749808"/>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Reference Figure 13: Legacy NVR stores everything to HDD with high leak risk. SecureSight processes ephemerally — data lives only as long as needed for classification.</a:t>
            </a:r>
            <a:endParaRPr lang="en-US" sz="1100" dirty="0"/>
          </a:p>
        </p:txBody>
      </p:sp>
      <p:sp>
        <p:nvSpPr>
          <p:cNvPr id="21" name="Shape 19"/>
          <p:cNvSpPr/>
          <p:nvPr/>
        </p:nvSpPr>
        <p:spPr>
          <a:xfrm>
            <a:off x="4800600" y="3730752"/>
            <a:ext cx="4023360" cy="1234440"/>
          </a:xfrm>
          <a:prstGeom prst="roundRect">
            <a:avLst>
              <a:gd name="adj" fmla="val 5185"/>
            </a:avLst>
          </a:prstGeom>
          <a:solidFill>
            <a:srgbClr val="111D2E"/>
          </a:solidFill>
          <a:ln/>
        </p:spPr>
      </p:sp>
      <p:sp>
        <p:nvSpPr>
          <p:cNvPr id="22" name="Text 20"/>
          <p:cNvSpPr/>
          <p:nvPr/>
        </p:nvSpPr>
        <p:spPr>
          <a:xfrm>
            <a:off x="4910328" y="3803904"/>
            <a:ext cx="3794760" cy="274320"/>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  Future GDPR Alignment</a:t>
            </a:r>
            <a:endParaRPr lang="en-US" sz="1200" dirty="0"/>
          </a:p>
        </p:txBody>
      </p:sp>
      <p:sp>
        <p:nvSpPr>
          <p:cNvPr id="23" name="Text 21"/>
          <p:cNvSpPr/>
          <p:nvPr/>
        </p:nvSpPr>
        <p:spPr>
          <a:xfrm>
            <a:off x="4910328" y="4133088"/>
            <a:ext cx="3794760" cy="749808"/>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Architecture designed for GDPR compliance: data minimization, purpose limitation, and retention policies enforceable at code level.</a:t>
            </a:r>
            <a:endParaRPr lang="en-US" sz="1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11 · DISCUSSION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Key Findings</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87552"/>
            <a:ext cx="8229600" cy="731520"/>
          </a:xfrm>
          <a:prstGeom prst="roundRect">
            <a:avLst>
              <a:gd name="adj" fmla="val 7500"/>
            </a:avLst>
          </a:prstGeom>
          <a:solidFill>
            <a:srgbClr val="111D2E"/>
          </a:solidFill>
          <a:ln/>
        </p:spPr>
      </p:sp>
      <p:sp>
        <p:nvSpPr>
          <p:cNvPr id="7" name="Text 5"/>
          <p:cNvSpPr/>
          <p:nvPr/>
        </p:nvSpPr>
        <p:spPr>
          <a:xfrm>
            <a:off x="566928" y="1051560"/>
            <a:ext cx="411480" cy="457200"/>
          </a:xfrm>
          <a:prstGeom prst="rect">
            <a:avLst/>
          </a:prstGeom>
          <a:noFill/>
          <a:ln/>
        </p:spPr>
        <p:txBody>
          <a:bodyPr wrap="square" lIns="0" tIns="0" rIns="0" bIns="0" rtlCol="0" anchor="ctr"/>
          <a:lstStyle/>
          <a:p>
            <a:pPr algn="ctr" indent="0" marL="0">
              <a:buNone/>
            </a:pPr>
            <a:r>
              <a:rPr lang="en-US" sz="2000" b="1" dirty="0">
                <a:solidFill>
                  <a:srgbClr val="00D4FF"/>
                </a:solidFill>
                <a:latin typeface="Calibri" pitchFamily="34" charset="0"/>
                <a:ea typeface="Calibri" pitchFamily="34" charset="-122"/>
                <a:cs typeface="Calibri" pitchFamily="34" charset="-120"/>
              </a:rPr>
              <a:t>1</a:t>
            </a:r>
            <a:endParaRPr lang="en-US" sz="2000" dirty="0"/>
          </a:p>
        </p:txBody>
      </p:sp>
      <p:sp>
        <p:nvSpPr>
          <p:cNvPr id="8" name="Text 6"/>
          <p:cNvSpPr/>
          <p:nvPr/>
        </p:nvSpPr>
        <p:spPr>
          <a:xfrm>
            <a:off x="1078992" y="1051560"/>
            <a:ext cx="347472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Clip-Level Annotations Are the Critical Factor</a:t>
            </a:r>
            <a:endParaRPr lang="en-US" sz="1200" dirty="0"/>
          </a:p>
        </p:txBody>
      </p:sp>
      <p:sp>
        <p:nvSpPr>
          <p:cNvPr id="9" name="Text 7"/>
          <p:cNvSpPr/>
          <p:nvPr/>
        </p:nvSpPr>
        <p:spPr>
          <a:xfrm>
            <a:off x="1078992" y="1371600"/>
            <a:ext cx="7498080" cy="2743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Moving from video-level MIL labels to clip-level temporal annotations improved accuracy from ~57% to 74.3% before any architectural changes — the data strategy matters most.</a:t>
            </a:r>
            <a:endParaRPr lang="en-US" sz="1100" dirty="0"/>
          </a:p>
        </p:txBody>
      </p:sp>
      <p:sp>
        <p:nvSpPr>
          <p:cNvPr id="10" name="Shape 8"/>
          <p:cNvSpPr/>
          <p:nvPr/>
        </p:nvSpPr>
        <p:spPr>
          <a:xfrm>
            <a:off x="457200" y="1810512"/>
            <a:ext cx="8229600" cy="731520"/>
          </a:xfrm>
          <a:prstGeom prst="roundRect">
            <a:avLst>
              <a:gd name="adj" fmla="val 7500"/>
            </a:avLst>
          </a:prstGeom>
          <a:solidFill>
            <a:srgbClr val="111D2E"/>
          </a:solidFill>
          <a:ln/>
        </p:spPr>
      </p:sp>
      <p:sp>
        <p:nvSpPr>
          <p:cNvPr id="11" name="Text 9"/>
          <p:cNvSpPr/>
          <p:nvPr/>
        </p:nvSpPr>
        <p:spPr>
          <a:xfrm>
            <a:off x="566928" y="1874520"/>
            <a:ext cx="411480" cy="457200"/>
          </a:xfrm>
          <a:prstGeom prst="rect">
            <a:avLst/>
          </a:prstGeom>
          <a:noFill/>
          <a:ln/>
        </p:spPr>
        <p:txBody>
          <a:bodyPr wrap="square" lIns="0" tIns="0" rIns="0" bIns="0" rtlCol="0" anchor="ctr"/>
          <a:lstStyle/>
          <a:p>
            <a:pPr algn="ctr" indent="0" marL="0">
              <a:buNone/>
            </a:pPr>
            <a:r>
              <a:rPr lang="en-US" sz="2000" b="1" dirty="0">
                <a:solidFill>
                  <a:srgbClr val="00D4FF"/>
                </a:solidFill>
                <a:latin typeface="Calibri" pitchFamily="34" charset="0"/>
                <a:ea typeface="Calibri" pitchFamily="34" charset="-122"/>
                <a:cs typeface="Calibri" pitchFamily="34" charset="-120"/>
              </a:rPr>
              <a:t>2</a:t>
            </a:r>
            <a:endParaRPr lang="en-US" sz="2000" dirty="0"/>
          </a:p>
        </p:txBody>
      </p:sp>
      <p:sp>
        <p:nvSpPr>
          <p:cNvPr id="12" name="Text 10"/>
          <p:cNvSpPr/>
          <p:nvPr/>
        </p:nvSpPr>
        <p:spPr>
          <a:xfrm>
            <a:off x="1078992" y="1874520"/>
            <a:ext cx="347472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Temporal Modeling Is Non-Negotiable for Video Anomaly Detection</a:t>
            </a:r>
            <a:endParaRPr lang="en-US" sz="1200" dirty="0"/>
          </a:p>
        </p:txBody>
      </p:sp>
      <p:sp>
        <p:nvSpPr>
          <p:cNvPr id="13" name="Text 11"/>
          <p:cNvSpPr/>
          <p:nvPr/>
        </p:nvSpPr>
        <p:spPr>
          <a:xfrm>
            <a:off x="1078992" y="2194560"/>
            <a:ext cx="7498080" cy="2743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EfficientNet (spatial-only) achieved 83.2% vs 91.6% hybrid — the 8.4% gap is consistent and closes entirely on motion-intensive crime classes (+15 pts on Violence).</a:t>
            </a:r>
            <a:endParaRPr lang="en-US" sz="1100" dirty="0"/>
          </a:p>
        </p:txBody>
      </p:sp>
      <p:sp>
        <p:nvSpPr>
          <p:cNvPr id="14" name="Shape 12"/>
          <p:cNvSpPr/>
          <p:nvPr/>
        </p:nvSpPr>
        <p:spPr>
          <a:xfrm>
            <a:off x="457200" y="2633472"/>
            <a:ext cx="8229600" cy="731520"/>
          </a:xfrm>
          <a:prstGeom prst="roundRect">
            <a:avLst>
              <a:gd name="adj" fmla="val 7500"/>
            </a:avLst>
          </a:prstGeom>
          <a:solidFill>
            <a:srgbClr val="111D2E"/>
          </a:solidFill>
          <a:ln/>
        </p:spPr>
      </p:sp>
      <p:sp>
        <p:nvSpPr>
          <p:cNvPr id="15" name="Text 13"/>
          <p:cNvSpPr/>
          <p:nvPr/>
        </p:nvSpPr>
        <p:spPr>
          <a:xfrm>
            <a:off x="566928" y="2697480"/>
            <a:ext cx="411480" cy="457200"/>
          </a:xfrm>
          <a:prstGeom prst="rect">
            <a:avLst/>
          </a:prstGeom>
          <a:noFill/>
          <a:ln/>
        </p:spPr>
        <p:txBody>
          <a:bodyPr wrap="square" lIns="0" tIns="0" rIns="0" bIns="0" rtlCol="0" anchor="ctr"/>
          <a:lstStyle/>
          <a:p>
            <a:pPr algn="ctr" indent="0" marL="0">
              <a:buNone/>
            </a:pPr>
            <a:r>
              <a:rPr lang="en-US" sz="2000" b="1" dirty="0">
                <a:solidFill>
                  <a:srgbClr val="00D4FF"/>
                </a:solidFill>
                <a:latin typeface="Calibri" pitchFamily="34" charset="0"/>
                <a:ea typeface="Calibri" pitchFamily="34" charset="-122"/>
                <a:cs typeface="Calibri" pitchFamily="34" charset="-120"/>
              </a:rPr>
              <a:t>3</a:t>
            </a:r>
            <a:endParaRPr lang="en-US" sz="2000" dirty="0"/>
          </a:p>
        </p:txBody>
      </p:sp>
      <p:sp>
        <p:nvSpPr>
          <p:cNvPr id="16" name="Text 14"/>
          <p:cNvSpPr/>
          <p:nvPr/>
        </p:nvSpPr>
        <p:spPr>
          <a:xfrm>
            <a:off x="1078992" y="2697480"/>
            <a:ext cx="347472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ViT Long-Range Context Unlocks the Accuracy Ceiling</a:t>
            </a:r>
            <a:endParaRPr lang="en-US" sz="1200" dirty="0"/>
          </a:p>
        </p:txBody>
      </p:sp>
      <p:sp>
        <p:nvSpPr>
          <p:cNvPr id="17" name="Text 15"/>
          <p:cNvSpPr/>
          <p:nvPr/>
        </p:nvSpPr>
        <p:spPr>
          <a:xfrm>
            <a:off x="1078992" y="3017520"/>
            <a:ext cx="7498080" cy="2743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Adding the ViT encoder on top of per-clip embeddings pushed accuracy past the ~88% CNN-only ceiling by capturing behavioral build-ups across 8 clips.</a:t>
            </a:r>
            <a:endParaRPr lang="en-US" sz="1100" dirty="0"/>
          </a:p>
        </p:txBody>
      </p:sp>
      <p:sp>
        <p:nvSpPr>
          <p:cNvPr id="18" name="Shape 16"/>
          <p:cNvSpPr/>
          <p:nvPr/>
        </p:nvSpPr>
        <p:spPr>
          <a:xfrm>
            <a:off x="457200" y="3456432"/>
            <a:ext cx="8229600" cy="731520"/>
          </a:xfrm>
          <a:prstGeom prst="roundRect">
            <a:avLst>
              <a:gd name="adj" fmla="val 7500"/>
            </a:avLst>
          </a:prstGeom>
          <a:solidFill>
            <a:srgbClr val="111D2E"/>
          </a:solidFill>
          <a:ln/>
        </p:spPr>
      </p:sp>
      <p:sp>
        <p:nvSpPr>
          <p:cNvPr id="19" name="Text 17"/>
          <p:cNvSpPr/>
          <p:nvPr/>
        </p:nvSpPr>
        <p:spPr>
          <a:xfrm>
            <a:off x="566928" y="3520440"/>
            <a:ext cx="411480" cy="457200"/>
          </a:xfrm>
          <a:prstGeom prst="rect">
            <a:avLst/>
          </a:prstGeom>
          <a:noFill/>
          <a:ln/>
        </p:spPr>
        <p:txBody>
          <a:bodyPr wrap="square" lIns="0" tIns="0" rIns="0" bIns="0" rtlCol="0" anchor="ctr"/>
          <a:lstStyle/>
          <a:p>
            <a:pPr algn="ctr" indent="0" marL="0">
              <a:buNone/>
            </a:pPr>
            <a:r>
              <a:rPr lang="en-US" sz="2000" b="1" dirty="0">
                <a:solidFill>
                  <a:srgbClr val="00D4FF"/>
                </a:solidFill>
                <a:latin typeface="Calibri" pitchFamily="34" charset="0"/>
                <a:ea typeface="Calibri" pitchFamily="34" charset="-122"/>
                <a:cs typeface="Calibri" pitchFamily="34" charset="-120"/>
              </a:rPr>
              <a:t>4</a:t>
            </a:r>
            <a:endParaRPr lang="en-US" sz="2000" dirty="0"/>
          </a:p>
        </p:txBody>
      </p:sp>
      <p:sp>
        <p:nvSpPr>
          <p:cNvPr id="20" name="Text 18"/>
          <p:cNvSpPr/>
          <p:nvPr/>
        </p:nvSpPr>
        <p:spPr>
          <a:xfrm>
            <a:off x="1078992" y="3520440"/>
            <a:ext cx="347472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Evolutionary Optimizers Did Not Improve on ViT Baseline</a:t>
            </a:r>
            <a:endParaRPr lang="en-US" sz="1200" dirty="0"/>
          </a:p>
        </p:txBody>
      </p:sp>
      <p:sp>
        <p:nvSpPr>
          <p:cNvPr id="21" name="Text 19"/>
          <p:cNvSpPr/>
          <p:nvPr/>
        </p:nvSpPr>
        <p:spPr>
          <a:xfrm>
            <a:off x="1078992" y="3840480"/>
            <a:ext cx="7498080" cy="2743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GWO, PSO, SMO, SFLA, and HHO were all tested. None outperformed the ViT architecture — validating the attention mechanism as the optimal sequence learner for this task.</a:t>
            </a:r>
            <a:endParaRPr lang="en-US" sz="1100" dirty="0"/>
          </a:p>
        </p:txBody>
      </p:sp>
      <p:sp>
        <p:nvSpPr>
          <p:cNvPr id="22" name="Shape 20"/>
          <p:cNvSpPr/>
          <p:nvPr/>
        </p:nvSpPr>
        <p:spPr>
          <a:xfrm>
            <a:off x="457200" y="4279392"/>
            <a:ext cx="8229600" cy="731520"/>
          </a:xfrm>
          <a:prstGeom prst="roundRect">
            <a:avLst>
              <a:gd name="adj" fmla="val 7500"/>
            </a:avLst>
          </a:prstGeom>
          <a:solidFill>
            <a:srgbClr val="111D2E"/>
          </a:solidFill>
          <a:ln/>
        </p:spPr>
      </p:sp>
      <p:sp>
        <p:nvSpPr>
          <p:cNvPr id="23" name="Text 21"/>
          <p:cNvSpPr/>
          <p:nvPr/>
        </p:nvSpPr>
        <p:spPr>
          <a:xfrm>
            <a:off x="566928" y="4343400"/>
            <a:ext cx="411480" cy="457200"/>
          </a:xfrm>
          <a:prstGeom prst="rect">
            <a:avLst/>
          </a:prstGeom>
          <a:noFill/>
          <a:ln/>
        </p:spPr>
        <p:txBody>
          <a:bodyPr wrap="square" lIns="0" tIns="0" rIns="0" bIns="0" rtlCol="0" anchor="ctr"/>
          <a:lstStyle/>
          <a:p>
            <a:pPr algn="ctr" indent="0" marL="0">
              <a:buNone/>
            </a:pPr>
            <a:r>
              <a:rPr lang="en-US" sz="2000" b="1" dirty="0">
                <a:solidFill>
                  <a:srgbClr val="00D4FF"/>
                </a:solidFill>
                <a:latin typeface="Calibri" pitchFamily="34" charset="0"/>
                <a:ea typeface="Calibri" pitchFamily="34" charset="-122"/>
                <a:cs typeface="Calibri" pitchFamily="34" charset="-120"/>
              </a:rPr>
              <a:t>5</a:t>
            </a:r>
            <a:endParaRPr lang="en-US" sz="2000" dirty="0"/>
          </a:p>
        </p:txBody>
      </p:sp>
      <p:sp>
        <p:nvSpPr>
          <p:cNvPr id="24" name="Text 22"/>
          <p:cNvSpPr/>
          <p:nvPr/>
        </p:nvSpPr>
        <p:spPr>
          <a:xfrm>
            <a:off x="1078992" y="4343400"/>
            <a:ext cx="347472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Production Deployment Is Achievable Under 100ms</a:t>
            </a:r>
            <a:endParaRPr lang="en-US" sz="1200" dirty="0"/>
          </a:p>
        </p:txBody>
      </p:sp>
      <p:sp>
        <p:nvSpPr>
          <p:cNvPr id="25" name="Text 23"/>
          <p:cNvSpPr/>
          <p:nvPr/>
        </p:nvSpPr>
        <p:spPr>
          <a:xfrm>
            <a:off x="1078992" y="4663440"/>
            <a:ext cx="7498080" cy="2743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42.45ms full pipeline latency confirms that academic research-quality accuracy is achievable in production real-time contexts.</a:t>
            </a:r>
            <a:endParaRPr lang="en-US" sz="11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11 · DISCUSSION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System Advantages</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87552"/>
            <a:ext cx="2606040" cy="1783080"/>
          </a:xfrm>
          <a:prstGeom prst="roundRect">
            <a:avLst>
              <a:gd name="adj" fmla="val 4103"/>
            </a:avLst>
          </a:prstGeom>
          <a:solidFill>
            <a:srgbClr val="111D2E"/>
          </a:solidFill>
          <a:ln/>
        </p:spPr>
      </p:sp>
      <p:sp>
        <p:nvSpPr>
          <p:cNvPr id="7" name="Text 5"/>
          <p:cNvSpPr/>
          <p:nvPr/>
        </p:nvSpPr>
        <p:spPr>
          <a:xfrm>
            <a:off x="457200" y="1078992"/>
            <a:ext cx="2606040" cy="411480"/>
          </a:xfrm>
          <a:prstGeom prst="rect">
            <a:avLst/>
          </a:prstGeom>
          <a:noFill/>
          <a:ln/>
        </p:spPr>
        <p:txBody>
          <a:bodyPr wrap="square" lIns="0" tIns="0" rIns="0" bIns="0" rtlCol="0" anchor="ctr"/>
          <a:lstStyle/>
          <a:p>
            <a:pPr algn="ctr"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8" name="Text 6"/>
          <p:cNvSpPr/>
          <p:nvPr/>
        </p:nvSpPr>
        <p:spPr>
          <a:xfrm>
            <a:off x="548640" y="1536192"/>
            <a:ext cx="2423160" cy="292608"/>
          </a:xfrm>
          <a:prstGeom prst="rect">
            <a:avLst/>
          </a:prstGeom>
          <a:noFill/>
          <a:ln/>
        </p:spPr>
        <p:txBody>
          <a:bodyPr wrap="square" lIns="0" tIns="0" rIns="0" bIns="0" rtlCol="0" anchor="ctr"/>
          <a:lstStyle/>
          <a:p>
            <a:pPr indent="0" marL="0">
              <a:buNone/>
            </a:pPr>
            <a:r>
              <a:rPr lang="en-US" sz="1150" b="1" dirty="0">
                <a:solidFill>
                  <a:srgbClr val="10B981"/>
                </a:solidFill>
                <a:latin typeface="Calibri" pitchFamily="34" charset="0"/>
                <a:ea typeface="Calibri" pitchFamily="34" charset="-122"/>
                <a:cs typeface="Calibri" pitchFamily="34" charset="-120"/>
              </a:rPr>
              <a:t>State-of-Art Performance</a:t>
            </a:r>
            <a:endParaRPr lang="en-US" sz="1150" dirty="0"/>
          </a:p>
        </p:txBody>
      </p:sp>
      <p:sp>
        <p:nvSpPr>
          <p:cNvPr id="9" name="Text 7"/>
          <p:cNvSpPr/>
          <p:nvPr/>
        </p:nvSpPr>
        <p:spPr>
          <a:xfrm>
            <a:off x="548640" y="1874520"/>
            <a:ext cx="2423160" cy="822960"/>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91.6% accuracy, 91.5% F1, 94.8% AUC peak — significant improvement over the 50-60% MIL baseline literature.</a:t>
            </a:r>
            <a:endParaRPr lang="en-US" sz="1050" dirty="0"/>
          </a:p>
        </p:txBody>
      </p:sp>
      <p:sp>
        <p:nvSpPr>
          <p:cNvPr id="10" name="Shape 8"/>
          <p:cNvSpPr/>
          <p:nvPr/>
        </p:nvSpPr>
        <p:spPr>
          <a:xfrm>
            <a:off x="3273552" y="987552"/>
            <a:ext cx="2606040" cy="1783080"/>
          </a:xfrm>
          <a:prstGeom prst="roundRect">
            <a:avLst>
              <a:gd name="adj" fmla="val 4103"/>
            </a:avLst>
          </a:prstGeom>
          <a:solidFill>
            <a:srgbClr val="111D2E"/>
          </a:solidFill>
          <a:ln/>
        </p:spPr>
      </p:sp>
      <p:sp>
        <p:nvSpPr>
          <p:cNvPr id="11" name="Text 9"/>
          <p:cNvSpPr/>
          <p:nvPr/>
        </p:nvSpPr>
        <p:spPr>
          <a:xfrm>
            <a:off x="3273552" y="1078992"/>
            <a:ext cx="2606040" cy="411480"/>
          </a:xfrm>
          <a:prstGeom prst="rect">
            <a:avLst/>
          </a:prstGeom>
          <a:noFill/>
          <a:ln/>
        </p:spPr>
        <p:txBody>
          <a:bodyPr wrap="square" lIns="0" tIns="0" rIns="0" bIns="0" rtlCol="0" anchor="ctr"/>
          <a:lstStyle/>
          <a:p>
            <a:pPr algn="ctr"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2" name="Text 10"/>
          <p:cNvSpPr/>
          <p:nvPr/>
        </p:nvSpPr>
        <p:spPr>
          <a:xfrm>
            <a:off x="3364992" y="1536192"/>
            <a:ext cx="2423160" cy="292608"/>
          </a:xfrm>
          <a:prstGeom prst="rect">
            <a:avLst/>
          </a:prstGeom>
          <a:noFill/>
          <a:ln/>
        </p:spPr>
        <p:txBody>
          <a:bodyPr wrap="square" lIns="0" tIns="0" rIns="0" bIns="0" rtlCol="0" anchor="ctr"/>
          <a:lstStyle/>
          <a:p>
            <a:pPr indent="0" marL="0">
              <a:buNone/>
            </a:pPr>
            <a:r>
              <a:rPr lang="en-US" sz="1150" b="1" dirty="0">
                <a:solidFill>
                  <a:srgbClr val="10B981"/>
                </a:solidFill>
                <a:latin typeface="Calibri" pitchFamily="34" charset="0"/>
                <a:ea typeface="Calibri" pitchFamily="34" charset="-122"/>
                <a:cs typeface="Calibri" pitchFamily="34" charset="-120"/>
              </a:rPr>
              <a:t>Real-Time Capable</a:t>
            </a:r>
            <a:endParaRPr lang="en-US" sz="1150" dirty="0"/>
          </a:p>
        </p:txBody>
      </p:sp>
      <p:sp>
        <p:nvSpPr>
          <p:cNvPr id="13" name="Text 11"/>
          <p:cNvSpPr/>
          <p:nvPr/>
        </p:nvSpPr>
        <p:spPr>
          <a:xfrm>
            <a:off x="3364992" y="1874520"/>
            <a:ext cx="2423160" cy="822960"/>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42.45ms per window exceeds real-time requirements. 6.76 windows/sec on consumer GPU hardware.</a:t>
            </a:r>
            <a:endParaRPr lang="en-US" sz="1050" dirty="0"/>
          </a:p>
        </p:txBody>
      </p:sp>
      <p:sp>
        <p:nvSpPr>
          <p:cNvPr id="14" name="Shape 12"/>
          <p:cNvSpPr/>
          <p:nvPr/>
        </p:nvSpPr>
        <p:spPr>
          <a:xfrm>
            <a:off x="6089904" y="987552"/>
            <a:ext cx="2606040" cy="1783080"/>
          </a:xfrm>
          <a:prstGeom prst="roundRect">
            <a:avLst>
              <a:gd name="adj" fmla="val 4103"/>
            </a:avLst>
          </a:prstGeom>
          <a:solidFill>
            <a:srgbClr val="111D2E"/>
          </a:solidFill>
          <a:ln/>
        </p:spPr>
      </p:sp>
      <p:sp>
        <p:nvSpPr>
          <p:cNvPr id="15" name="Text 13"/>
          <p:cNvSpPr/>
          <p:nvPr/>
        </p:nvSpPr>
        <p:spPr>
          <a:xfrm>
            <a:off x="6089904" y="1078992"/>
            <a:ext cx="2606040" cy="411480"/>
          </a:xfrm>
          <a:prstGeom prst="rect">
            <a:avLst/>
          </a:prstGeom>
          <a:noFill/>
          <a:ln/>
        </p:spPr>
        <p:txBody>
          <a:bodyPr wrap="square" lIns="0" tIns="0" rIns="0" bIns="0" rtlCol="0" anchor="ctr"/>
          <a:lstStyle/>
          <a:p>
            <a:pPr algn="ctr"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16" name="Text 14"/>
          <p:cNvSpPr/>
          <p:nvPr/>
        </p:nvSpPr>
        <p:spPr>
          <a:xfrm>
            <a:off x="6181344" y="1536192"/>
            <a:ext cx="2423160" cy="292608"/>
          </a:xfrm>
          <a:prstGeom prst="rect">
            <a:avLst/>
          </a:prstGeom>
          <a:noFill/>
          <a:ln/>
        </p:spPr>
        <p:txBody>
          <a:bodyPr wrap="square" lIns="0" tIns="0" rIns="0" bIns="0" rtlCol="0" anchor="ctr"/>
          <a:lstStyle/>
          <a:p>
            <a:pPr indent="0" marL="0">
              <a:buNone/>
            </a:pPr>
            <a:r>
              <a:rPr lang="en-US" sz="1150" b="1" dirty="0">
                <a:solidFill>
                  <a:srgbClr val="10B981"/>
                </a:solidFill>
                <a:latin typeface="Calibri" pitchFamily="34" charset="0"/>
                <a:ea typeface="Calibri" pitchFamily="34" charset="-122"/>
                <a:cs typeface="Calibri" pitchFamily="34" charset="-120"/>
              </a:rPr>
              <a:t>Dual Modality Fusion</a:t>
            </a:r>
            <a:endParaRPr lang="en-US" sz="1150" dirty="0"/>
          </a:p>
        </p:txBody>
      </p:sp>
      <p:sp>
        <p:nvSpPr>
          <p:cNvPr id="17" name="Text 15"/>
          <p:cNvSpPr/>
          <p:nvPr/>
        </p:nvSpPr>
        <p:spPr>
          <a:xfrm>
            <a:off x="6181344" y="1874520"/>
            <a:ext cx="2423160" cy="822960"/>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Unique combination of ResNet-50 spatial + R(2+1)D temporal + ViT sequence modeling captures all anomaly dimensions.</a:t>
            </a:r>
            <a:endParaRPr lang="en-US" sz="1050" dirty="0"/>
          </a:p>
        </p:txBody>
      </p:sp>
      <p:sp>
        <p:nvSpPr>
          <p:cNvPr id="18" name="Shape 16"/>
          <p:cNvSpPr/>
          <p:nvPr/>
        </p:nvSpPr>
        <p:spPr>
          <a:xfrm>
            <a:off x="457200" y="2926080"/>
            <a:ext cx="2606040" cy="1783080"/>
          </a:xfrm>
          <a:prstGeom prst="roundRect">
            <a:avLst>
              <a:gd name="adj" fmla="val 4103"/>
            </a:avLst>
          </a:prstGeom>
          <a:solidFill>
            <a:srgbClr val="111D2E"/>
          </a:solidFill>
          <a:ln/>
        </p:spPr>
      </p:sp>
      <p:sp>
        <p:nvSpPr>
          <p:cNvPr id="19" name="Text 17"/>
          <p:cNvSpPr/>
          <p:nvPr/>
        </p:nvSpPr>
        <p:spPr>
          <a:xfrm>
            <a:off x="457200" y="3017520"/>
            <a:ext cx="2606040" cy="411480"/>
          </a:xfrm>
          <a:prstGeom prst="rect">
            <a:avLst/>
          </a:prstGeom>
          <a:noFill/>
          <a:ln/>
        </p:spPr>
        <p:txBody>
          <a:bodyPr wrap="square" lIns="0" tIns="0" rIns="0" bIns="0" rtlCol="0" anchor="ctr"/>
          <a:lstStyle/>
          <a:p>
            <a:pPr algn="ctr"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20" name="Text 18"/>
          <p:cNvSpPr/>
          <p:nvPr/>
        </p:nvSpPr>
        <p:spPr>
          <a:xfrm>
            <a:off x="548640" y="3474720"/>
            <a:ext cx="2423160" cy="292608"/>
          </a:xfrm>
          <a:prstGeom prst="rect">
            <a:avLst/>
          </a:prstGeom>
          <a:noFill/>
          <a:ln/>
        </p:spPr>
        <p:txBody>
          <a:bodyPr wrap="square" lIns="0" tIns="0" rIns="0" bIns="0" rtlCol="0" anchor="ctr"/>
          <a:lstStyle/>
          <a:p>
            <a:pPr indent="0" marL="0">
              <a:buNone/>
            </a:pPr>
            <a:r>
              <a:rPr lang="en-US" sz="1150" b="1" dirty="0">
                <a:solidFill>
                  <a:srgbClr val="10B981"/>
                </a:solidFill>
                <a:latin typeface="Calibri" pitchFamily="34" charset="0"/>
                <a:ea typeface="Calibri" pitchFamily="34" charset="-122"/>
                <a:cs typeface="Calibri" pitchFamily="34" charset="-120"/>
              </a:rPr>
              <a:t>Production-Grade Architecture</a:t>
            </a:r>
            <a:endParaRPr lang="en-US" sz="1150" dirty="0"/>
          </a:p>
        </p:txBody>
      </p:sp>
      <p:sp>
        <p:nvSpPr>
          <p:cNvPr id="21" name="Text 19"/>
          <p:cNvSpPr/>
          <p:nvPr/>
        </p:nvSpPr>
        <p:spPr>
          <a:xfrm>
            <a:off x="548640" y="3813048"/>
            <a:ext cx="2423160" cy="822960"/>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Decoupled Flask/Express/React stack with MQTT routing, edge buffering, and fault tolerance beyond academic prototypes.</a:t>
            </a:r>
            <a:endParaRPr lang="en-US" sz="1050" dirty="0"/>
          </a:p>
        </p:txBody>
      </p:sp>
      <p:sp>
        <p:nvSpPr>
          <p:cNvPr id="22" name="Shape 20"/>
          <p:cNvSpPr/>
          <p:nvPr/>
        </p:nvSpPr>
        <p:spPr>
          <a:xfrm>
            <a:off x="3273552" y="2926080"/>
            <a:ext cx="2606040" cy="1783080"/>
          </a:xfrm>
          <a:prstGeom prst="roundRect">
            <a:avLst>
              <a:gd name="adj" fmla="val 4103"/>
            </a:avLst>
          </a:prstGeom>
          <a:solidFill>
            <a:srgbClr val="111D2E"/>
          </a:solidFill>
          <a:ln/>
        </p:spPr>
      </p:sp>
      <p:sp>
        <p:nvSpPr>
          <p:cNvPr id="23" name="Text 21"/>
          <p:cNvSpPr/>
          <p:nvPr/>
        </p:nvSpPr>
        <p:spPr>
          <a:xfrm>
            <a:off x="3273552" y="3017520"/>
            <a:ext cx="2606040" cy="411480"/>
          </a:xfrm>
          <a:prstGeom prst="rect">
            <a:avLst/>
          </a:prstGeom>
          <a:noFill/>
          <a:ln/>
        </p:spPr>
        <p:txBody>
          <a:bodyPr wrap="square" lIns="0" tIns="0" rIns="0" bIns="0" rtlCol="0" anchor="ctr"/>
          <a:lstStyle/>
          <a:p>
            <a:pPr algn="ctr"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24" name="Text 22"/>
          <p:cNvSpPr/>
          <p:nvPr/>
        </p:nvSpPr>
        <p:spPr>
          <a:xfrm>
            <a:off x="3364992" y="3474720"/>
            <a:ext cx="2423160" cy="292608"/>
          </a:xfrm>
          <a:prstGeom prst="rect">
            <a:avLst/>
          </a:prstGeom>
          <a:noFill/>
          <a:ln/>
        </p:spPr>
        <p:txBody>
          <a:bodyPr wrap="square" lIns="0" tIns="0" rIns="0" bIns="0" rtlCol="0" anchor="ctr"/>
          <a:lstStyle/>
          <a:p>
            <a:pPr indent="0" marL="0">
              <a:buNone/>
            </a:pPr>
            <a:r>
              <a:rPr lang="en-US" sz="1150" b="1" dirty="0">
                <a:solidFill>
                  <a:srgbClr val="10B981"/>
                </a:solidFill>
                <a:latin typeface="Calibri" pitchFamily="34" charset="0"/>
                <a:ea typeface="Calibri" pitchFamily="34" charset="-122"/>
                <a:cs typeface="Calibri" pitchFamily="34" charset="-120"/>
              </a:rPr>
              <a:t>Privacy-by-Design</a:t>
            </a:r>
            <a:endParaRPr lang="en-US" sz="1150" dirty="0"/>
          </a:p>
        </p:txBody>
      </p:sp>
      <p:sp>
        <p:nvSpPr>
          <p:cNvPr id="25" name="Text 23"/>
          <p:cNvSpPr/>
          <p:nvPr/>
        </p:nvSpPr>
        <p:spPr>
          <a:xfrm>
            <a:off x="3364992" y="3813048"/>
            <a:ext cx="2423160" cy="822960"/>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Ephemeral memory processing with conditional event logging — no permanent storage of innocent citizen footage.</a:t>
            </a:r>
            <a:endParaRPr lang="en-US" sz="1050" dirty="0"/>
          </a:p>
        </p:txBody>
      </p:sp>
      <p:sp>
        <p:nvSpPr>
          <p:cNvPr id="26" name="Shape 24"/>
          <p:cNvSpPr/>
          <p:nvPr/>
        </p:nvSpPr>
        <p:spPr>
          <a:xfrm>
            <a:off x="6089904" y="2926080"/>
            <a:ext cx="2606040" cy="1783080"/>
          </a:xfrm>
          <a:prstGeom prst="roundRect">
            <a:avLst>
              <a:gd name="adj" fmla="val 4103"/>
            </a:avLst>
          </a:prstGeom>
          <a:solidFill>
            <a:srgbClr val="111D2E"/>
          </a:solidFill>
          <a:ln/>
        </p:spPr>
      </p:sp>
      <p:sp>
        <p:nvSpPr>
          <p:cNvPr id="27" name="Text 25"/>
          <p:cNvSpPr/>
          <p:nvPr/>
        </p:nvSpPr>
        <p:spPr>
          <a:xfrm>
            <a:off x="6089904" y="3017520"/>
            <a:ext cx="2606040" cy="411480"/>
          </a:xfrm>
          <a:prstGeom prst="rect">
            <a:avLst/>
          </a:prstGeom>
          <a:noFill/>
          <a:ln/>
        </p:spPr>
        <p:txBody>
          <a:bodyPr wrap="square" lIns="0" tIns="0" rIns="0" bIns="0" rtlCol="0" anchor="ctr"/>
          <a:lstStyle/>
          <a:p>
            <a:pPr algn="ctr" indent="0" marL="0">
              <a:buNone/>
            </a:pPr>
            <a:r>
              <a:rPr lang="en-US" sz="2400" dirty="0">
                <a:solidFill>
                  <a:srgbClr val="000000"/>
                </a:solidFill>
                <a:latin typeface="Calibri" pitchFamily="34" charset="0"/>
                <a:ea typeface="Calibri" pitchFamily="34" charset="-122"/>
                <a:cs typeface="Calibri" pitchFamily="34" charset="-120"/>
              </a:rPr>
              <a:t>📊</a:t>
            </a:r>
            <a:endParaRPr lang="en-US" sz="2400" dirty="0"/>
          </a:p>
        </p:txBody>
      </p:sp>
      <p:sp>
        <p:nvSpPr>
          <p:cNvPr id="28" name="Text 26"/>
          <p:cNvSpPr/>
          <p:nvPr/>
        </p:nvSpPr>
        <p:spPr>
          <a:xfrm>
            <a:off x="6181344" y="3474720"/>
            <a:ext cx="2423160" cy="292608"/>
          </a:xfrm>
          <a:prstGeom prst="rect">
            <a:avLst/>
          </a:prstGeom>
          <a:noFill/>
          <a:ln/>
        </p:spPr>
        <p:txBody>
          <a:bodyPr wrap="square" lIns="0" tIns="0" rIns="0" bIns="0" rtlCol="0" anchor="ctr"/>
          <a:lstStyle/>
          <a:p>
            <a:pPr indent="0" marL="0">
              <a:buNone/>
            </a:pPr>
            <a:r>
              <a:rPr lang="en-US" sz="1150" b="1" dirty="0">
                <a:solidFill>
                  <a:srgbClr val="10B981"/>
                </a:solidFill>
                <a:latin typeface="Calibri" pitchFamily="34" charset="0"/>
                <a:ea typeface="Calibri" pitchFamily="34" charset="-122"/>
                <a:cs typeface="Calibri" pitchFamily="34" charset="-120"/>
              </a:rPr>
              <a:t>Statistical Rigor</a:t>
            </a:r>
            <a:endParaRPr lang="en-US" sz="1150" dirty="0"/>
          </a:p>
        </p:txBody>
      </p:sp>
      <p:sp>
        <p:nvSpPr>
          <p:cNvPr id="29" name="Text 27"/>
          <p:cNvSpPr/>
          <p:nvPr/>
        </p:nvSpPr>
        <p:spPr>
          <a:xfrm>
            <a:off x="6181344" y="3813048"/>
            <a:ext cx="2423160" cy="822960"/>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25 evaluation runs with 95% CI analysis, stability rankings, and deployment recommendations based on reproducible evidence.</a:t>
            </a:r>
            <a:endParaRPr lang="en-US" sz="10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11 · DISCUSSION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Current Limitations</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87552"/>
            <a:ext cx="8229600" cy="713232"/>
          </a:xfrm>
          <a:prstGeom prst="roundRect">
            <a:avLst>
              <a:gd name="adj" fmla="val 7692"/>
            </a:avLst>
          </a:prstGeom>
          <a:solidFill>
            <a:srgbClr val="140A0A"/>
          </a:solidFill>
          <a:ln/>
        </p:spPr>
      </p:sp>
      <p:sp>
        <p:nvSpPr>
          <p:cNvPr id="7" name="Text 5"/>
          <p:cNvSpPr/>
          <p:nvPr/>
        </p:nvSpPr>
        <p:spPr>
          <a:xfrm>
            <a:off x="566928" y="1051560"/>
            <a:ext cx="2560320" cy="27432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  Dataset Taxonomic Boundaries</a:t>
            </a:r>
            <a:endParaRPr lang="en-US" sz="1200" dirty="0"/>
          </a:p>
        </p:txBody>
      </p:sp>
      <p:sp>
        <p:nvSpPr>
          <p:cNvPr id="8" name="Text 6"/>
          <p:cNvSpPr/>
          <p:nvPr/>
        </p:nvSpPr>
        <p:spPr>
          <a:xfrm>
            <a:off x="3200400" y="1051560"/>
            <a:ext cx="5349240" cy="5029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Anomaly detection is constrained to the 9 merged UCF-Crime categories. Novel threat types (e.g., drone-based intrusions, chemical hazard exposure) are not classifiable.</a:t>
            </a:r>
            <a:endParaRPr lang="en-US" sz="1100" dirty="0"/>
          </a:p>
        </p:txBody>
      </p:sp>
      <p:sp>
        <p:nvSpPr>
          <p:cNvPr id="9" name="Shape 7"/>
          <p:cNvSpPr/>
          <p:nvPr/>
        </p:nvSpPr>
        <p:spPr>
          <a:xfrm>
            <a:off x="457200" y="1783080"/>
            <a:ext cx="8229600" cy="713232"/>
          </a:xfrm>
          <a:prstGeom prst="roundRect">
            <a:avLst>
              <a:gd name="adj" fmla="val 7692"/>
            </a:avLst>
          </a:prstGeom>
          <a:solidFill>
            <a:srgbClr val="140A0A"/>
          </a:solidFill>
          <a:ln/>
        </p:spPr>
      </p:sp>
      <p:sp>
        <p:nvSpPr>
          <p:cNvPr id="10" name="Text 8"/>
          <p:cNvSpPr/>
          <p:nvPr/>
        </p:nvSpPr>
        <p:spPr>
          <a:xfrm>
            <a:off x="566928" y="1847088"/>
            <a:ext cx="2560320" cy="27432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  GPU Hardware Dependency</a:t>
            </a:r>
            <a:endParaRPr lang="en-US" sz="1200" dirty="0"/>
          </a:p>
        </p:txBody>
      </p:sp>
      <p:sp>
        <p:nvSpPr>
          <p:cNvPr id="11" name="Text 9"/>
          <p:cNvSpPr/>
          <p:nvPr/>
        </p:nvSpPr>
        <p:spPr>
          <a:xfrm>
            <a:off x="3200400" y="1847088"/>
            <a:ext cx="5349240" cy="5029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Dual-stream pipeline requires GPU acceleration. Cannot run at real-time latency on CPU-only edge devices — limiting deployment to GPU-equipped infrastructure.</a:t>
            </a:r>
            <a:endParaRPr lang="en-US" sz="1100" dirty="0"/>
          </a:p>
        </p:txBody>
      </p:sp>
      <p:sp>
        <p:nvSpPr>
          <p:cNvPr id="12" name="Shape 10"/>
          <p:cNvSpPr/>
          <p:nvPr/>
        </p:nvSpPr>
        <p:spPr>
          <a:xfrm>
            <a:off x="457200" y="2578608"/>
            <a:ext cx="8229600" cy="713232"/>
          </a:xfrm>
          <a:prstGeom prst="roundRect">
            <a:avLst>
              <a:gd name="adj" fmla="val 7692"/>
            </a:avLst>
          </a:prstGeom>
          <a:solidFill>
            <a:srgbClr val="140A0A"/>
          </a:solidFill>
          <a:ln/>
        </p:spPr>
      </p:sp>
      <p:sp>
        <p:nvSpPr>
          <p:cNvPr id="13" name="Text 11"/>
          <p:cNvSpPr/>
          <p:nvPr/>
        </p:nvSpPr>
        <p:spPr>
          <a:xfrm>
            <a:off x="566928" y="2642616"/>
            <a:ext cx="2560320" cy="27432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  Single-Camera Scope</a:t>
            </a:r>
            <a:endParaRPr lang="en-US" sz="1200" dirty="0"/>
          </a:p>
        </p:txBody>
      </p:sp>
      <p:sp>
        <p:nvSpPr>
          <p:cNvPr id="14" name="Text 12"/>
          <p:cNvSpPr/>
          <p:nvPr/>
        </p:nvSpPr>
        <p:spPr>
          <a:xfrm>
            <a:off x="3200400" y="2642616"/>
            <a:ext cx="5349240" cy="5029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Current implementation processes one camera stream per inference server. Multi-camera spatiotemporal tracking for cross-zone behavioral correlation is not yet implemented.</a:t>
            </a:r>
            <a:endParaRPr lang="en-US" sz="1100" dirty="0"/>
          </a:p>
        </p:txBody>
      </p:sp>
      <p:sp>
        <p:nvSpPr>
          <p:cNvPr id="15" name="Shape 13"/>
          <p:cNvSpPr/>
          <p:nvPr/>
        </p:nvSpPr>
        <p:spPr>
          <a:xfrm>
            <a:off x="457200" y="3374136"/>
            <a:ext cx="8229600" cy="713232"/>
          </a:xfrm>
          <a:prstGeom prst="roundRect">
            <a:avLst>
              <a:gd name="adj" fmla="val 7692"/>
            </a:avLst>
          </a:prstGeom>
          <a:solidFill>
            <a:srgbClr val="140A0A"/>
          </a:solidFill>
          <a:ln/>
        </p:spPr>
      </p:sp>
      <p:sp>
        <p:nvSpPr>
          <p:cNvPr id="16" name="Text 14"/>
          <p:cNvSpPr/>
          <p:nvPr/>
        </p:nvSpPr>
        <p:spPr>
          <a:xfrm>
            <a:off x="566928" y="3438144"/>
            <a:ext cx="2560320" cy="27432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  Arrest &amp; Robbery Accuracy</a:t>
            </a:r>
            <a:endParaRPr lang="en-US" sz="1200" dirty="0"/>
          </a:p>
        </p:txBody>
      </p:sp>
      <p:sp>
        <p:nvSpPr>
          <p:cNvPr id="17" name="Text 15"/>
          <p:cNvSpPr/>
          <p:nvPr/>
        </p:nvSpPr>
        <p:spPr>
          <a:xfrm>
            <a:off x="3200400" y="3438144"/>
            <a:ext cx="5349240" cy="5029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Arrest AUC 0.78 and Robbery AUC 0.82 remain below target due to visual similarity with normal public activity in low-resolution CCTV streams.</a:t>
            </a:r>
            <a:endParaRPr lang="en-US" sz="1100" dirty="0"/>
          </a:p>
        </p:txBody>
      </p:sp>
      <p:sp>
        <p:nvSpPr>
          <p:cNvPr id="18" name="Shape 16"/>
          <p:cNvSpPr/>
          <p:nvPr/>
        </p:nvSpPr>
        <p:spPr>
          <a:xfrm>
            <a:off x="457200" y="4169664"/>
            <a:ext cx="8229600" cy="713232"/>
          </a:xfrm>
          <a:prstGeom prst="roundRect">
            <a:avLst>
              <a:gd name="adj" fmla="val 7692"/>
            </a:avLst>
          </a:prstGeom>
          <a:solidFill>
            <a:srgbClr val="140A0A"/>
          </a:solidFill>
          <a:ln/>
        </p:spPr>
      </p:sp>
      <p:sp>
        <p:nvSpPr>
          <p:cNvPr id="19" name="Text 17"/>
          <p:cNvSpPr/>
          <p:nvPr/>
        </p:nvSpPr>
        <p:spPr>
          <a:xfrm>
            <a:off x="566928" y="4233672"/>
            <a:ext cx="2560320" cy="27432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  Weak-Resolution Generalization</a:t>
            </a:r>
            <a:endParaRPr lang="en-US" sz="1200" dirty="0"/>
          </a:p>
        </p:txBody>
      </p:sp>
      <p:sp>
        <p:nvSpPr>
          <p:cNvPr id="20" name="Text 18"/>
          <p:cNvSpPr/>
          <p:nvPr/>
        </p:nvSpPr>
        <p:spPr>
          <a:xfrm>
            <a:off x="3200400" y="4233672"/>
            <a:ext cx="5349240" cy="5029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Model trained on UCF-Crime standard resolution. Performance on heavily compressed or extremely low-resolution legacy CCTV hardware is not validated.</a:t>
            </a:r>
            <a:endParaRPr lang="en-US" sz="11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11 · DISCUSSION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Lessons Learned</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1005840"/>
            <a:ext cx="8229600" cy="713232"/>
          </a:xfrm>
          <a:prstGeom prst="roundRect">
            <a:avLst>
              <a:gd name="adj" fmla="val 7692"/>
            </a:avLst>
          </a:prstGeom>
          <a:solidFill>
            <a:srgbClr val="111D2E"/>
          </a:solidFill>
          <a:ln/>
        </p:spPr>
      </p:sp>
      <p:sp>
        <p:nvSpPr>
          <p:cNvPr id="7" name="Text 5"/>
          <p:cNvSpPr/>
          <p:nvPr/>
        </p:nvSpPr>
        <p:spPr>
          <a:xfrm>
            <a:off x="566928" y="1069848"/>
            <a:ext cx="3200400" cy="256032"/>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  Data Engineering &gt; Architecture</a:t>
            </a:r>
            <a:endParaRPr lang="en-US" sz="1200" dirty="0"/>
          </a:p>
        </p:txBody>
      </p:sp>
      <p:sp>
        <p:nvSpPr>
          <p:cNvPr id="8" name="Text 6"/>
          <p:cNvSpPr/>
          <p:nvPr/>
        </p:nvSpPr>
        <p:spPr>
          <a:xfrm>
            <a:off x="566928" y="1389888"/>
            <a:ext cx="8001000" cy="2743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The jump from 57% to 74% accuracy came from switching to clip-level annotations — no model change. The quality of supervision matters more than model complexity.</a:t>
            </a:r>
            <a:endParaRPr lang="en-US" sz="1100" dirty="0"/>
          </a:p>
        </p:txBody>
      </p:sp>
      <p:sp>
        <p:nvSpPr>
          <p:cNvPr id="9" name="Shape 7"/>
          <p:cNvSpPr/>
          <p:nvPr/>
        </p:nvSpPr>
        <p:spPr>
          <a:xfrm>
            <a:off x="457200" y="1801368"/>
            <a:ext cx="8229600" cy="713232"/>
          </a:xfrm>
          <a:prstGeom prst="roundRect">
            <a:avLst>
              <a:gd name="adj" fmla="val 7692"/>
            </a:avLst>
          </a:prstGeom>
          <a:solidFill>
            <a:srgbClr val="111D2E"/>
          </a:solidFill>
          <a:ln/>
        </p:spPr>
      </p:sp>
      <p:sp>
        <p:nvSpPr>
          <p:cNvPr id="10" name="Text 8"/>
          <p:cNvSpPr/>
          <p:nvPr/>
        </p:nvSpPr>
        <p:spPr>
          <a:xfrm>
            <a:off x="566928" y="1865376"/>
            <a:ext cx="3200400" cy="256032"/>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  Baseline Before Complexity</a:t>
            </a:r>
            <a:endParaRPr lang="en-US" sz="1200" dirty="0"/>
          </a:p>
        </p:txBody>
      </p:sp>
      <p:sp>
        <p:nvSpPr>
          <p:cNvPr id="11" name="Text 9"/>
          <p:cNvSpPr/>
          <p:nvPr/>
        </p:nvSpPr>
        <p:spPr>
          <a:xfrm>
            <a:off x="566928" y="2185416"/>
            <a:ext cx="8001000" cy="2743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Evolutionary optimizers (GWO, PSO, etc.) were tested before the ViT baseline was properly established. The ViT baseline would have immediately shown they were unnecessary.</a:t>
            </a:r>
            <a:endParaRPr lang="en-US" sz="1100" dirty="0"/>
          </a:p>
        </p:txBody>
      </p:sp>
      <p:sp>
        <p:nvSpPr>
          <p:cNvPr id="12" name="Shape 10"/>
          <p:cNvSpPr/>
          <p:nvPr/>
        </p:nvSpPr>
        <p:spPr>
          <a:xfrm>
            <a:off x="457200" y="2596896"/>
            <a:ext cx="8229600" cy="713232"/>
          </a:xfrm>
          <a:prstGeom prst="roundRect">
            <a:avLst>
              <a:gd name="adj" fmla="val 7692"/>
            </a:avLst>
          </a:prstGeom>
          <a:solidFill>
            <a:srgbClr val="111D2E"/>
          </a:solidFill>
          <a:ln/>
        </p:spPr>
      </p:sp>
      <p:sp>
        <p:nvSpPr>
          <p:cNvPr id="13" name="Text 11"/>
          <p:cNvSpPr/>
          <p:nvPr/>
        </p:nvSpPr>
        <p:spPr>
          <a:xfrm>
            <a:off x="566928" y="2660904"/>
            <a:ext cx="3200400" cy="256032"/>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  End-to-End Testing Is Critical</a:t>
            </a:r>
            <a:endParaRPr lang="en-US" sz="1200" dirty="0"/>
          </a:p>
        </p:txBody>
      </p:sp>
      <p:sp>
        <p:nvSpPr>
          <p:cNvPr id="14" name="Text 12"/>
          <p:cNvSpPr/>
          <p:nvPr/>
        </p:nvSpPr>
        <p:spPr>
          <a:xfrm>
            <a:off x="566928" y="2980944"/>
            <a:ext cx="8001000" cy="2743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Integration bugs between Flask and Express were only discovered during system integration testing — validating decoupled testing plans for each module independently first.</a:t>
            </a:r>
            <a:endParaRPr lang="en-US" sz="1100" dirty="0"/>
          </a:p>
        </p:txBody>
      </p:sp>
      <p:sp>
        <p:nvSpPr>
          <p:cNvPr id="15" name="Shape 13"/>
          <p:cNvSpPr/>
          <p:nvPr/>
        </p:nvSpPr>
        <p:spPr>
          <a:xfrm>
            <a:off x="457200" y="3392424"/>
            <a:ext cx="8229600" cy="713232"/>
          </a:xfrm>
          <a:prstGeom prst="roundRect">
            <a:avLst>
              <a:gd name="adj" fmla="val 7692"/>
            </a:avLst>
          </a:prstGeom>
          <a:solidFill>
            <a:srgbClr val="111D2E"/>
          </a:solidFill>
          <a:ln/>
        </p:spPr>
      </p:sp>
      <p:sp>
        <p:nvSpPr>
          <p:cNvPr id="16" name="Text 14"/>
          <p:cNvSpPr/>
          <p:nvPr/>
        </p:nvSpPr>
        <p:spPr>
          <a:xfrm>
            <a:off x="566928" y="3456432"/>
            <a:ext cx="3200400" cy="256032"/>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  Statistical Rigor Builds Credibility</a:t>
            </a:r>
            <a:endParaRPr lang="en-US" sz="1200" dirty="0"/>
          </a:p>
        </p:txBody>
      </p:sp>
      <p:sp>
        <p:nvSpPr>
          <p:cNvPr id="17" name="Text 15"/>
          <p:cNvSpPr/>
          <p:nvPr/>
        </p:nvSpPr>
        <p:spPr>
          <a:xfrm>
            <a:off x="566928" y="3776472"/>
            <a:ext cx="8001000" cy="2743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Running 25 evaluation runs instead of one provided confidence intervals and stability scores that make the results scientifically defensible rather than anecdotal.</a:t>
            </a:r>
            <a:endParaRPr lang="en-US" sz="1100" dirty="0"/>
          </a:p>
        </p:txBody>
      </p:sp>
      <p:sp>
        <p:nvSpPr>
          <p:cNvPr id="18" name="Shape 16"/>
          <p:cNvSpPr/>
          <p:nvPr/>
        </p:nvSpPr>
        <p:spPr>
          <a:xfrm>
            <a:off x="457200" y="4187952"/>
            <a:ext cx="8229600" cy="713232"/>
          </a:xfrm>
          <a:prstGeom prst="roundRect">
            <a:avLst>
              <a:gd name="adj" fmla="val 7692"/>
            </a:avLst>
          </a:prstGeom>
          <a:solidFill>
            <a:srgbClr val="111D2E"/>
          </a:solidFill>
          <a:ln/>
        </p:spPr>
      </p:sp>
      <p:sp>
        <p:nvSpPr>
          <p:cNvPr id="19" name="Text 17"/>
          <p:cNvSpPr/>
          <p:nvPr/>
        </p:nvSpPr>
        <p:spPr>
          <a:xfrm>
            <a:off x="566928" y="4251960"/>
            <a:ext cx="3200400" cy="256032"/>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  Privacy Must Be Designed In</a:t>
            </a:r>
            <a:endParaRPr lang="en-US" sz="1200" dirty="0"/>
          </a:p>
        </p:txBody>
      </p:sp>
      <p:sp>
        <p:nvSpPr>
          <p:cNvPr id="20" name="Text 18"/>
          <p:cNvSpPr/>
          <p:nvPr/>
        </p:nvSpPr>
        <p:spPr>
          <a:xfrm>
            <a:off x="566928" y="4572000"/>
            <a:ext cx="8001000" cy="2743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Retrofitting privacy controls (ephemeral processing, conditional logging) is much harder than designing for them from the start. Chapter 6 design decisions were foundational, not afterthoughts.</a:t>
            </a:r>
            <a:endParaRPr lang="en-US" sz="11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12 · FUTURE WORK</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Potential Improvements</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87552"/>
            <a:ext cx="4023360" cy="1234440"/>
          </a:xfrm>
          <a:prstGeom prst="roundRect">
            <a:avLst>
              <a:gd name="adj" fmla="val 5185"/>
            </a:avLst>
          </a:prstGeom>
          <a:solidFill>
            <a:srgbClr val="111D2E"/>
          </a:solidFill>
          <a:ln/>
        </p:spPr>
      </p:sp>
      <p:sp>
        <p:nvSpPr>
          <p:cNvPr id="7" name="Shape 5"/>
          <p:cNvSpPr/>
          <p:nvPr/>
        </p:nvSpPr>
        <p:spPr>
          <a:xfrm>
            <a:off x="3794760" y="1078992"/>
            <a:ext cx="594360" cy="228600"/>
          </a:xfrm>
          <a:prstGeom prst="roundRect">
            <a:avLst>
              <a:gd name="adj" fmla="val 16000"/>
            </a:avLst>
          </a:prstGeom>
          <a:solidFill>
            <a:srgbClr val="EF4444">
              <a:alpha val="40000"/>
            </a:srgbClr>
          </a:solidFill>
          <a:ln/>
        </p:spPr>
      </p:sp>
      <p:sp>
        <p:nvSpPr>
          <p:cNvPr id="8" name="Text 6"/>
          <p:cNvSpPr/>
          <p:nvPr/>
        </p:nvSpPr>
        <p:spPr>
          <a:xfrm>
            <a:off x="3794760" y="1078992"/>
            <a:ext cx="594360" cy="228600"/>
          </a:xfrm>
          <a:prstGeom prst="rect">
            <a:avLst/>
          </a:prstGeom>
          <a:noFill/>
          <a:ln/>
        </p:spPr>
        <p:txBody>
          <a:bodyPr wrap="square" lIns="0" tIns="0" rIns="0" bIns="0" rtlCol="0" anchor="ctr"/>
          <a:lstStyle/>
          <a:p>
            <a:pPr algn="ctr" indent="0" marL="0">
              <a:buNone/>
            </a:pPr>
            <a:r>
              <a:rPr lang="en-US" sz="800" b="1" dirty="0">
                <a:solidFill>
                  <a:srgbClr val="EF4444"/>
                </a:solidFill>
                <a:latin typeface="Calibri" pitchFamily="34" charset="0"/>
                <a:ea typeface="Calibri" pitchFamily="34" charset="-122"/>
                <a:cs typeface="Calibri" pitchFamily="34" charset="-120"/>
              </a:rPr>
              <a:t>HIGH</a:t>
            </a:r>
            <a:endParaRPr lang="en-US" sz="800" dirty="0"/>
          </a:p>
        </p:txBody>
      </p:sp>
      <p:sp>
        <p:nvSpPr>
          <p:cNvPr id="9" name="Text 7"/>
          <p:cNvSpPr/>
          <p:nvPr/>
        </p:nvSpPr>
        <p:spPr>
          <a:xfrm>
            <a:off x="566928" y="1060704"/>
            <a:ext cx="315468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Model Compression</a:t>
            </a:r>
            <a:endParaRPr lang="en-US" sz="1200" dirty="0"/>
          </a:p>
        </p:txBody>
      </p:sp>
      <p:sp>
        <p:nvSpPr>
          <p:cNvPr id="10" name="Text 8"/>
          <p:cNvSpPr/>
          <p:nvPr/>
        </p:nvSpPr>
        <p:spPr>
          <a:xfrm>
            <a:off x="566928" y="1389888"/>
            <a:ext cx="3794760" cy="74980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Post-training quantization (INT8) and structured weight pruning to enable CPU deployment on edge hardware without GPU. Target: 2× latency reduction.</a:t>
            </a:r>
            <a:endParaRPr lang="en-US" sz="1050" dirty="0"/>
          </a:p>
        </p:txBody>
      </p:sp>
      <p:sp>
        <p:nvSpPr>
          <p:cNvPr id="11" name="Shape 9"/>
          <p:cNvSpPr/>
          <p:nvPr/>
        </p:nvSpPr>
        <p:spPr>
          <a:xfrm>
            <a:off x="4800600" y="987552"/>
            <a:ext cx="4023360" cy="1234440"/>
          </a:xfrm>
          <a:prstGeom prst="roundRect">
            <a:avLst>
              <a:gd name="adj" fmla="val 5185"/>
            </a:avLst>
          </a:prstGeom>
          <a:solidFill>
            <a:srgbClr val="111D2E"/>
          </a:solidFill>
          <a:ln/>
        </p:spPr>
      </p:sp>
      <p:sp>
        <p:nvSpPr>
          <p:cNvPr id="12" name="Shape 10"/>
          <p:cNvSpPr/>
          <p:nvPr/>
        </p:nvSpPr>
        <p:spPr>
          <a:xfrm>
            <a:off x="8138160" y="1078992"/>
            <a:ext cx="594360" cy="228600"/>
          </a:xfrm>
          <a:prstGeom prst="roundRect">
            <a:avLst>
              <a:gd name="adj" fmla="val 16000"/>
            </a:avLst>
          </a:prstGeom>
          <a:solidFill>
            <a:srgbClr val="EF4444">
              <a:alpha val="40000"/>
            </a:srgbClr>
          </a:solidFill>
          <a:ln/>
        </p:spPr>
      </p:sp>
      <p:sp>
        <p:nvSpPr>
          <p:cNvPr id="13" name="Text 11"/>
          <p:cNvSpPr/>
          <p:nvPr/>
        </p:nvSpPr>
        <p:spPr>
          <a:xfrm>
            <a:off x="8138160" y="1078992"/>
            <a:ext cx="594360" cy="228600"/>
          </a:xfrm>
          <a:prstGeom prst="rect">
            <a:avLst/>
          </a:prstGeom>
          <a:noFill/>
          <a:ln/>
        </p:spPr>
        <p:txBody>
          <a:bodyPr wrap="square" lIns="0" tIns="0" rIns="0" bIns="0" rtlCol="0" anchor="ctr"/>
          <a:lstStyle/>
          <a:p>
            <a:pPr algn="ctr" indent="0" marL="0">
              <a:buNone/>
            </a:pPr>
            <a:r>
              <a:rPr lang="en-US" sz="800" b="1" dirty="0">
                <a:solidFill>
                  <a:srgbClr val="EF4444"/>
                </a:solidFill>
                <a:latin typeface="Calibri" pitchFamily="34" charset="0"/>
                <a:ea typeface="Calibri" pitchFamily="34" charset="-122"/>
                <a:cs typeface="Calibri" pitchFamily="34" charset="-120"/>
              </a:rPr>
              <a:t>HIGH</a:t>
            </a:r>
            <a:endParaRPr lang="en-US" sz="800" dirty="0"/>
          </a:p>
        </p:txBody>
      </p:sp>
      <p:sp>
        <p:nvSpPr>
          <p:cNvPr id="14" name="Text 12"/>
          <p:cNvSpPr/>
          <p:nvPr/>
        </p:nvSpPr>
        <p:spPr>
          <a:xfrm>
            <a:off x="4910328" y="1060704"/>
            <a:ext cx="315468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Multi-Camera Tracking</a:t>
            </a:r>
            <a:endParaRPr lang="en-US" sz="1200" dirty="0"/>
          </a:p>
        </p:txBody>
      </p:sp>
      <p:sp>
        <p:nvSpPr>
          <p:cNvPr id="15" name="Text 13"/>
          <p:cNvSpPr/>
          <p:nvPr/>
        </p:nvSpPr>
        <p:spPr>
          <a:xfrm>
            <a:off x="4910328" y="1389888"/>
            <a:ext cx="3794760" cy="74980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Extend to simultaneous multi-stream processing with spatiotemporal person re-identification across camera zones for building-wide surveillance coverage.</a:t>
            </a:r>
            <a:endParaRPr lang="en-US" sz="1050" dirty="0"/>
          </a:p>
        </p:txBody>
      </p:sp>
      <p:sp>
        <p:nvSpPr>
          <p:cNvPr id="16" name="Shape 14"/>
          <p:cNvSpPr/>
          <p:nvPr/>
        </p:nvSpPr>
        <p:spPr>
          <a:xfrm>
            <a:off x="457200" y="2359152"/>
            <a:ext cx="4023360" cy="1234440"/>
          </a:xfrm>
          <a:prstGeom prst="roundRect">
            <a:avLst>
              <a:gd name="adj" fmla="val 5185"/>
            </a:avLst>
          </a:prstGeom>
          <a:solidFill>
            <a:srgbClr val="111D2E"/>
          </a:solidFill>
          <a:ln/>
        </p:spPr>
      </p:sp>
      <p:sp>
        <p:nvSpPr>
          <p:cNvPr id="17" name="Shape 15"/>
          <p:cNvSpPr/>
          <p:nvPr/>
        </p:nvSpPr>
        <p:spPr>
          <a:xfrm>
            <a:off x="3794760" y="2450592"/>
            <a:ext cx="594360" cy="228600"/>
          </a:xfrm>
          <a:prstGeom prst="roundRect">
            <a:avLst>
              <a:gd name="adj" fmla="val 16000"/>
            </a:avLst>
          </a:prstGeom>
          <a:solidFill>
            <a:srgbClr val="F59E0B">
              <a:alpha val="40000"/>
            </a:srgbClr>
          </a:solidFill>
          <a:ln/>
        </p:spPr>
      </p:sp>
      <p:sp>
        <p:nvSpPr>
          <p:cNvPr id="18" name="Text 16"/>
          <p:cNvSpPr/>
          <p:nvPr/>
        </p:nvSpPr>
        <p:spPr>
          <a:xfrm>
            <a:off x="3794760" y="2450592"/>
            <a:ext cx="594360" cy="228600"/>
          </a:xfrm>
          <a:prstGeom prst="rect">
            <a:avLst/>
          </a:prstGeom>
          <a:noFill/>
          <a:ln/>
        </p:spPr>
        <p:txBody>
          <a:bodyPr wrap="square" lIns="0" tIns="0" rIns="0" bIns="0" rtlCol="0" anchor="ctr"/>
          <a:lstStyle/>
          <a:p>
            <a:pPr algn="ctr" indent="0" marL="0">
              <a:buNone/>
            </a:pPr>
            <a:r>
              <a:rPr lang="en-US" sz="800" b="1" dirty="0">
                <a:solidFill>
                  <a:srgbClr val="F59E0B"/>
                </a:solidFill>
                <a:latin typeface="Calibri" pitchFamily="34" charset="0"/>
                <a:ea typeface="Calibri" pitchFamily="34" charset="-122"/>
                <a:cs typeface="Calibri" pitchFamily="34" charset="-120"/>
              </a:rPr>
              <a:t>MED</a:t>
            </a:r>
            <a:endParaRPr lang="en-US" sz="800" dirty="0"/>
          </a:p>
        </p:txBody>
      </p:sp>
      <p:sp>
        <p:nvSpPr>
          <p:cNvPr id="19" name="Text 17"/>
          <p:cNvSpPr/>
          <p:nvPr/>
        </p:nvSpPr>
        <p:spPr>
          <a:xfrm>
            <a:off x="566928" y="2432304"/>
            <a:ext cx="315468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Synthetic Rare-Event Data</a:t>
            </a:r>
            <a:endParaRPr lang="en-US" sz="1200" dirty="0"/>
          </a:p>
        </p:txBody>
      </p:sp>
      <p:sp>
        <p:nvSpPr>
          <p:cNvPr id="20" name="Text 18"/>
          <p:cNvSpPr/>
          <p:nvPr/>
        </p:nvSpPr>
        <p:spPr>
          <a:xfrm>
            <a:off x="566928" y="2761488"/>
            <a:ext cx="3794760" cy="74980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GAN-based or diffusion model augmentation for extremely rare anomaly classes (Shooting: 7.1k frames) to improve discrimination on underrepresented categories.</a:t>
            </a:r>
            <a:endParaRPr lang="en-US" sz="1050" dirty="0"/>
          </a:p>
        </p:txBody>
      </p:sp>
      <p:sp>
        <p:nvSpPr>
          <p:cNvPr id="21" name="Shape 19"/>
          <p:cNvSpPr/>
          <p:nvPr/>
        </p:nvSpPr>
        <p:spPr>
          <a:xfrm>
            <a:off x="4800600" y="2359152"/>
            <a:ext cx="4023360" cy="1234440"/>
          </a:xfrm>
          <a:prstGeom prst="roundRect">
            <a:avLst>
              <a:gd name="adj" fmla="val 5185"/>
            </a:avLst>
          </a:prstGeom>
          <a:solidFill>
            <a:srgbClr val="111D2E"/>
          </a:solidFill>
          <a:ln/>
        </p:spPr>
      </p:sp>
      <p:sp>
        <p:nvSpPr>
          <p:cNvPr id="22" name="Shape 20"/>
          <p:cNvSpPr/>
          <p:nvPr/>
        </p:nvSpPr>
        <p:spPr>
          <a:xfrm>
            <a:off x="8138160" y="2450592"/>
            <a:ext cx="594360" cy="228600"/>
          </a:xfrm>
          <a:prstGeom prst="roundRect">
            <a:avLst>
              <a:gd name="adj" fmla="val 16000"/>
            </a:avLst>
          </a:prstGeom>
          <a:solidFill>
            <a:srgbClr val="F59E0B">
              <a:alpha val="40000"/>
            </a:srgbClr>
          </a:solidFill>
          <a:ln/>
        </p:spPr>
      </p:sp>
      <p:sp>
        <p:nvSpPr>
          <p:cNvPr id="23" name="Text 21"/>
          <p:cNvSpPr/>
          <p:nvPr/>
        </p:nvSpPr>
        <p:spPr>
          <a:xfrm>
            <a:off x="8138160" y="2450592"/>
            <a:ext cx="594360" cy="228600"/>
          </a:xfrm>
          <a:prstGeom prst="rect">
            <a:avLst/>
          </a:prstGeom>
          <a:noFill/>
          <a:ln/>
        </p:spPr>
        <p:txBody>
          <a:bodyPr wrap="square" lIns="0" tIns="0" rIns="0" bIns="0" rtlCol="0" anchor="ctr"/>
          <a:lstStyle/>
          <a:p>
            <a:pPr algn="ctr" indent="0" marL="0">
              <a:buNone/>
            </a:pPr>
            <a:r>
              <a:rPr lang="en-US" sz="800" b="1" dirty="0">
                <a:solidFill>
                  <a:srgbClr val="F59E0B"/>
                </a:solidFill>
                <a:latin typeface="Calibri" pitchFamily="34" charset="0"/>
                <a:ea typeface="Calibri" pitchFamily="34" charset="-122"/>
                <a:cs typeface="Calibri" pitchFamily="34" charset="-120"/>
              </a:rPr>
              <a:t>MED</a:t>
            </a:r>
            <a:endParaRPr lang="en-US" sz="800" dirty="0"/>
          </a:p>
        </p:txBody>
      </p:sp>
      <p:sp>
        <p:nvSpPr>
          <p:cNvPr id="24" name="Text 22"/>
          <p:cNvSpPr/>
          <p:nvPr/>
        </p:nvSpPr>
        <p:spPr>
          <a:xfrm>
            <a:off x="4910328" y="2432304"/>
            <a:ext cx="315468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Arrest/Robbery Improvement</a:t>
            </a:r>
            <a:endParaRPr lang="en-US" sz="1200" dirty="0"/>
          </a:p>
        </p:txBody>
      </p:sp>
      <p:sp>
        <p:nvSpPr>
          <p:cNvPr id="25" name="Text 23"/>
          <p:cNvSpPr/>
          <p:nvPr/>
        </p:nvSpPr>
        <p:spPr>
          <a:xfrm>
            <a:off x="4910328" y="2761488"/>
            <a:ext cx="3794760" cy="74980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Targeted data collection and adversarial training specifically for high-ambiguity classes. Current AUC 0.78/0.82 has clear room for improvement.</a:t>
            </a:r>
            <a:endParaRPr lang="en-US" sz="1050" dirty="0"/>
          </a:p>
        </p:txBody>
      </p:sp>
      <p:sp>
        <p:nvSpPr>
          <p:cNvPr id="26" name="Shape 24"/>
          <p:cNvSpPr/>
          <p:nvPr/>
        </p:nvSpPr>
        <p:spPr>
          <a:xfrm>
            <a:off x="457200" y="3730752"/>
            <a:ext cx="4023360" cy="1234440"/>
          </a:xfrm>
          <a:prstGeom prst="roundRect">
            <a:avLst>
              <a:gd name="adj" fmla="val 5185"/>
            </a:avLst>
          </a:prstGeom>
          <a:solidFill>
            <a:srgbClr val="111D2E"/>
          </a:solidFill>
          <a:ln/>
        </p:spPr>
      </p:sp>
      <p:sp>
        <p:nvSpPr>
          <p:cNvPr id="27" name="Shape 25"/>
          <p:cNvSpPr/>
          <p:nvPr/>
        </p:nvSpPr>
        <p:spPr>
          <a:xfrm>
            <a:off x="3794760" y="3822192"/>
            <a:ext cx="594360" cy="228600"/>
          </a:xfrm>
          <a:prstGeom prst="roundRect">
            <a:avLst>
              <a:gd name="adj" fmla="val 16000"/>
            </a:avLst>
          </a:prstGeom>
          <a:solidFill>
            <a:srgbClr val="10B981">
              <a:alpha val="40000"/>
            </a:srgbClr>
          </a:solidFill>
          <a:ln/>
        </p:spPr>
      </p:sp>
      <p:sp>
        <p:nvSpPr>
          <p:cNvPr id="28" name="Text 26"/>
          <p:cNvSpPr/>
          <p:nvPr/>
        </p:nvSpPr>
        <p:spPr>
          <a:xfrm>
            <a:off x="3794760" y="3822192"/>
            <a:ext cx="594360" cy="228600"/>
          </a:xfrm>
          <a:prstGeom prst="rect">
            <a:avLst/>
          </a:prstGeom>
          <a:noFill/>
          <a:ln/>
        </p:spPr>
        <p:txBody>
          <a:bodyPr wrap="square" lIns="0" tIns="0" rIns="0" bIns="0" rtlCol="0" anchor="ctr"/>
          <a:lstStyle/>
          <a:p>
            <a:pPr algn="ctr" indent="0" marL="0">
              <a:buNone/>
            </a:pPr>
            <a:r>
              <a:rPr lang="en-US" sz="800" b="1" dirty="0">
                <a:solidFill>
                  <a:srgbClr val="10B981"/>
                </a:solidFill>
                <a:latin typeface="Calibri" pitchFamily="34" charset="0"/>
                <a:ea typeface="Calibri" pitchFamily="34" charset="-122"/>
                <a:cs typeface="Calibri" pitchFamily="34" charset="-120"/>
              </a:rPr>
              <a:t>LOW</a:t>
            </a:r>
            <a:endParaRPr lang="en-US" sz="800" dirty="0"/>
          </a:p>
        </p:txBody>
      </p:sp>
      <p:sp>
        <p:nvSpPr>
          <p:cNvPr id="29" name="Text 27"/>
          <p:cNvSpPr/>
          <p:nvPr/>
        </p:nvSpPr>
        <p:spPr>
          <a:xfrm>
            <a:off x="566928" y="3803904"/>
            <a:ext cx="315468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Online Incremental Learning</a:t>
            </a:r>
            <a:endParaRPr lang="en-US" sz="1200" dirty="0"/>
          </a:p>
        </p:txBody>
      </p:sp>
      <p:sp>
        <p:nvSpPr>
          <p:cNvPr id="30" name="Text 28"/>
          <p:cNvSpPr/>
          <p:nvPr/>
        </p:nvSpPr>
        <p:spPr>
          <a:xfrm>
            <a:off x="566928" y="4133088"/>
            <a:ext cx="3794760" cy="74980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Streaming adaptation for novel anomaly patterns without full retraining — critical for deployment environments where new threats emerge.</a:t>
            </a:r>
            <a:endParaRPr lang="en-US" sz="1050" dirty="0"/>
          </a:p>
        </p:txBody>
      </p:sp>
      <p:sp>
        <p:nvSpPr>
          <p:cNvPr id="31" name="Shape 29"/>
          <p:cNvSpPr/>
          <p:nvPr/>
        </p:nvSpPr>
        <p:spPr>
          <a:xfrm>
            <a:off x="4800600" y="3730752"/>
            <a:ext cx="4023360" cy="1234440"/>
          </a:xfrm>
          <a:prstGeom prst="roundRect">
            <a:avLst>
              <a:gd name="adj" fmla="val 5185"/>
            </a:avLst>
          </a:prstGeom>
          <a:solidFill>
            <a:srgbClr val="111D2E"/>
          </a:solidFill>
          <a:ln/>
        </p:spPr>
      </p:sp>
      <p:sp>
        <p:nvSpPr>
          <p:cNvPr id="32" name="Shape 30"/>
          <p:cNvSpPr/>
          <p:nvPr/>
        </p:nvSpPr>
        <p:spPr>
          <a:xfrm>
            <a:off x="8138160" y="3822192"/>
            <a:ext cx="594360" cy="228600"/>
          </a:xfrm>
          <a:prstGeom prst="roundRect">
            <a:avLst>
              <a:gd name="adj" fmla="val 16000"/>
            </a:avLst>
          </a:prstGeom>
          <a:solidFill>
            <a:srgbClr val="10B981">
              <a:alpha val="40000"/>
            </a:srgbClr>
          </a:solidFill>
          <a:ln/>
        </p:spPr>
      </p:sp>
      <p:sp>
        <p:nvSpPr>
          <p:cNvPr id="33" name="Text 31"/>
          <p:cNvSpPr/>
          <p:nvPr/>
        </p:nvSpPr>
        <p:spPr>
          <a:xfrm>
            <a:off x="8138160" y="3822192"/>
            <a:ext cx="594360" cy="228600"/>
          </a:xfrm>
          <a:prstGeom prst="rect">
            <a:avLst/>
          </a:prstGeom>
          <a:noFill/>
          <a:ln/>
        </p:spPr>
        <p:txBody>
          <a:bodyPr wrap="square" lIns="0" tIns="0" rIns="0" bIns="0" rtlCol="0" anchor="ctr"/>
          <a:lstStyle/>
          <a:p>
            <a:pPr algn="ctr" indent="0" marL="0">
              <a:buNone/>
            </a:pPr>
            <a:r>
              <a:rPr lang="en-US" sz="800" b="1" dirty="0">
                <a:solidFill>
                  <a:srgbClr val="10B981"/>
                </a:solidFill>
                <a:latin typeface="Calibri" pitchFamily="34" charset="0"/>
                <a:ea typeface="Calibri" pitchFamily="34" charset="-122"/>
                <a:cs typeface="Calibri" pitchFamily="34" charset="-120"/>
              </a:rPr>
              <a:t>LOW</a:t>
            </a:r>
            <a:endParaRPr lang="en-US" sz="800" dirty="0"/>
          </a:p>
        </p:txBody>
      </p:sp>
      <p:sp>
        <p:nvSpPr>
          <p:cNvPr id="34" name="Text 32"/>
          <p:cNvSpPr/>
          <p:nvPr/>
        </p:nvSpPr>
        <p:spPr>
          <a:xfrm>
            <a:off x="4910328" y="3803904"/>
            <a:ext cx="315468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Expanded Taxonomy</a:t>
            </a:r>
            <a:endParaRPr lang="en-US" sz="1200" dirty="0"/>
          </a:p>
        </p:txBody>
      </p:sp>
      <p:sp>
        <p:nvSpPr>
          <p:cNvPr id="35" name="Text 33"/>
          <p:cNvSpPr/>
          <p:nvPr/>
        </p:nvSpPr>
        <p:spPr>
          <a:xfrm>
            <a:off x="4910328" y="4133088"/>
            <a:ext cx="3794760" cy="749808"/>
          </a:xfrm>
          <a:prstGeom prst="rect">
            <a:avLst/>
          </a:prstGeom>
          <a:noFill/>
          <a:ln/>
        </p:spPr>
        <p:txBody>
          <a:bodyPr wrap="square" lIns="0" tIns="0" rIns="0" bIns="0" rtlCol="0" anchor="t"/>
          <a:lstStyle/>
          <a:p>
            <a:pPr indent="0" marL="0">
              <a:buNone/>
            </a:pPr>
            <a:r>
              <a:rPr lang="en-US" sz="1050" dirty="0">
                <a:solidFill>
                  <a:srgbClr val="CBD5E1"/>
                </a:solidFill>
                <a:latin typeface="Calibri" pitchFamily="34" charset="0"/>
                <a:ea typeface="Calibri" pitchFamily="34" charset="-122"/>
                <a:cs typeface="Calibri" pitchFamily="34" charset="-120"/>
              </a:rPr>
              <a:t>Integration of additional event types beyond UCF-Crime scope: drone intrusions, chemical/biological alerts, crowd crush events.</a:t>
            </a:r>
            <a:endParaRPr lang="en-US" sz="10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12 · FUTURE WORK</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Future Research Directions</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1005840"/>
            <a:ext cx="4023360" cy="1719072"/>
          </a:xfrm>
          <a:prstGeom prst="roundRect">
            <a:avLst>
              <a:gd name="adj" fmla="val 4255"/>
            </a:avLst>
          </a:prstGeom>
          <a:solidFill>
            <a:srgbClr val="111D2E"/>
          </a:solidFill>
          <a:ln/>
        </p:spPr>
      </p:sp>
      <p:sp>
        <p:nvSpPr>
          <p:cNvPr id="7" name="Text 5"/>
          <p:cNvSpPr/>
          <p:nvPr/>
        </p:nvSpPr>
        <p:spPr>
          <a:xfrm>
            <a:off x="566928" y="1097280"/>
            <a:ext cx="3794760" cy="292608"/>
          </a:xfrm>
          <a:prstGeom prst="rect">
            <a:avLst/>
          </a:prstGeom>
          <a:noFill/>
          <a:ln/>
        </p:spPr>
        <p:txBody>
          <a:bodyPr wrap="square" lIns="0" tIns="0" rIns="0" bIns="0" rtlCol="0" anchor="ctr"/>
          <a:lstStyle/>
          <a:p>
            <a:pPr indent="0" marL="0">
              <a:buNone/>
            </a:pPr>
            <a:r>
              <a:rPr lang="en-US" sz="1250" b="1" dirty="0">
                <a:solidFill>
                  <a:srgbClr val="00D4FF"/>
                </a:solidFill>
                <a:latin typeface="Calibri" pitchFamily="34" charset="0"/>
                <a:ea typeface="Calibri" pitchFamily="34" charset="-122"/>
                <a:cs typeface="Calibri" pitchFamily="34" charset="-120"/>
              </a:rPr>
              <a:t>Foundation Models for Video</a:t>
            </a:r>
            <a:endParaRPr lang="en-US" sz="1250" dirty="0"/>
          </a:p>
        </p:txBody>
      </p:sp>
      <p:sp>
        <p:nvSpPr>
          <p:cNvPr id="8" name="Text 6"/>
          <p:cNvSpPr/>
          <p:nvPr/>
        </p:nvSpPr>
        <p:spPr>
          <a:xfrm>
            <a:off x="566928" y="1463040"/>
            <a:ext cx="3794760" cy="1170432"/>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Explore VideoMAE, Video-LLaMA, or GPT-4V for zero-shot anomaly detection — potentially eliminating the need for fine-tuning on labeled surveillance data.</a:t>
            </a:r>
            <a:endParaRPr lang="en-US" sz="1100" dirty="0"/>
          </a:p>
        </p:txBody>
      </p:sp>
      <p:sp>
        <p:nvSpPr>
          <p:cNvPr id="9" name="Shape 7"/>
          <p:cNvSpPr/>
          <p:nvPr/>
        </p:nvSpPr>
        <p:spPr>
          <a:xfrm>
            <a:off x="4800600" y="1005840"/>
            <a:ext cx="4023360" cy="1719072"/>
          </a:xfrm>
          <a:prstGeom prst="roundRect">
            <a:avLst>
              <a:gd name="adj" fmla="val 4255"/>
            </a:avLst>
          </a:prstGeom>
          <a:solidFill>
            <a:srgbClr val="111D2E"/>
          </a:solidFill>
          <a:ln/>
        </p:spPr>
      </p:sp>
      <p:sp>
        <p:nvSpPr>
          <p:cNvPr id="10" name="Text 8"/>
          <p:cNvSpPr/>
          <p:nvPr/>
        </p:nvSpPr>
        <p:spPr>
          <a:xfrm>
            <a:off x="4910328" y="1097280"/>
            <a:ext cx="3794760" cy="292608"/>
          </a:xfrm>
          <a:prstGeom prst="rect">
            <a:avLst/>
          </a:prstGeom>
          <a:noFill/>
          <a:ln/>
        </p:spPr>
        <p:txBody>
          <a:bodyPr wrap="square" lIns="0" tIns="0" rIns="0" bIns="0" rtlCol="0" anchor="ctr"/>
          <a:lstStyle/>
          <a:p>
            <a:pPr indent="0" marL="0">
              <a:buNone/>
            </a:pPr>
            <a:r>
              <a:rPr lang="en-US" sz="1250" b="1" dirty="0">
                <a:solidFill>
                  <a:srgbClr val="00D4FF"/>
                </a:solidFill>
                <a:latin typeface="Calibri" pitchFamily="34" charset="0"/>
                <a:ea typeface="Calibri" pitchFamily="34" charset="-122"/>
                <a:cs typeface="Calibri" pitchFamily="34" charset="-120"/>
              </a:rPr>
              <a:t>Explainable AI (XAI)</a:t>
            </a:r>
            <a:endParaRPr lang="en-US" sz="1250" dirty="0"/>
          </a:p>
        </p:txBody>
      </p:sp>
      <p:sp>
        <p:nvSpPr>
          <p:cNvPr id="11" name="Text 9"/>
          <p:cNvSpPr/>
          <p:nvPr/>
        </p:nvSpPr>
        <p:spPr>
          <a:xfrm>
            <a:off x="4910328" y="1463040"/>
            <a:ext cx="3794760" cy="1170432"/>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Attention visualization to show which video regions and temporal segments drove the classification — critical for legal admissibility of AI-generated alerts.</a:t>
            </a:r>
            <a:endParaRPr lang="en-US" sz="1100" dirty="0"/>
          </a:p>
        </p:txBody>
      </p:sp>
      <p:sp>
        <p:nvSpPr>
          <p:cNvPr id="12" name="Shape 10"/>
          <p:cNvSpPr/>
          <p:nvPr/>
        </p:nvSpPr>
        <p:spPr>
          <a:xfrm>
            <a:off x="457200" y="2880360"/>
            <a:ext cx="4023360" cy="1719072"/>
          </a:xfrm>
          <a:prstGeom prst="roundRect">
            <a:avLst>
              <a:gd name="adj" fmla="val 4255"/>
            </a:avLst>
          </a:prstGeom>
          <a:solidFill>
            <a:srgbClr val="111D2E"/>
          </a:solidFill>
          <a:ln/>
        </p:spPr>
      </p:sp>
      <p:sp>
        <p:nvSpPr>
          <p:cNvPr id="13" name="Text 11"/>
          <p:cNvSpPr/>
          <p:nvPr/>
        </p:nvSpPr>
        <p:spPr>
          <a:xfrm>
            <a:off x="566928" y="2971800"/>
            <a:ext cx="3794760" cy="292608"/>
          </a:xfrm>
          <a:prstGeom prst="rect">
            <a:avLst/>
          </a:prstGeom>
          <a:noFill/>
          <a:ln/>
        </p:spPr>
        <p:txBody>
          <a:bodyPr wrap="square" lIns="0" tIns="0" rIns="0" bIns="0" rtlCol="0" anchor="ctr"/>
          <a:lstStyle/>
          <a:p>
            <a:pPr indent="0" marL="0">
              <a:buNone/>
            </a:pPr>
            <a:r>
              <a:rPr lang="en-US" sz="1250" b="1" dirty="0">
                <a:solidFill>
                  <a:srgbClr val="00D4FF"/>
                </a:solidFill>
                <a:latin typeface="Calibri" pitchFamily="34" charset="0"/>
                <a:ea typeface="Calibri" pitchFamily="34" charset="-122"/>
                <a:cs typeface="Calibri" pitchFamily="34" charset="-120"/>
              </a:rPr>
              <a:t>Federated Surveillance Learning</a:t>
            </a:r>
            <a:endParaRPr lang="en-US" sz="1250" dirty="0"/>
          </a:p>
        </p:txBody>
      </p:sp>
      <p:sp>
        <p:nvSpPr>
          <p:cNvPr id="14" name="Text 12"/>
          <p:cNvSpPr/>
          <p:nvPr/>
        </p:nvSpPr>
        <p:spPr>
          <a:xfrm>
            <a:off x="566928" y="3337560"/>
            <a:ext cx="3794760" cy="1170432"/>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Train SecureSight across distributed camera networks without centralized data sharing, preserving privacy while improving detection across more diverse environments.</a:t>
            </a:r>
            <a:endParaRPr lang="en-US" sz="1100" dirty="0"/>
          </a:p>
        </p:txBody>
      </p:sp>
      <p:sp>
        <p:nvSpPr>
          <p:cNvPr id="15" name="Shape 13"/>
          <p:cNvSpPr/>
          <p:nvPr/>
        </p:nvSpPr>
        <p:spPr>
          <a:xfrm>
            <a:off x="4800600" y="2880360"/>
            <a:ext cx="4023360" cy="1719072"/>
          </a:xfrm>
          <a:prstGeom prst="roundRect">
            <a:avLst>
              <a:gd name="adj" fmla="val 4255"/>
            </a:avLst>
          </a:prstGeom>
          <a:solidFill>
            <a:srgbClr val="111D2E"/>
          </a:solidFill>
          <a:ln/>
        </p:spPr>
      </p:sp>
      <p:sp>
        <p:nvSpPr>
          <p:cNvPr id="16" name="Text 14"/>
          <p:cNvSpPr/>
          <p:nvPr/>
        </p:nvSpPr>
        <p:spPr>
          <a:xfrm>
            <a:off x="4910328" y="2971800"/>
            <a:ext cx="3794760" cy="292608"/>
          </a:xfrm>
          <a:prstGeom prst="rect">
            <a:avLst/>
          </a:prstGeom>
          <a:noFill/>
          <a:ln/>
        </p:spPr>
        <p:txBody>
          <a:bodyPr wrap="square" lIns="0" tIns="0" rIns="0" bIns="0" rtlCol="0" anchor="ctr"/>
          <a:lstStyle/>
          <a:p>
            <a:pPr indent="0" marL="0">
              <a:buNone/>
            </a:pPr>
            <a:r>
              <a:rPr lang="en-US" sz="1250" b="1" dirty="0">
                <a:solidFill>
                  <a:srgbClr val="00D4FF"/>
                </a:solidFill>
                <a:latin typeface="Calibri" pitchFamily="34" charset="0"/>
                <a:ea typeface="Calibri" pitchFamily="34" charset="-122"/>
                <a:cs typeface="Calibri" pitchFamily="34" charset="-120"/>
              </a:rPr>
              <a:t>Causal Anomaly Reasoning</a:t>
            </a:r>
            <a:endParaRPr lang="en-US" sz="1250" dirty="0"/>
          </a:p>
        </p:txBody>
      </p:sp>
      <p:sp>
        <p:nvSpPr>
          <p:cNvPr id="17" name="Text 15"/>
          <p:cNvSpPr/>
          <p:nvPr/>
        </p:nvSpPr>
        <p:spPr>
          <a:xfrm>
            <a:off x="4910328" y="3337560"/>
            <a:ext cx="3794760" cy="1170432"/>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Move beyond correlation-based classification to causal modeling: WHY is this anomalous, not just THAT it is anomalous — enabling proactive intervention.</a:t>
            </a:r>
            <a:endParaRPr lang="en-US" sz="11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13 · CONCLUSION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Project Summary</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987552"/>
            <a:ext cx="8229600" cy="731520"/>
          </a:xfrm>
          <a:prstGeom prst="roundRect">
            <a:avLst>
              <a:gd name="adj" fmla="val 7500"/>
            </a:avLst>
          </a:prstGeom>
          <a:solidFill>
            <a:srgbClr val="111D2E"/>
          </a:solidFill>
          <a:ln/>
        </p:spPr>
      </p:sp>
      <p:sp>
        <p:nvSpPr>
          <p:cNvPr id="7" name="Shape 5"/>
          <p:cNvSpPr/>
          <p:nvPr/>
        </p:nvSpPr>
        <p:spPr>
          <a:xfrm>
            <a:off x="566928" y="1124712"/>
            <a:ext cx="1005840" cy="384048"/>
          </a:xfrm>
          <a:prstGeom prst="roundRect">
            <a:avLst>
              <a:gd name="adj" fmla="val 9524"/>
            </a:avLst>
          </a:prstGeom>
          <a:solidFill>
            <a:srgbClr val="00D4FF">
              <a:alpha val="20000"/>
            </a:srgbClr>
          </a:solidFill>
          <a:ln/>
        </p:spPr>
      </p:sp>
      <p:sp>
        <p:nvSpPr>
          <p:cNvPr id="8" name="Text 6"/>
          <p:cNvSpPr/>
          <p:nvPr/>
        </p:nvSpPr>
        <p:spPr>
          <a:xfrm>
            <a:off x="566928" y="1124712"/>
            <a:ext cx="1005840" cy="384048"/>
          </a:xfrm>
          <a:prstGeom prst="rect">
            <a:avLst/>
          </a:prstGeom>
          <a:noFill/>
          <a:ln/>
        </p:spPr>
        <p:txBody>
          <a:bodyPr wrap="square" lIns="0" tIns="0" rIns="0" bIns="0" rtlCol="0" anchor="ctr"/>
          <a:lstStyle/>
          <a:p>
            <a:pPr algn="ctr" indent="0" marL="0">
              <a:buNone/>
            </a:pPr>
            <a:r>
              <a:rPr lang="en-US" sz="1100" b="1" dirty="0">
                <a:solidFill>
                  <a:srgbClr val="00D4FF"/>
                </a:solidFill>
                <a:latin typeface="Calibri" pitchFamily="34" charset="0"/>
                <a:ea typeface="Calibri" pitchFamily="34" charset="-122"/>
                <a:cs typeface="Calibri" pitchFamily="34" charset="-120"/>
              </a:rPr>
              <a:t>Problem</a:t>
            </a:r>
            <a:endParaRPr lang="en-US" sz="1100" dirty="0"/>
          </a:p>
        </p:txBody>
      </p:sp>
      <p:sp>
        <p:nvSpPr>
          <p:cNvPr id="9" name="Text 7"/>
          <p:cNvSpPr/>
          <p:nvPr/>
        </p:nvSpPr>
        <p:spPr>
          <a:xfrm>
            <a:off x="1664208" y="1078992"/>
            <a:ext cx="6903720" cy="502920"/>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Over 1B CCTV cameras generate footage that is never analyzed in real time. Existing solutions either lack temporal modeling or cannot be deployed in production.</a:t>
            </a:r>
            <a:endParaRPr lang="en-US" sz="1150" dirty="0"/>
          </a:p>
        </p:txBody>
      </p:sp>
      <p:sp>
        <p:nvSpPr>
          <p:cNvPr id="10" name="Shape 8"/>
          <p:cNvSpPr/>
          <p:nvPr/>
        </p:nvSpPr>
        <p:spPr>
          <a:xfrm>
            <a:off x="457200" y="1810512"/>
            <a:ext cx="8229600" cy="731520"/>
          </a:xfrm>
          <a:prstGeom prst="roundRect">
            <a:avLst>
              <a:gd name="adj" fmla="val 7500"/>
            </a:avLst>
          </a:prstGeom>
          <a:solidFill>
            <a:srgbClr val="111D2E"/>
          </a:solidFill>
          <a:ln/>
        </p:spPr>
      </p:sp>
      <p:sp>
        <p:nvSpPr>
          <p:cNvPr id="11" name="Shape 9"/>
          <p:cNvSpPr/>
          <p:nvPr/>
        </p:nvSpPr>
        <p:spPr>
          <a:xfrm>
            <a:off x="566928" y="1947672"/>
            <a:ext cx="1005840" cy="384048"/>
          </a:xfrm>
          <a:prstGeom prst="roundRect">
            <a:avLst>
              <a:gd name="adj" fmla="val 9524"/>
            </a:avLst>
          </a:prstGeom>
          <a:solidFill>
            <a:srgbClr val="00D4FF">
              <a:alpha val="20000"/>
            </a:srgbClr>
          </a:solidFill>
          <a:ln/>
        </p:spPr>
      </p:sp>
      <p:sp>
        <p:nvSpPr>
          <p:cNvPr id="12" name="Text 10"/>
          <p:cNvSpPr/>
          <p:nvPr/>
        </p:nvSpPr>
        <p:spPr>
          <a:xfrm>
            <a:off x="566928" y="1947672"/>
            <a:ext cx="1005840" cy="384048"/>
          </a:xfrm>
          <a:prstGeom prst="rect">
            <a:avLst/>
          </a:prstGeom>
          <a:noFill/>
          <a:ln/>
        </p:spPr>
        <p:txBody>
          <a:bodyPr wrap="square" lIns="0" tIns="0" rIns="0" bIns="0" rtlCol="0" anchor="ctr"/>
          <a:lstStyle/>
          <a:p>
            <a:pPr algn="ctr" indent="0" marL="0">
              <a:buNone/>
            </a:pPr>
            <a:r>
              <a:rPr lang="en-US" sz="1100" b="1" dirty="0">
                <a:solidFill>
                  <a:srgbClr val="00D4FF"/>
                </a:solidFill>
                <a:latin typeface="Calibri" pitchFamily="34" charset="0"/>
                <a:ea typeface="Calibri" pitchFamily="34" charset="-122"/>
                <a:cs typeface="Calibri" pitchFamily="34" charset="-120"/>
              </a:rPr>
              <a:t>Solution</a:t>
            </a:r>
            <a:endParaRPr lang="en-US" sz="1100" dirty="0"/>
          </a:p>
        </p:txBody>
      </p:sp>
      <p:sp>
        <p:nvSpPr>
          <p:cNvPr id="13" name="Text 11"/>
          <p:cNvSpPr/>
          <p:nvPr/>
        </p:nvSpPr>
        <p:spPr>
          <a:xfrm>
            <a:off x="1664208" y="1901952"/>
            <a:ext cx="6903720" cy="502920"/>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SecureSight: ResNet-50 + R(2+1)D dual-stream feature extraction, fused and encoded by a 4-block Vision Transformer, deployed in a production web architecture.</a:t>
            </a:r>
            <a:endParaRPr lang="en-US" sz="1150" dirty="0"/>
          </a:p>
        </p:txBody>
      </p:sp>
      <p:sp>
        <p:nvSpPr>
          <p:cNvPr id="14" name="Shape 12"/>
          <p:cNvSpPr/>
          <p:nvPr/>
        </p:nvSpPr>
        <p:spPr>
          <a:xfrm>
            <a:off x="457200" y="2633472"/>
            <a:ext cx="8229600" cy="731520"/>
          </a:xfrm>
          <a:prstGeom prst="roundRect">
            <a:avLst>
              <a:gd name="adj" fmla="val 7500"/>
            </a:avLst>
          </a:prstGeom>
          <a:solidFill>
            <a:srgbClr val="111D2E"/>
          </a:solidFill>
          <a:ln/>
        </p:spPr>
      </p:sp>
      <p:sp>
        <p:nvSpPr>
          <p:cNvPr id="15" name="Shape 13"/>
          <p:cNvSpPr/>
          <p:nvPr/>
        </p:nvSpPr>
        <p:spPr>
          <a:xfrm>
            <a:off x="566928" y="2770632"/>
            <a:ext cx="1005840" cy="384048"/>
          </a:xfrm>
          <a:prstGeom prst="roundRect">
            <a:avLst>
              <a:gd name="adj" fmla="val 9524"/>
            </a:avLst>
          </a:prstGeom>
          <a:solidFill>
            <a:srgbClr val="00D4FF">
              <a:alpha val="20000"/>
            </a:srgbClr>
          </a:solidFill>
          <a:ln/>
        </p:spPr>
      </p:sp>
      <p:sp>
        <p:nvSpPr>
          <p:cNvPr id="16" name="Text 14"/>
          <p:cNvSpPr/>
          <p:nvPr/>
        </p:nvSpPr>
        <p:spPr>
          <a:xfrm>
            <a:off x="566928" y="2770632"/>
            <a:ext cx="1005840" cy="384048"/>
          </a:xfrm>
          <a:prstGeom prst="rect">
            <a:avLst/>
          </a:prstGeom>
          <a:noFill/>
          <a:ln/>
        </p:spPr>
        <p:txBody>
          <a:bodyPr wrap="square" lIns="0" tIns="0" rIns="0" bIns="0" rtlCol="0" anchor="ctr"/>
          <a:lstStyle/>
          <a:p>
            <a:pPr algn="ctr" indent="0" marL="0">
              <a:buNone/>
            </a:pPr>
            <a:r>
              <a:rPr lang="en-US" sz="1100" b="1" dirty="0">
                <a:solidFill>
                  <a:srgbClr val="00D4FF"/>
                </a:solidFill>
                <a:latin typeface="Calibri" pitchFamily="34" charset="0"/>
                <a:ea typeface="Calibri" pitchFamily="34" charset="-122"/>
                <a:cs typeface="Calibri" pitchFamily="34" charset="-120"/>
              </a:rPr>
              <a:t>Data</a:t>
            </a:r>
            <a:endParaRPr lang="en-US" sz="1100" dirty="0"/>
          </a:p>
        </p:txBody>
      </p:sp>
      <p:sp>
        <p:nvSpPr>
          <p:cNvPr id="17" name="Text 15"/>
          <p:cNvSpPr/>
          <p:nvPr/>
        </p:nvSpPr>
        <p:spPr>
          <a:xfrm>
            <a:off x="1664208" y="2724912"/>
            <a:ext cx="6903720" cy="502920"/>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UCF-Crime 9-class merged taxonomy with precise clip-level temporal annotations. Stratified 70/15/15 split with inverse-weight sampling to mitigate 133:1 imbalance.</a:t>
            </a:r>
            <a:endParaRPr lang="en-US" sz="1150" dirty="0"/>
          </a:p>
        </p:txBody>
      </p:sp>
      <p:sp>
        <p:nvSpPr>
          <p:cNvPr id="18" name="Shape 16"/>
          <p:cNvSpPr/>
          <p:nvPr/>
        </p:nvSpPr>
        <p:spPr>
          <a:xfrm>
            <a:off x="457200" y="3456432"/>
            <a:ext cx="8229600" cy="731520"/>
          </a:xfrm>
          <a:prstGeom prst="roundRect">
            <a:avLst>
              <a:gd name="adj" fmla="val 7500"/>
            </a:avLst>
          </a:prstGeom>
          <a:solidFill>
            <a:srgbClr val="111D2E"/>
          </a:solidFill>
          <a:ln/>
        </p:spPr>
      </p:sp>
      <p:sp>
        <p:nvSpPr>
          <p:cNvPr id="19" name="Shape 17"/>
          <p:cNvSpPr/>
          <p:nvPr/>
        </p:nvSpPr>
        <p:spPr>
          <a:xfrm>
            <a:off x="566928" y="3593592"/>
            <a:ext cx="1005840" cy="384048"/>
          </a:xfrm>
          <a:prstGeom prst="roundRect">
            <a:avLst>
              <a:gd name="adj" fmla="val 9524"/>
            </a:avLst>
          </a:prstGeom>
          <a:solidFill>
            <a:srgbClr val="00D4FF">
              <a:alpha val="20000"/>
            </a:srgbClr>
          </a:solidFill>
          <a:ln/>
        </p:spPr>
      </p:sp>
      <p:sp>
        <p:nvSpPr>
          <p:cNvPr id="20" name="Text 18"/>
          <p:cNvSpPr/>
          <p:nvPr/>
        </p:nvSpPr>
        <p:spPr>
          <a:xfrm>
            <a:off x="566928" y="3593592"/>
            <a:ext cx="1005840" cy="384048"/>
          </a:xfrm>
          <a:prstGeom prst="rect">
            <a:avLst/>
          </a:prstGeom>
          <a:noFill/>
          <a:ln/>
        </p:spPr>
        <p:txBody>
          <a:bodyPr wrap="square" lIns="0" tIns="0" rIns="0" bIns="0" rtlCol="0" anchor="ctr"/>
          <a:lstStyle/>
          <a:p>
            <a:pPr algn="ctr" indent="0" marL="0">
              <a:buNone/>
            </a:pPr>
            <a:r>
              <a:rPr lang="en-US" sz="1100" b="1" dirty="0">
                <a:solidFill>
                  <a:srgbClr val="00D4FF"/>
                </a:solidFill>
                <a:latin typeface="Calibri" pitchFamily="34" charset="0"/>
                <a:ea typeface="Calibri" pitchFamily="34" charset="-122"/>
                <a:cs typeface="Calibri" pitchFamily="34" charset="-120"/>
              </a:rPr>
              <a:t>Results</a:t>
            </a:r>
            <a:endParaRPr lang="en-US" sz="1100" dirty="0"/>
          </a:p>
        </p:txBody>
      </p:sp>
      <p:sp>
        <p:nvSpPr>
          <p:cNvPr id="21" name="Text 19"/>
          <p:cNvSpPr/>
          <p:nvPr/>
        </p:nvSpPr>
        <p:spPr>
          <a:xfrm>
            <a:off x="1664208" y="3547872"/>
            <a:ext cx="6903720" cy="502920"/>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91.58% peak accuracy, 91.50% F1, 94.83% AUC — validated across 25 evaluation runs (mean 88.25%). 42.45ms latency. Exceeds all baselines significantly.</a:t>
            </a:r>
            <a:endParaRPr lang="en-US" sz="1150" dirty="0"/>
          </a:p>
        </p:txBody>
      </p:sp>
      <p:sp>
        <p:nvSpPr>
          <p:cNvPr id="22" name="Shape 20"/>
          <p:cNvSpPr/>
          <p:nvPr/>
        </p:nvSpPr>
        <p:spPr>
          <a:xfrm>
            <a:off x="457200" y="4279392"/>
            <a:ext cx="8229600" cy="731520"/>
          </a:xfrm>
          <a:prstGeom prst="roundRect">
            <a:avLst>
              <a:gd name="adj" fmla="val 7500"/>
            </a:avLst>
          </a:prstGeom>
          <a:solidFill>
            <a:srgbClr val="111D2E"/>
          </a:solidFill>
          <a:ln/>
        </p:spPr>
      </p:sp>
      <p:sp>
        <p:nvSpPr>
          <p:cNvPr id="23" name="Shape 21"/>
          <p:cNvSpPr/>
          <p:nvPr/>
        </p:nvSpPr>
        <p:spPr>
          <a:xfrm>
            <a:off x="566928" y="4416552"/>
            <a:ext cx="1005840" cy="384048"/>
          </a:xfrm>
          <a:prstGeom prst="roundRect">
            <a:avLst>
              <a:gd name="adj" fmla="val 9524"/>
            </a:avLst>
          </a:prstGeom>
          <a:solidFill>
            <a:srgbClr val="00D4FF">
              <a:alpha val="20000"/>
            </a:srgbClr>
          </a:solidFill>
          <a:ln/>
        </p:spPr>
      </p:sp>
      <p:sp>
        <p:nvSpPr>
          <p:cNvPr id="24" name="Text 22"/>
          <p:cNvSpPr/>
          <p:nvPr/>
        </p:nvSpPr>
        <p:spPr>
          <a:xfrm>
            <a:off x="566928" y="4416552"/>
            <a:ext cx="1005840" cy="384048"/>
          </a:xfrm>
          <a:prstGeom prst="rect">
            <a:avLst/>
          </a:prstGeom>
          <a:noFill/>
          <a:ln/>
        </p:spPr>
        <p:txBody>
          <a:bodyPr wrap="square" lIns="0" tIns="0" rIns="0" bIns="0" rtlCol="0" anchor="ctr"/>
          <a:lstStyle/>
          <a:p>
            <a:pPr algn="ctr" indent="0" marL="0">
              <a:buNone/>
            </a:pPr>
            <a:r>
              <a:rPr lang="en-US" sz="1100" b="1" dirty="0">
                <a:solidFill>
                  <a:srgbClr val="00D4FF"/>
                </a:solidFill>
                <a:latin typeface="Calibri" pitchFamily="34" charset="0"/>
                <a:ea typeface="Calibri" pitchFamily="34" charset="-122"/>
                <a:cs typeface="Calibri" pitchFamily="34" charset="-120"/>
              </a:rPr>
              <a:t>Deployment</a:t>
            </a:r>
            <a:endParaRPr lang="en-US" sz="1100" dirty="0"/>
          </a:p>
        </p:txBody>
      </p:sp>
      <p:sp>
        <p:nvSpPr>
          <p:cNvPr id="25" name="Text 23"/>
          <p:cNvSpPr/>
          <p:nvPr/>
        </p:nvSpPr>
        <p:spPr>
          <a:xfrm>
            <a:off x="1664208" y="4370832"/>
            <a:ext cx="6903720" cy="502920"/>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Full stack: Flask/PyTorch inference + Express/Node.js API + MySQL + React dashboard. MQTT alert routing with offline edge buffering. Privacy-compliant ephemeral processing.</a:t>
            </a:r>
            <a:endParaRPr lang="en-US" sz="11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Shape 0"/>
          <p:cNvSpPr/>
          <p:nvPr/>
        </p:nvSpPr>
        <p:spPr>
          <a:xfrm>
            <a:off x="457200" y="164592"/>
            <a:ext cx="2194560" cy="256032"/>
          </a:xfrm>
          <a:prstGeom prst="roundRect">
            <a:avLst>
              <a:gd name="adj" fmla="val 17857"/>
            </a:avLst>
          </a:prstGeom>
          <a:solidFill>
            <a:srgbClr val="0EA5E9">
              <a:alpha val="30000"/>
            </a:srgbClr>
          </a:solidFill>
          <a:ln w="6350">
            <a:solidFill>
              <a:srgbClr val="0EA5E9"/>
            </a:solidFill>
            <a:prstDash val="solid"/>
          </a:ln>
        </p:spPr>
      </p:sp>
      <p:sp>
        <p:nvSpPr>
          <p:cNvPr id="3" name="Text 1"/>
          <p:cNvSpPr/>
          <p:nvPr/>
        </p:nvSpPr>
        <p:spPr>
          <a:xfrm>
            <a:off x="457200" y="164592"/>
            <a:ext cx="2194560" cy="256032"/>
          </a:xfrm>
          <a:prstGeom prst="rect">
            <a:avLst/>
          </a:prstGeom>
          <a:noFill/>
          <a:ln/>
        </p:spPr>
        <p:txBody>
          <a:bodyPr wrap="square" lIns="0" tIns="0" rIns="0" bIns="0" rtlCol="0" anchor="ctr"/>
          <a:lstStyle/>
          <a:p>
            <a:pPr algn="ctr" indent="0" marL="0">
              <a:buNone/>
            </a:pPr>
            <a:r>
              <a:rPr lang="en-US" sz="900" b="1" dirty="0">
                <a:solidFill>
                  <a:srgbClr val="0EA5E9"/>
                </a:solidFill>
                <a:latin typeface="Calibri" pitchFamily="34" charset="0"/>
                <a:ea typeface="Calibri" pitchFamily="34" charset="-122"/>
                <a:cs typeface="Calibri" pitchFamily="34" charset="-120"/>
              </a:rPr>
              <a:t>SECTION 13 · CONCLUSION</a:t>
            </a:r>
            <a:endParaRPr lang="en-US" sz="900" dirty="0"/>
          </a:p>
        </p:txBody>
      </p:sp>
      <p:sp>
        <p:nvSpPr>
          <p:cNvPr id="4" name="Text 2"/>
          <p:cNvSpPr/>
          <p:nvPr/>
        </p:nvSpPr>
        <p:spPr>
          <a:xfrm>
            <a:off x="457200" y="256032"/>
            <a:ext cx="822960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Final Contributions</a:t>
            </a:r>
            <a:endParaRPr lang="en-US" sz="2600" dirty="0"/>
          </a:p>
        </p:txBody>
      </p:sp>
      <p:sp>
        <p:nvSpPr>
          <p:cNvPr id="5" name="Shape 3"/>
          <p:cNvSpPr/>
          <p:nvPr/>
        </p:nvSpPr>
        <p:spPr>
          <a:xfrm>
            <a:off x="457200" y="749808"/>
            <a:ext cx="8229600" cy="22860"/>
          </a:xfrm>
          <a:prstGeom prst="rect">
            <a:avLst/>
          </a:prstGeom>
          <a:solidFill>
            <a:srgbClr val="00D4FF"/>
          </a:solidFill>
          <a:ln w="12700">
            <a:solidFill>
              <a:srgbClr val="00D4FF"/>
            </a:solidFill>
            <a:prstDash val="solid"/>
          </a:ln>
        </p:spPr>
      </p:sp>
      <p:sp>
        <p:nvSpPr>
          <p:cNvPr id="6" name="Shape 4"/>
          <p:cNvSpPr/>
          <p:nvPr/>
        </p:nvSpPr>
        <p:spPr>
          <a:xfrm>
            <a:off x="457200" y="1051560"/>
            <a:ext cx="8229600" cy="585216"/>
          </a:xfrm>
          <a:prstGeom prst="roundRect">
            <a:avLst>
              <a:gd name="adj" fmla="val 7813"/>
            </a:avLst>
          </a:prstGeom>
          <a:solidFill>
            <a:srgbClr val="111D2E"/>
          </a:solidFill>
          <a:ln/>
        </p:spPr>
      </p:sp>
      <p:sp>
        <p:nvSpPr>
          <p:cNvPr id="7" name="Text 5"/>
          <p:cNvSpPr/>
          <p:nvPr/>
        </p:nvSpPr>
        <p:spPr>
          <a:xfrm>
            <a:off x="566928" y="1106424"/>
            <a:ext cx="292608" cy="420624"/>
          </a:xfrm>
          <a:prstGeom prst="rect">
            <a:avLst/>
          </a:prstGeom>
          <a:noFill/>
          <a:ln/>
        </p:spPr>
        <p:txBody>
          <a:bodyPr wrap="square" lIns="0" tIns="0" rIns="0" bIns="0" rtlCol="0" anchor="ctr"/>
          <a:lstStyle/>
          <a:p>
            <a:pPr algn="ctr" indent="0" marL="0">
              <a:buNone/>
            </a:pPr>
            <a:r>
              <a:rPr lang="en-US" sz="1400" b="1" dirty="0">
                <a:solidFill>
                  <a:srgbClr val="00D4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960120" y="1143000"/>
            <a:ext cx="7589520" cy="41148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Novel ResNet-50 + R(2+1)D + 4-block ViT hybrid architecture for real-time video anomaly detection achieving state-of-art results on UCF-Crime</a:t>
            </a:r>
            <a:endParaRPr lang="en-US" sz="1100" dirty="0"/>
          </a:p>
        </p:txBody>
      </p:sp>
      <p:sp>
        <p:nvSpPr>
          <p:cNvPr id="9" name="Shape 7"/>
          <p:cNvSpPr/>
          <p:nvPr/>
        </p:nvSpPr>
        <p:spPr>
          <a:xfrm>
            <a:off x="457200" y="1719072"/>
            <a:ext cx="8229600" cy="585216"/>
          </a:xfrm>
          <a:prstGeom prst="roundRect">
            <a:avLst>
              <a:gd name="adj" fmla="val 7813"/>
            </a:avLst>
          </a:prstGeom>
          <a:solidFill>
            <a:srgbClr val="111D2E"/>
          </a:solidFill>
          <a:ln/>
        </p:spPr>
      </p:sp>
      <p:sp>
        <p:nvSpPr>
          <p:cNvPr id="10" name="Text 8"/>
          <p:cNvSpPr/>
          <p:nvPr/>
        </p:nvSpPr>
        <p:spPr>
          <a:xfrm>
            <a:off x="566928" y="1773936"/>
            <a:ext cx="292608" cy="420624"/>
          </a:xfrm>
          <a:prstGeom prst="rect">
            <a:avLst/>
          </a:prstGeom>
          <a:noFill/>
          <a:ln/>
        </p:spPr>
        <p:txBody>
          <a:bodyPr wrap="square" lIns="0" tIns="0" rIns="0" bIns="0" rtlCol="0" anchor="ctr"/>
          <a:lstStyle/>
          <a:p>
            <a:pPr algn="ctr" indent="0" marL="0">
              <a:buNone/>
            </a:pPr>
            <a:r>
              <a:rPr lang="en-US" sz="1400" b="1" dirty="0">
                <a:solidFill>
                  <a:srgbClr val="00D4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960120" y="1810512"/>
            <a:ext cx="7589520" cy="41148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Clip-level temporal annotation training protocol that transforms the MIL weak-supervision paradigm into precise frame-level supervision</a:t>
            </a:r>
            <a:endParaRPr lang="en-US" sz="1100" dirty="0"/>
          </a:p>
        </p:txBody>
      </p:sp>
      <p:sp>
        <p:nvSpPr>
          <p:cNvPr id="12" name="Shape 10"/>
          <p:cNvSpPr/>
          <p:nvPr/>
        </p:nvSpPr>
        <p:spPr>
          <a:xfrm>
            <a:off x="457200" y="2386584"/>
            <a:ext cx="8229600" cy="585216"/>
          </a:xfrm>
          <a:prstGeom prst="roundRect">
            <a:avLst>
              <a:gd name="adj" fmla="val 7813"/>
            </a:avLst>
          </a:prstGeom>
          <a:solidFill>
            <a:srgbClr val="111D2E"/>
          </a:solidFill>
          <a:ln/>
        </p:spPr>
      </p:sp>
      <p:sp>
        <p:nvSpPr>
          <p:cNvPr id="13" name="Text 11"/>
          <p:cNvSpPr/>
          <p:nvPr/>
        </p:nvSpPr>
        <p:spPr>
          <a:xfrm>
            <a:off x="566928" y="2441448"/>
            <a:ext cx="292608" cy="420624"/>
          </a:xfrm>
          <a:prstGeom prst="rect">
            <a:avLst/>
          </a:prstGeom>
          <a:noFill/>
          <a:ln/>
        </p:spPr>
        <p:txBody>
          <a:bodyPr wrap="square" lIns="0" tIns="0" rIns="0" bIns="0" rtlCol="0" anchor="ctr"/>
          <a:lstStyle/>
          <a:p>
            <a:pPr algn="ctr" indent="0" marL="0">
              <a:buNone/>
            </a:pPr>
            <a:r>
              <a:rPr lang="en-US" sz="1400" b="1" dirty="0">
                <a:solidFill>
                  <a:srgbClr val="00D4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960120" y="2478024"/>
            <a:ext cx="7589520" cy="41148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9-class merged taxonomy with systematic data engineering (redundant removal + stratified split + inverse-weight sampling) enabling 133:1 imbalance mitigation</a:t>
            </a:r>
            <a:endParaRPr lang="en-US" sz="1100" dirty="0"/>
          </a:p>
        </p:txBody>
      </p:sp>
      <p:sp>
        <p:nvSpPr>
          <p:cNvPr id="15" name="Shape 13"/>
          <p:cNvSpPr/>
          <p:nvPr/>
        </p:nvSpPr>
        <p:spPr>
          <a:xfrm>
            <a:off x="457200" y="3054096"/>
            <a:ext cx="8229600" cy="585216"/>
          </a:xfrm>
          <a:prstGeom prst="roundRect">
            <a:avLst>
              <a:gd name="adj" fmla="val 7813"/>
            </a:avLst>
          </a:prstGeom>
          <a:solidFill>
            <a:srgbClr val="111D2E"/>
          </a:solidFill>
          <a:ln/>
        </p:spPr>
      </p:sp>
      <p:sp>
        <p:nvSpPr>
          <p:cNvPr id="16" name="Text 14"/>
          <p:cNvSpPr/>
          <p:nvPr/>
        </p:nvSpPr>
        <p:spPr>
          <a:xfrm>
            <a:off x="566928" y="3108960"/>
            <a:ext cx="292608" cy="420624"/>
          </a:xfrm>
          <a:prstGeom prst="rect">
            <a:avLst/>
          </a:prstGeom>
          <a:noFill/>
          <a:ln/>
        </p:spPr>
        <p:txBody>
          <a:bodyPr wrap="square" lIns="0" tIns="0" rIns="0" bIns="0" rtlCol="0" anchor="ctr"/>
          <a:lstStyle/>
          <a:p>
            <a:pPr algn="ctr" indent="0" marL="0">
              <a:buNone/>
            </a:pPr>
            <a:r>
              <a:rPr lang="en-US" sz="1400" b="1" dirty="0">
                <a:solidFill>
                  <a:srgbClr val="00D4FF"/>
                </a:solidFill>
                <a:latin typeface="Calibri" pitchFamily="34" charset="0"/>
                <a:ea typeface="Calibri" pitchFamily="34" charset="-122"/>
                <a:cs typeface="Calibri" pitchFamily="34" charset="-120"/>
              </a:rPr>
              <a:t>4.</a:t>
            </a:r>
            <a:endParaRPr lang="en-US" sz="1400" dirty="0"/>
          </a:p>
        </p:txBody>
      </p:sp>
      <p:sp>
        <p:nvSpPr>
          <p:cNvPr id="17" name="Text 15"/>
          <p:cNvSpPr/>
          <p:nvPr/>
        </p:nvSpPr>
        <p:spPr>
          <a:xfrm>
            <a:off x="960120" y="3145536"/>
            <a:ext cx="7589520" cy="41148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Comprehensive 25-run statistical evaluation with confidence intervals, stability analysis, and hyperparameter impact quantification</a:t>
            </a:r>
            <a:endParaRPr lang="en-US" sz="1100" dirty="0"/>
          </a:p>
        </p:txBody>
      </p:sp>
      <p:sp>
        <p:nvSpPr>
          <p:cNvPr id="18" name="Shape 16"/>
          <p:cNvSpPr/>
          <p:nvPr/>
        </p:nvSpPr>
        <p:spPr>
          <a:xfrm>
            <a:off x="457200" y="3721608"/>
            <a:ext cx="8229600" cy="585216"/>
          </a:xfrm>
          <a:prstGeom prst="roundRect">
            <a:avLst>
              <a:gd name="adj" fmla="val 7813"/>
            </a:avLst>
          </a:prstGeom>
          <a:solidFill>
            <a:srgbClr val="111D2E"/>
          </a:solidFill>
          <a:ln/>
        </p:spPr>
      </p:sp>
      <p:sp>
        <p:nvSpPr>
          <p:cNvPr id="19" name="Text 17"/>
          <p:cNvSpPr/>
          <p:nvPr/>
        </p:nvSpPr>
        <p:spPr>
          <a:xfrm>
            <a:off x="566928" y="3776472"/>
            <a:ext cx="292608" cy="420624"/>
          </a:xfrm>
          <a:prstGeom prst="rect">
            <a:avLst/>
          </a:prstGeom>
          <a:noFill/>
          <a:ln/>
        </p:spPr>
        <p:txBody>
          <a:bodyPr wrap="square" lIns="0" tIns="0" rIns="0" bIns="0" rtlCol="0" anchor="ctr"/>
          <a:lstStyle/>
          <a:p>
            <a:pPr algn="ctr" indent="0" marL="0">
              <a:buNone/>
            </a:pPr>
            <a:r>
              <a:rPr lang="en-US" sz="1400" b="1" dirty="0">
                <a:solidFill>
                  <a:srgbClr val="00D4FF"/>
                </a:solidFill>
                <a:latin typeface="Calibri" pitchFamily="34" charset="0"/>
                <a:ea typeface="Calibri" pitchFamily="34" charset="-122"/>
                <a:cs typeface="Calibri" pitchFamily="34" charset="-120"/>
              </a:rPr>
              <a:t>5.</a:t>
            </a:r>
            <a:endParaRPr lang="en-US" sz="1400" dirty="0"/>
          </a:p>
        </p:txBody>
      </p:sp>
      <p:sp>
        <p:nvSpPr>
          <p:cNvPr id="20" name="Text 18"/>
          <p:cNvSpPr/>
          <p:nvPr/>
        </p:nvSpPr>
        <p:spPr>
          <a:xfrm>
            <a:off x="960120" y="3813048"/>
            <a:ext cx="7589520" cy="41148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Production-grade decoupled web architecture (Flask + Express + MySQL + React) with MQTT alert routing, offline edge buffering, and 42.45ms real-time inference</a:t>
            </a:r>
            <a:endParaRPr lang="en-US" sz="1100" dirty="0"/>
          </a:p>
        </p:txBody>
      </p:sp>
      <p:sp>
        <p:nvSpPr>
          <p:cNvPr id="21" name="Shape 19"/>
          <p:cNvSpPr/>
          <p:nvPr/>
        </p:nvSpPr>
        <p:spPr>
          <a:xfrm>
            <a:off x="457200" y="4389120"/>
            <a:ext cx="8229600" cy="585216"/>
          </a:xfrm>
          <a:prstGeom prst="roundRect">
            <a:avLst>
              <a:gd name="adj" fmla="val 7813"/>
            </a:avLst>
          </a:prstGeom>
          <a:solidFill>
            <a:srgbClr val="111D2E"/>
          </a:solidFill>
          <a:ln/>
        </p:spPr>
      </p:sp>
      <p:sp>
        <p:nvSpPr>
          <p:cNvPr id="22" name="Text 20"/>
          <p:cNvSpPr/>
          <p:nvPr/>
        </p:nvSpPr>
        <p:spPr>
          <a:xfrm>
            <a:off x="566928" y="4443984"/>
            <a:ext cx="292608" cy="420624"/>
          </a:xfrm>
          <a:prstGeom prst="rect">
            <a:avLst/>
          </a:prstGeom>
          <a:noFill/>
          <a:ln/>
        </p:spPr>
        <p:txBody>
          <a:bodyPr wrap="square" lIns="0" tIns="0" rIns="0" bIns="0" rtlCol="0" anchor="ctr"/>
          <a:lstStyle/>
          <a:p>
            <a:pPr algn="ctr" indent="0" marL="0">
              <a:buNone/>
            </a:pPr>
            <a:r>
              <a:rPr lang="en-US" sz="1400" b="1" dirty="0">
                <a:solidFill>
                  <a:srgbClr val="00D4FF"/>
                </a:solidFill>
                <a:latin typeface="Calibri" pitchFamily="34" charset="0"/>
                <a:ea typeface="Calibri" pitchFamily="34" charset="-122"/>
                <a:cs typeface="Calibri" pitchFamily="34" charset="-120"/>
              </a:rPr>
              <a:t>6.</a:t>
            </a:r>
            <a:endParaRPr lang="en-US" sz="1400" dirty="0"/>
          </a:p>
        </p:txBody>
      </p:sp>
      <p:sp>
        <p:nvSpPr>
          <p:cNvPr id="23" name="Text 21"/>
          <p:cNvSpPr/>
          <p:nvPr/>
        </p:nvSpPr>
        <p:spPr>
          <a:xfrm>
            <a:off x="960120" y="4480560"/>
            <a:ext cx="7589520" cy="41148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Privacy-by-design implementation: ephemeral volatile memory processing with conditional event logging — no persistent storage of innocent citizen activity</a:t>
            </a:r>
            <a:endParaRPr lang="en-US" sz="11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A0E1A"/>
          </a:solidFill>
          <a:ln w="12700">
            <a:solidFill>
              <a:srgbClr val="0A0E1A"/>
            </a:solidFill>
            <a:prstDash val="solid"/>
          </a:ln>
        </p:spPr>
      </p:sp>
      <p:sp>
        <p:nvSpPr>
          <p:cNvPr id="3" name="Text 1"/>
          <p:cNvSpPr/>
          <p:nvPr/>
        </p:nvSpPr>
        <p:spPr>
          <a:xfrm>
            <a:off x="457200" y="822960"/>
            <a:ext cx="8229600" cy="914400"/>
          </a:xfrm>
          <a:prstGeom prst="rect">
            <a:avLst/>
          </a:prstGeom>
          <a:noFill/>
          <a:ln/>
        </p:spPr>
        <p:txBody>
          <a:bodyPr wrap="square" lIns="0" tIns="0" rIns="0" bIns="0" rtlCol="0" anchor="ctr"/>
          <a:lstStyle/>
          <a:p>
            <a:pPr algn="ctr" indent="0" marL="0">
              <a:buNone/>
            </a:pPr>
            <a:r>
              <a:rPr lang="en-US" sz="5800" b="1" dirty="0">
                <a:solidFill>
                  <a:srgbClr val="00D4FF"/>
                </a:solidFill>
                <a:latin typeface="Calibri" pitchFamily="34" charset="0"/>
                <a:ea typeface="Calibri" pitchFamily="34" charset="-122"/>
                <a:cs typeface="Calibri" pitchFamily="34" charset="-120"/>
              </a:rPr>
              <a:t>SecureSight</a:t>
            </a:r>
            <a:endParaRPr lang="en-US" sz="5800" dirty="0"/>
          </a:p>
        </p:txBody>
      </p:sp>
      <p:sp>
        <p:nvSpPr>
          <p:cNvPr id="4" name="Text 2"/>
          <p:cNvSpPr/>
          <p:nvPr/>
        </p:nvSpPr>
        <p:spPr>
          <a:xfrm>
            <a:off x="457200" y="1783080"/>
            <a:ext cx="8229600" cy="640080"/>
          </a:xfrm>
          <a:prstGeom prst="rect">
            <a:avLst/>
          </a:prstGeom>
          <a:noFill/>
          <a:ln/>
        </p:spPr>
        <p:txBody>
          <a:bodyPr wrap="square" lIns="0" tIns="0" rIns="0" bIns="0" rtlCol="0" anchor="ctr"/>
          <a:lstStyle/>
          <a:p>
            <a:pPr algn="ctr" indent="0" marL="0">
              <a:buNone/>
            </a:pPr>
            <a:r>
              <a:rPr lang="en-US" sz="3000" dirty="0">
                <a:solidFill>
                  <a:srgbClr val="FFFFFF"/>
                </a:solidFill>
                <a:latin typeface="Calibri" pitchFamily="34" charset="0"/>
                <a:ea typeface="Calibri" pitchFamily="34" charset="-122"/>
                <a:cs typeface="Calibri" pitchFamily="34" charset="-120"/>
              </a:rPr>
              <a:t>Thank You</a:t>
            </a:r>
            <a:endParaRPr lang="en-US" sz="3000" dirty="0"/>
          </a:p>
        </p:txBody>
      </p:sp>
      <p:sp>
        <p:nvSpPr>
          <p:cNvPr id="5" name="Shape 3"/>
          <p:cNvSpPr/>
          <p:nvPr/>
        </p:nvSpPr>
        <p:spPr>
          <a:xfrm>
            <a:off x="1828800" y="2542032"/>
            <a:ext cx="5486400" cy="22860"/>
          </a:xfrm>
          <a:prstGeom prst="rect">
            <a:avLst/>
          </a:prstGeom>
          <a:solidFill>
            <a:srgbClr val="00D4FF"/>
          </a:solidFill>
          <a:ln w="12700">
            <a:solidFill>
              <a:srgbClr val="00D4FF"/>
            </a:solidFill>
            <a:prstDash val="solid"/>
          </a:ln>
        </p:spPr>
      </p:sp>
      <p:sp>
        <p:nvSpPr>
          <p:cNvPr id="6" name="Text 4"/>
          <p:cNvSpPr/>
          <p:nvPr/>
        </p:nvSpPr>
        <p:spPr>
          <a:xfrm>
            <a:off x="457200" y="2697480"/>
            <a:ext cx="8229600" cy="384048"/>
          </a:xfrm>
          <a:prstGeom prst="rect">
            <a:avLst/>
          </a:prstGeom>
          <a:noFill/>
          <a:ln/>
        </p:spPr>
        <p:txBody>
          <a:bodyPr wrap="square" lIns="0" tIns="0" rIns="0" bIns="0" rtlCol="0" anchor="ctr"/>
          <a:lstStyle/>
          <a:p>
            <a:pPr algn="ctr" indent="0" marL="0">
              <a:buNone/>
            </a:pPr>
            <a:r>
              <a:rPr lang="en-US" sz="1600" dirty="0">
                <a:solidFill>
                  <a:srgbClr val="CBD5E1"/>
                </a:solidFill>
                <a:latin typeface="Calibri" pitchFamily="34" charset="0"/>
                <a:ea typeface="Calibri" pitchFamily="34" charset="-122"/>
                <a:cs typeface="Calibri" pitchFamily="34" charset="-120"/>
              </a:rPr>
              <a:t>Questions &amp; Discussion</a:t>
            </a:r>
            <a:endParaRPr lang="en-US" sz="1600" dirty="0"/>
          </a:p>
        </p:txBody>
      </p:sp>
      <p:sp>
        <p:nvSpPr>
          <p:cNvPr id="7" name="Text 5"/>
          <p:cNvSpPr/>
          <p:nvPr/>
        </p:nvSpPr>
        <p:spPr>
          <a:xfrm>
            <a:off x="457200" y="3291840"/>
            <a:ext cx="1536192" cy="457200"/>
          </a:xfrm>
          <a:prstGeom prst="rect">
            <a:avLst/>
          </a:prstGeom>
          <a:noFill/>
          <a:ln/>
        </p:spPr>
        <p:txBody>
          <a:bodyPr wrap="square" lIns="0" tIns="0" rIns="0" bIns="0" rtlCol="0" anchor="ctr"/>
          <a:lstStyle/>
          <a:p>
            <a:pPr algn="ctr" indent="0" marL="0">
              <a:buNone/>
            </a:pPr>
            <a:r>
              <a:rPr lang="en-US" sz="1800" b="1" dirty="0">
                <a:solidFill>
                  <a:srgbClr val="00D4FF"/>
                </a:solidFill>
                <a:latin typeface="Calibri" pitchFamily="34" charset="0"/>
                <a:ea typeface="Calibri" pitchFamily="34" charset="-122"/>
                <a:cs typeface="Calibri" pitchFamily="34" charset="-120"/>
              </a:rPr>
              <a:t>91.58%</a:t>
            </a:r>
            <a:endParaRPr lang="en-US" sz="1800" dirty="0"/>
          </a:p>
        </p:txBody>
      </p:sp>
      <p:sp>
        <p:nvSpPr>
          <p:cNvPr id="8" name="Text 6"/>
          <p:cNvSpPr/>
          <p:nvPr/>
        </p:nvSpPr>
        <p:spPr>
          <a:xfrm>
            <a:off x="457200" y="3767328"/>
            <a:ext cx="1536192" cy="22860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Accuracy</a:t>
            </a:r>
            <a:endParaRPr lang="en-US" sz="1000" dirty="0"/>
          </a:p>
        </p:txBody>
      </p:sp>
      <p:sp>
        <p:nvSpPr>
          <p:cNvPr id="9" name="Text 7"/>
          <p:cNvSpPr/>
          <p:nvPr/>
        </p:nvSpPr>
        <p:spPr>
          <a:xfrm>
            <a:off x="2121408" y="3291840"/>
            <a:ext cx="1536192" cy="457200"/>
          </a:xfrm>
          <a:prstGeom prst="rect">
            <a:avLst/>
          </a:prstGeom>
          <a:noFill/>
          <a:ln/>
        </p:spPr>
        <p:txBody>
          <a:bodyPr wrap="square" lIns="0" tIns="0" rIns="0" bIns="0" rtlCol="0" anchor="ctr"/>
          <a:lstStyle/>
          <a:p>
            <a:pPr algn="ctr" indent="0" marL="0">
              <a:buNone/>
            </a:pPr>
            <a:r>
              <a:rPr lang="en-US" sz="1800" b="1" dirty="0">
                <a:solidFill>
                  <a:srgbClr val="00D4FF"/>
                </a:solidFill>
                <a:latin typeface="Calibri" pitchFamily="34" charset="0"/>
                <a:ea typeface="Calibri" pitchFamily="34" charset="-122"/>
                <a:cs typeface="Calibri" pitchFamily="34" charset="-120"/>
              </a:rPr>
              <a:t>91.50%</a:t>
            </a:r>
            <a:endParaRPr lang="en-US" sz="1800" dirty="0"/>
          </a:p>
        </p:txBody>
      </p:sp>
      <p:sp>
        <p:nvSpPr>
          <p:cNvPr id="10" name="Text 8"/>
          <p:cNvSpPr/>
          <p:nvPr/>
        </p:nvSpPr>
        <p:spPr>
          <a:xfrm>
            <a:off x="2121408" y="3767328"/>
            <a:ext cx="1536192" cy="22860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F1 Score</a:t>
            </a:r>
            <a:endParaRPr lang="en-US" sz="1000" dirty="0"/>
          </a:p>
        </p:txBody>
      </p:sp>
      <p:sp>
        <p:nvSpPr>
          <p:cNvPr id="11" name="Text 9"/>
          <p:cNvSpPr/>
          <p:nvPr/>
        </p:nvSpPr>
        <p:spPr>
          <a:xfrm>
            <a:off x="3785616" y="3291840"/>
            <a:ext cx="1536192" cy="457200"/>
          </a:xfrm>
          <a:prstGeom prst="rect">
            <a:avLst/>
          </a:prstGeom>
          <a:noFill/>
          <a:ln/>
        </p:spPr>
        <p:txBody>
          <a:bodyPr wrap="square" lIns="0" tIns="0" rIns="0" bIns="0" rtlCol="0" anchor="ctr"/>
          <a:lstStyle/>
          <a:p>
            <a:pPr algn="ctr" indent="0" marL="0">
              <a:buNone/>
            </a:pPr>
            <a:r>
              <a:rPr lang="en-US" sz="1800" b="1" dirty="0">
                <a:solidFill>
                  <a:srgbClr val="00D4FF"/>
                </a:solidFill>
                <a:latin typeface="Calibri" pitchFamily="34" charset="0"/>
                <a:ea typeface="Calibri" pitchFamily="34" charset="-122"/>
                <a:cs typeface="Calibri" pitchFamily="34" charset="-120"/>
              </a:rPr>
              <a:t>94.83%</a:t>
            </a:r>
            <a:endParaRPr lang="en-US" sz="1800" dirty="0"/>
          </a:p>
        </p:txBody>
      </p:sp>
      <p:sp>
        <p:nvSpPr>
          <p:cNvPr id="12" name="Text 10"/>
          <p:cNvSpPr/>
          <p:nvPr/>
        </p:nvSpPr>
        <p:spPr>
          <a:xfrm>
            <a:off x="3785616" y="3767328"/>
            <a:ext cx="1536192" cy="22860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AUC</a:t>
            </a:r>
            <a:endParaRPr lang="en-US" sz="1000" dirty="0"/>
          </a:p>
        </p:txBody>
      </p:sp>
      <p:sp>
        <p:nvSpPr>
          <p:cNvPr id="13" name="Text 11"/>
          <p:cNvSpPr/>
          <p:nvPr/>
        </p:nvSpPr>
        <p:spPr>
          <a:xfrm>
            <a:off x="5449824" y="3291840"/>
            <a:ext cx="1536192" cy="457200"/>
          </a:xfrm>
          <a:prstGeom prst="rect">
            <a:avLst/>
          </a:prstGeom>
          <a:noFill/>
          <a:ln/>
        </p:spPr>
        <p:txBody>
          <a:bodyPr wrap="square" lIns="0" tIns="0" rIns="0" bIns="0" rtlCol="0" anchor="ctr"/>
          <a:lstStyle/>
          <a:p>
            <a:pPr algn="ctr" indent="0" marL="0">
              <a:buNone/>
            </a:pPr>
            <a:r>
              <a:rPr lang="en-US" sz="1800" b="1" dirty="0">
                <a:solidFill>
                  <a:srgbClr val="00D4FF"/>
                </a:solidFill>
                <a:latin typeface="Calibri" pitchFamily="34" charset="0"/>
                <a:ea typeface="Calibri" pitchFamily="34" charset="-122"/>
                <a:cs typeface="Calibri" pitchFamily="34" charset="-120"/>
              </a:rPr>
              <a:t>42.45ms</a:t>
            </a:r>
            <a:endParaRPr lang="en-US" sz="1800" dirty="0"/>
          </a:p>
        </p:txBody>
      </p:sp>
      <p:sp>
        <p:nvSpPr>
          <p:cNvPr id="14" name="Text 12"/>
          <p:cNvSpPr/>
          <p:nvPr/>
        </p:nvSpPr>
        <p:spPr>
          <a:xfrm>
            <a:off x="5449824" y="3767328"/>
            <a:ext cx="1536192" cy="22860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Latency</a:t>
            </a:r>
            <a:endParaRPr lang="en-US" sz="1000" dirty="0"/>
          </a:p>
        </p:txBody>
      </p:sp>
      <p:sp>
        <p:nvSpPr>
          <p:cNvPr id="15" name="Text 13"/>
          <p:cNvSpPr/>
          <p:nvPr/>
        </p:nvSpPr>
        <p:spPr>
          <a:xfrm>
            <a:off x="7114032" y="3291840"/>
            <a:ext cx="1536192" cy="457200"/>
          </a:xfrm>
          <a:prstGeom prst="rect">
            <a:avLst/>
          </a:prstGeom>
          <a:noFill/>
          <a:ln/>
        </p:spPr>
        <p:txBody>
          <a:bodyPr wrap="square" lIns="0" tIns="0" rIns="0" bIns="0" rtlCol="0" anchor="ctr"/>
          <a:lstStyle/>
          <a:p>
            <a:pPr algn="ctr" indent="0" marL="0">
              <a:buNone/>
            </a:pPr>
            <a:r>
              <a:rPr lang="en-US" sz="1800" b="1" dirty="0">
                <a:solidFill>
                  <a:srgbClr val="00D4FF"/>
                </a:solidFill>
                <a:latin typeface="Calibri" pitchFamily="34" charset="0"/>
                <a:ea typeface="Calibri" pitchFamily="34" charset="-122"/>
                <a:cs typeface="Calibri" pitchFamily="34" charset="-120"/>
              </a:rPr>
              <a:t>25 runs</a:t>
            </a:r>
            <a:endParaRPr lang="en-US" sz="1800" dirty="0"/>
          </a:p>
        </p:txBody>
      </p:sp>
      <p:sp>
        <p:nvSpPr>
          <p:cNvPr id="16" name="Text 14"/>
          <p:cNvSpPr/>
          <p:nvPr/>
        </p:nvSpPr>
        <p:spPr>
          <a:xfrm>
            <a:off x="7114032" y="3767328"/>
            <a:ext cx="1536192" cy="22860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Evaluated</a:t>
            </a:r>
            <a:endParaRPr lang="en-US" sz="1000" dirty="0"/>
          </a:p>
        </p:txBody>
      </p:sp>
      <p:sp>
        <p:nvSpPr>
          <p:cNvPr id="17" name="Text 15"/>
          <p:cNvSpPr/>
          <p:nvPr/>
        </p:nvSpPr>
        <p:spPr>
          <a:xfrm>
            <a:off x="457200" y="4133088"/>
            <a:ext cx="8229600" cy="228600"/>
          </a:xfrm>
          <a:prstGeom prst="rect">
            <a:avLst/>
          </a:prstGeom>
          <a:noFill/>
          <a:ln/>
        </p:spPr>
        <p:txBody>
          <a:bodyPr wrap="square" lIns="0" tIns="0" rIns="0" bIns="0"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Ahmed Mostafa · Mohamed Hassona · Abdullah Abdalgawad · Omnia Adel · Mariam Elrafei · Khalid Abdelsalam · Tasneem Ibrahim</a:t>
            </a:r>
            <a:endParaRPr lang="en-US" sz="950" dirty="0"/>
          </a:p>
        </p:txBody>
      </p:sp>
      <p:sp>
        <p:nvSpPr>
          <p:cNvPr id="18" name="Text 16"/>
          <p:cNvSpPr/>
          <p:nvPr/>
        </p:nvSpPr>
        <p:spPr>
          <a:xfrm>
            <a:off x="457200" y="4389120"/>
            <a:ext cx="8229600" cy="201168"/>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Supervised by Dr. Essam Abdellatef  ·  Alamein International University  ·  Spring 2026</a:t>
            </a:r>
            <a:endParaRPr lang="en-US" sz="900" dirty="0"/>
          </a:p>
        </p:txBody>
      </p:sp>
    </p:spTree>
  </p:cSld>
  <p:clrMapOvr>
    <a:masterClrMapping/>
  </p:clrMapOvr>
</p:sld>
</file>

<file path=ppt/theme/theme1.xml><?xml version="1.0" encoding="utf-8"?>
<a:theme xmlns:a="http://schemas.openxmlformats.org/drawingml/2006/main" name="Theme1">
  <a:themeElements>
    <a:clrScheme name="Office">
      <a:dk1>
        <a:srgbClr val="001F3F"/>
      </a:dk1>
      <a:lt1>
        <a:srgbClr val="FFFFFF"/>
      </a:lt1>
      <a:dk2>
        <a:srgbClr val="660000"/>
      </a:dk2>
      <a:lt2>
        <a:srgbClr val="FFFFFF"/>
      </a:lt2>
      <a:accent1>
        <a:srgbClr val="0B3D91"/>
      </a:accent1>
      <a:accent2>
        <a:srgbClr val="8B0000"/>
      </a:accent2>
      <a:accent3>
        <a:srgbClr val="FFD700"/>
      </a:accent3>
      <a:accent4>
        <a:srgbClr val="228B22"/>
      </a:accent4>
      <a:accent5>
        <a:srgbClr val="3351A6"/>
      </a:accent5>
      <a:accent6>
        <a:srgbClr val="B22222"/>
      </a:accent6>
      <a:hlink>
        <a:srgbClr val="1A237E"/>
      </a:hlink>
      <a:folHlink>
        <a:srgbClr val="8B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1F3F">
                <a:alpha val="38000"/>
              </a:srgbClr>
            </a:outerShdw>
          </a:effectLst>
        </a:effectStyle>
        <a:effectStyle>
          <a:effectLst>
            <a:outerShdw blurRad="40000" dist="23000" dir="5400000" rotWithShape="0">
              <a:srgbClr val="001F3F">
                <a:alpha val="35000"/>
              </a:srgbClr>
            </a:outerShdw>
          </a:effectLst>
        </a:effectStyle>
        <a:effectStyle>
          <a:effectLst>
            <a:outerShdw blurRad="40000" dist="23000" dir="5400000" rotWithShape="0">
              <a:srgbClr val="001F3F">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1" id="{32D79A20-C8DA-457E-B5CC-8323518A57C2}" vid="{EAA50B11-1895-44DE-B7CB-39858697C6AC}"/>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66</Slides>
  <Notes>66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66</vt:i4>
      </vt:variant>
    </vt:vector>
  </HeadingPairs>
  <TitlesOfParts>
    <vt:vector size="6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SecureSight - GP2 Mid-Term Defense</dc:title>
  <dc:subject>PptxGenJS Presentation</dc:subject>
  <dc:creator>SecureSight Team - AIU</dc:creator>
  <cp:lastModifiedBy>SecureSight Team - AIU</cp:lastModifiedBy>
  <cp:revision>1</cp:revision>
  <dcterms:created xsi:type="dcterms:W3CDTF">2026-06-10T20:18:22Z</dcterms:created>
  <dcterms:modified xsi:type="dcterms:W3CDTF">2026-06-10T20:18:22Z</dcterms:modified>
</cp:coreProperties>
</file>